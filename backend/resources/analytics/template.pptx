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theme/themeOverride2.xml" ContentType="application/vnd.openxmlformats-officedocument.themeOverride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9.xml" ContentType="application/vnd.openxmlformats-officedocument.presentationml.notesSlide+xml"/>
  <Override PartName="/ppt/charts/chart13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4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0.xml" ContentType="application/vnd.openxmlformats-officedocument.presentationml.notesSlide+xml"/>
  <Override PartName="/ppt/charts/chart15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6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1.xml" ContentType="application/vnd.openxmlformats-officedocument.presentationml.notesSlide+xml"/>
  <Override PartName="/ppt/charts/chart17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8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2.xml" ContentType="application/vnd.openxmlformats-officedocument.presentationml.notesSlide+xml"/>
  <Override PartName="/ppt/charts/chart19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20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3.xml" ContentType="application/vnd.openxmlformats-officedocument.presentationml.notesSlide+xml"/>
  <Override PartName="/ppt/charts/chart21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22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4.xml" ContentType="application/vnd.openxmlformats-officedocument.presentationml.notesSlide+xml"/>
  <Override PartName="/ppt/charts/chart23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15.xml" ContentType="application/vnd.openxmlformats-officedocument.presentationml.notesSlide+xml"/>
  <Override PartName="/ppt/charts/chart24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5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6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7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6.xml" ContentType="application/vnd.openxmlformats-officedocument.presentationml.notesSlide+xml"/>
  <Override PartName="/ppt/charts/chart28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3.xml" ContentType="application/vnd.openxmlformats-officedocument.themeOverride+xml"/>
  <Override PartName="/ppt/charts/chart29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theme/themeOverride4.xml" ContentType="application/vnd.openxmlformats-officedocument.themeOverride+xml"/>
  <Override PartName="/ppt/drawings/drawing1.xml" ContentType="application/vnd.openxmlformats-officedocument.drawingml.chartshapes+xml"/>
  <Override PartName="/ppt/notesSlides/notesSlide17.xml" ContentType="application/vnd.openxmlformats-officedocument.presentationml.notesSlide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theme/themeOverride5.xml" ContentType="application/vnd.openxmlformats-officedocument.themeOverride+xml"/>
  <Override PartName="/ppt/notesSlides/notesSlide18.xml" ContentType="application/vnd.openxmlformats-officedocument.presentationml.notesSlide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notesSlides/notesSlide19.xml" ContentType="application/vnd.openxmlformats-officedocument.presentationml.notesSlide+xml"/>
  <Override PartName="/ppt/charts/chart34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heme/themeOverride6.xml" ContentType="application/vnd.openxmlformats-officedocument.themeOverride+xml"/>
  <Override PartName="/ppt/charts/chart35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heme/themeOverride7.xml" ContentType="application/vnd.openxmlformats-officedocument.themeOverride+xml"/>
  <Override PartName="/ppt/notesSlides/notesSlide20.xml" ContentType="application/vnd.openxmlformats-officedocument.presentationml.notesSlide+xml"/>
  <Override PartName="/ppt/charts/chart36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21.xml" ContentType="application/vnd.openxmlformats-officedocument.presentationml.notesSlide+xml"/>
  <Override PartName="/ppt/charts/chart37.xml" ContentType="application/vnd.openxmlformats-officedocument.drawingml.chart+xml"/>
  <Override PartName="/ppt/theme/themeOverride8.xml" ContentType="application/vnd.openxmlformats-officedocument.themeOverride+xml"/>
  <Override PartName="/ppt/notesSlides/notesSlide22.xml" ContentType="application/vnd.openxmlformats-officedocument.presentationml.notesSlide+xml"/>
  <Override PartName="/ppt/charts/chart38.xml" ContentType="application/vnd.openxmlformats-officedocument.drawingml.chart+xml"/>
  <Override PartName="/ppt/theme/themeOverride9.xml" ContentType="application/vnd.openxmlformats-officedocument.themeOverr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notesSlides/notesSlide27.xml" ContentType="application/vnd.openxmlformats-officedocument.presentationml.notesSlide+xml"/>
  <Override PartName="/ppt/charts/chart41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42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notesSlides/notesSlide28.xml" ContentType="application/vnd.openxmlformats-officedocument.presentationml.notesSlide+xml"/>
  <Override PartName="/ppt/charts/chart43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44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45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notesSlides/notesSlide29.xml" ContentType="application/vnd.openxmlformats-officedocument.presentationml.notesSlide+xml"/>
  <Override PartName="/ppt/charts/chart46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47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48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49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notesSlides/notesSlide30.xml" ContentType="application/vnd.openxmlformats-officedocument.presentationml.notesSlide+xml"/>
  <Override PartName="/ppt/charts/chart50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51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52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53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54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notesSlides/notesSlide31.xml" ContentType="application/vnd.openxmlformats-officedocument.presentationml.notesSlide+xml"/>
  <Override PartName="/ppt/charts/chart55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56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notesSlides/notesSlide32.xml" ContentType="application/vnd.openxmlformats-officedocument.presentationml.notesSlide+xml"/>
  <Override PartName="/ppt/charts/chart57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58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59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notesSlides/notesSlide33.xml" ContentType="application/vnd.openxmlformats-officedocument.presentationml.notesSlide+xml"/>
  <Override PartName="/ppt/charts/chart60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61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62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63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64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65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66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67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68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notesSlides/notesSlide34.xml" ContentType="application/vnd.openxmlformats-officedocument.presentationml.notesSlide+xml"/>
  <Override PartName="/ppt/charts/chart69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70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charts/chart71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72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73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74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notesSlides/notesSlide35.xml" ContentType="application/vnd.openxmlformats-officedocument.presentationml.notesSlide+xml"/>
  <Override PartName="/ppt/charts/chart75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76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notesSlides/notesSlide36.xml" ContentType="application/vnd.openxmlformats-officedocument.presentationml.notesSlide+xml"/>
  <Override PartName="/ppt/charts/chart77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charts/chart78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2" r:id="rId2"/>
    <p:sldMasterId id="2147483680" r:id="rId3"/>
    <p:sldMasterId id="2147483690" r:id="rId4"/>
    <p:sldMasterId id="2147483697" r:id="rId5"/>
  </p:sldMasterIdLst>
  <p:notesMasterIdLst>
    <p:notesMasterId r:id="rId71"/>
  </p:notesMasterIdLst>
  <p:sldIdLst>
    <p:sldId id="256" r:id="rId6"/>
    <p:sldId id="2147329511" r:id="rId7"/>
    <p:sldId id="842" r:id="rId8"/>
    <p:sldId id="2147329518" r:id="rId9"/>
    <p:sldId id="2147329506" r:id="rId10"/>
    <p:sldId id="843" r:id="rId11"/>
    <p:sldId id="2147329498" r:id="rId12"/>
    <p:sldId id="2147329505" r:id="rId13"/>
    <p:sldId id="845" r:id="rId14"/>
    <p:sldId id="844" r:id="rId15"/>
    <p:sldId id="853" r:id="rId16"/>
    <p:sldId id="2147329504" r:id="rId17"/>
    <p:sldId id="867" r:id="rId18"/>
    <p:sldId id="848" r:id="rId19"/>
    <p:sldId id="2147329522" r:id="rId20"/>
    <p:sldId id="2147329553" r:id="rId21"/>
    <p:sldId id="2147329555" r:id="rId22"/>
    <p:sldId id="2147329559" r:id="rId23"/>
    <p:sldId id="2147329557" r:id="rId24"/>
    <p:sldId id="2147329560" r:id="rId25"/>
    <p:sldId id="2147329556" r:id="rId26"/>
    <p:sldId id="2147329561" r:id="rId27"/>
    <p:sldId id="2147329566" r:id="rId28"/>
    <p:sldId id="2147329503" r:id="rId29"/>
    <p:sldId id="856" r:id="rId30"/>
    <p:sldId id="2147329519" r:id="rId31"/>
    <p:sldId id="2147329524" r:id="rId32"/>
    <p:sldId id="2147329523" r:id="rId33"/>
    <p:sldId id="2147329531" r:id="rId34"/>
    <p:sldId id="2147329532" r:id="rId35"/>
    <p:sldId id="2147329541" r:id="rId36"/>
    <p:sldId id="2147329533" r:id="rId37"/>
    <p:sldId id="2147329536" r:id="rId38"/>
    <p:sldId id="2147329508" r:id="rId39"/>
    <p:sldId id="274" r:id="rId40"/>
    <p:sldId id="871" r:id="rId41"/>
    <p:sldId id="278" r:id="rId42"/>
    <p:sldId id="2147329487" r:id="rId43"/>
    <p:sldId id="876" r:id="rId44"/>
    <p:sldId id="277" r:id="rId45"/>
    <p:sldId id="2147329499" r:id="rId46"/>
    <p:sldId id="266" r:id="rId47"/>
    <p:sldId id="2147329497" r:id="rId48"/>
    <p:sldId id="2147329493" r:id="rId49"/>
    <p:sldId id="2147329534" r:id="rId50"/>
    <p:sldId id="2147329525" r:id="rId51"/>
    <p:sldId id="2147329507" r:id="rId52"/>
    <p:sldId id="2147329527" r:id="rId53"/>
    <p:sldId id="2147329528" r:id="rId54"/>
    <p:sldId id="2147329530" r:id="rId55"/>
    <p:sldId id="2147329565" r:id="rId56"/>
    <p:sldId id="2147329517" r:id="rId57"/>
    <p:sldId id="2147329516" r:id="rId58"/>
    <p:sldId id="2147329512" r:id="rId59"/>
    <p:sldId id="2147329513" r:id="rId60"/>
    <p:sldId id="2147329514" r:id="rId61"/>
    <p:sldId id="2147329520" r:id="rId62"/>
    <p:sldId id="2147329526" r:id="rId63"/>
    <p:sldId id="2147329554" r:id="rId64"/>
    <p:sldId id="2147329509" r:id="rId65"/>
    <p:sldId id="2147329495" r:id="rId66"/>
    <p:sldId id="2147329562" r:id="rId67"/>
    <p:sldId id="2147329563" r:id="rId68"/>
    <p:sldId id="2147329564" r:id="rId69"/>
    <p:sldId id="2147329542" r:id="rId70"/>
  </p:sldIdLst>
  <p:sldSz cx="18288000" cy="10287000"/>
  <p:notesSz cx="6858000" cy="9144000"/>
  <p:embeddedFontLst>
    <p:embeddedFont>
      <p:font typeface="Calibri" panose="020F0502020204030204" pitchFamily="34" charset="0"/>
      <p:regular r:id="rId72"/>
      <p:bold r:id="rId73"/>
      <p:italic r:id="rId74"/>
      <p:boldItalic r:id="rId75"/>
    </p:embeddedFont>
    <p:embeddedFont>
      <p:font typeface="Calibri Light" panose="020F0302020204030204" pitchFamily="34" charset="0"/>
      <p:regular r:id="rId76"/>
      <p:italic r:id="rId77"/>
    </p:embeddedFont>
    <p:embeddedFont>
      <p:font typeface="Canva Sans" panose="020B0604020202020204" charset="0"/>
      <p:regular r:id="rId78"/>
    </p:embeddedFont>
    <p:embeddedFont>
      <p:font typeface="Open Sans Bold" panose="020B0604020202020204" charset="0"/>
      <p:regular r:id="rId79"/>
      <p:bold r:id="rId80"/>
    </p:embeddedFont>
    <p:embeddedFont>
      <p:font typeface="Pangram" panose="00000500000000000000" pitchFamily="50" charset="0"/>
      <p:regular r:id="rId81"/>
      <p:bold r:id="rId82"/>
    </p:embeddedFont>
    <p:embeddedFont>
      <p:font typeface="Pangram Bold" panose="020B0604020202020204" charset="0"/>
      <p:regular r:id="rId83"/>
    </p:embeddedFont>
    <p:embeddedFont>
      <p:font typeface="Pangram ExtraLight" panose="00000300000000000000" pitchFamily="50" charset="0"/>
      <p:regular r:id="rId84"/>
    </p:embeddedFont>
    <p:embeddedFont>
      <p:font typeface="SimHei" panose="02010609060101010101" pitchFamily="49" charset="-122"/>
      <p:regular r:id="rId85"/>
    </p:embeddedFont>
    <p:embeddedFont>
      <p:font typeface="Tahoma" panose="020B0604030504040204" pitchFamily="34" charset="0"/>
      <p:regular r:id="rId86"/>
      <p:bold r:id="rId8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9D9E"/>
    <a:srgbClr val="21A0FF"/>
    <a:srgbClr val="DE7C7E"/>
    <a:srgbClr val="173D75"/>
    <a:srgbClr val="929292"/>
    <a:srgbClr val="1870F1"/>
    <a:srgbClr val="8ACAEC"/>
    <a:srgbClr val="CD393B"/>
    <a:srgbClr val="005EA4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2302" autoAdjust="0"/>
  </p:normalViewPr>
  <p:slideViewPr>
    <p:cSldViewPr>
      <p:cViewPr varScale="1">
        <p:scale>
          <a:sx n="43" d="100"/>
          <a:sy n="43" d="100"/>
        </p:scale>
        <p:origin x="93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font" Target="fonts/font13.fntdata"/><Relationship Id="rId89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Master" Target="slideMasters/slideMaster5.xml"/><Relationship Id="rId90" Type="http://schemas.openxmlformats.org/officeDocument/2006/relationships/theme" Target="theme/theme1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font" Target="fonts/font6.fntdata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font" Target="fonts/font1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font" Target="fonts/font15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font" Target="fonts/font5.fntdata"/><Relationship Id="rId7" Type="http://schemas.openxmlformats.org/officeDocument/2006/relationships/slide" Target="slides/slide2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font" Target="fonts/font16.fntdata"/><Relationship Id="rId61" Type="http://schemas.openxmlformats.org/officeDocument/2006/relationships/slide" Target="slides/slide56.xml"/><Relationship Id="rId82" Type="http://schemas.openxmlformats.org/officeDocument/2006/relationships/font" Target="fonts/font11.fntdata"/><Relationship Id="rId19" Type="http://schemas.openxmlformats.org/officeDocument/2006/relationships/slide" Target="slides/slide1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2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22.xml"/><Relationship Id="rId1" Type="http://schemas.microsoft.com/office/2011/relationships/chartStyle" Target="style22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0.xlsx"/><Relationship Id="rId1" Type="http://schemas.openxmlformats.org/officeDocument/2006/relationships/themeOverride" Target="../theme/themeOverride5.xm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23.xml"/><Relationship Id="rId1" Type="http://schemas.microsoft.com/office/2011/relationships/chartStyle" Target="style23.xml"/><Relationship Id="rId4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24.xml"/><Relationship Id="rId1" Type="http://schemas.microsoft.com/office/2011/relationships/chartStyle" Target="style24.xml"/><Relationship Id="rId4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3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6.xlsx"/><Relationship Id="rId1" Type="http://schemas.openxmlformats.org/officeDocument/2006/relationships/themeOverride" Target="../theme/themeOverride8.xml"/></Relationships>
</file>

<file path=ppt/charts/_rels/chart3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7.xlsx"/><Relationship Id="rId1" Type="http://schemas.openxmlformats.org/officeDocument/2006/relationships/themeOverride" Target="../theme/themeOverride9.xml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5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6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8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9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0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2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3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4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5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6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7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8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9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0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2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3.xlsx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4.xlsx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5.xlsx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6.xlsx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7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1" tx1="lt1" bg2="dk2" tx2="lt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US" sz="3000" b="1" dirty="0">
                <a:solidFill>
                  <a:srgbClr val="002060"/>
                </a:solidFill>
                <a:latin typeface="Pangram" panose="00000500000000000000" pitchFamily="50" charset="0"/>
              </a:rPr>
              <a:t>Brand Awareness</a:t>
            </a:r>
          </a:p>
        </c:rich>
      </c:tx>
      <c:layout>
        <c:manualLayout>
          <c:xMode val="edge"/>
          <c:yMode val="edge"/>
          <c:x val="0.40356734169478692"/>
          <c:y val="3.178176985168799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7661115628677848E-2"/>
          <c:y val="7.5864586136917114E-2"/>
          <c:w val="0.9308588064046579"/>
          <c:h val="0.745851196502303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TOM</c:v>
                </c:pt>
              </c:strCache>
            </c:strRef>
          </c:tx>
          <c:spPr>
            <a:solidFill>
              <a:srgbClr val="173D75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rgbClr val="DE7C7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Brand1</c:v>
                </c:pt>
                <c:pt idx="1">
                  <c:v>Brand2</c:v>
                </c:pt>
                <c:pt idx="2">
                  <c:v>Brand3</c:v>
                </c:pt>
                <c:pt idx="3">
                  <c:v>Brand4</c:v>
                </c:pt>
                <c:pt idx="4">
                  <c:v>Brand5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0.16400000000000001</c:v>
                </c:pt>
                <c:pt idx="1">
                  <c:v>0.14799999999999999</c:v>
                </c:pt>
                <c:pt idx="2">
                  <c:v>5.6000000000000001E-2</c:v>
                </c:pt>
                <c:pt idx="3">
                  <c:v>1.6E-2</c:v>
                </c:pt>
                <c:pt idx="4">
                  <c:v>1.2E-2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20-48D2-AB8B-80B977AFA7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unaided</c:v>
                </c:pt>
              </c:strCache>
            </c:strRef>
          </c:tx>
          <c:spPr>
            <a:solidFill>
              <a:srgbClr val="21A0FF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rgbClr val="DE7C7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Brand1</c:v>
                </c:pt>
                <c:pt idx="1">
                  <c:v>Brand2</c:v>
                </c:pt>
                <c:pt idx="2">
                  <c:v>Brand3</c:v>
                </c:pt>
                <c:pt idx="3">
                  <c:v>Brand4</c:v>
                </c:pt>
                <c:pt idx="4">
                  <c:v>Brand5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0.02</c:v>
                </c:pt>
                <c:pt idx="1">
                  <c:v>0.01</c:v>
                </c:pt>
                <c:pt idx="2">
                  <c:v>0.01</c:v>
                </c:pt>
                <c:pt idx="3">
                  <c:v>0.01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20-48D2-AB8B-80B977AFA7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aidedawareness</c:v>
                </c:pt>
              </c:strCache>
            </c:strRef>
          </c:tx>
          <c:spPr>
            <a:solidFill>
              <a:srgbClr val="8ACAEC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DE7C7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Brand1</c:v>
                </c:pt>
                <c:pt idx="1">
                  <c:v>Brand2</c:v>
                </c:pt>
                <c:pt idx="2">
                  <c:v>Brand3</c:v>
                </c:pt>
                <c:pt idx="3">
                  <c:v>Brand4</c:v>
                </c:pt>
                <c:pt idx="4">
                  <c:v>Brand5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0.81599999999999995</c:v>
                </c:pt>
                <c:pt idx="1">
                  <c:v>0.8</c:v>
                </c:pt>
                <c:pt idx="2">
                  <c:v>0.79200000000000004</c:v>
                </c:pt>
                <c:pt idx="3">
                  <c:v>0.28799999999999998</c:v>
                </c:pt>
                <c:pt idx="4">
                  <c:v>0.128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220-48D2-AB8B-80B977AFA72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Awareness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rgbClr val="DE7C7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Brand1</c:v>
                </c:pt>
                <c:pt idx="1">
                  <c:v>Brand2</c:v>
                </c:pt>
                <c:pt idx="2">
                  <c:v>Brand3</c:v>
                </c:pt>
                <c:pt idx="3">
                  <c:v>Brand4</c:v>
                </c:pt>
                <c:pt idx="4">
                  <c:v>Brand5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</c:v>
                </c:pt>
                <c:pt idx="1">
                  <c:v>0.95800000000000007</c:v>
                </c:pt>
                <c:pt idx="2">
                  <c:v>0.8580000000000001</c:v>
                </c:pt>
                <c:pt idx="3">
                  <c:v>0.314</c:v>
                </c:pt>
                <c:pt idx="4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220-48D2-AB8B-80B977AFA72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0641072"/>
        <c:axId val="90643952"/>
      </c:barChart>
      <c:catAx>
        <c:axId val="90641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90643952"/>
        <c:crosses val="autoZero"/>
        <c:auto val="1"/>
        <c:lblAlgn val="ctr"/>
        <c:lblOffset val="100"/>
        <c:noMultiLvlLbl val="0"/>
      </c:catAx>
      <c:valAx>
        <c:axId val="90643952"/>
        <c:scaling>
          <c:orientation val="minMax"/>
          <c:max val="1"/>
        </c:scaling>
        <c:delete val="1"/>
        <c:axPos val="l"/>
        <c:numFmt formatCode="0%" sourceLinked="0"/>
        <c:majorTickMark val="none"/>
        <c:minorTickMark val="none"/>
        <c:tickLblPos val="nextTo"/>
        <c:crossAx val="90641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4729583802024733"/>
          <c:y val="1.6991715623938936E-2"/>
          <c:w val="0.14711829771278589"/>
          <c:h val="0.20203560277092888"/>
        </c:manualLayout>
      </c:layout>
      <c:overlay val="1"/>
      <c:spPr>
        <a:solidFill>
          <a:srgbClr val="FFFFFF"/>
        </a:solidFill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2000" b="0" i="0" u="none" strike="noStrike" kern="1200" baseline="0">
              <a:solidFill>
                <a:schemeClr val="bg1">
                  <a:lumMod val="50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000" dirty="0">
                <a:latin typeface="Pangram" panose="00000500000000000000" pitchFamily="50" charset="0"/>
              </a:rPr>
              <a:t>Source</a:t>
            </a:r>
            <a:r>
              <a:rPr lang="en-US" sz="3000" baseline="0" dirty="0">
                <a:latin typeface="Pangram" panose="00000500000000000000" pitchFamily="50" charset="0"/>
              </a:rPr>
              <a:t> of Awareness</a:t>
            </a:r>
            <a:endParaRPr lang="en-US" sz="3000" dirty="0">
              <a:latin typeface="Pangram" panose="00000500000000000000" pitchFamily="50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6131971390037165"/>
          <c:y val="7.8190944881889754E-2"/>
          <c:w val="0.63868028609962835"/>
          <c:h val="0.8469639727635924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DE7C7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56-4FB2-BA75-EB915A4368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43797200"/>
        <c:axId val="1545571936"/>
      </c:barChart>
      <c:catAx>
        <c:axId val="1543797200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545571936"/>
        <c:crosses val="autoZero"/>
        <c:auto val="1"/>
        <c:lblAlgn val="ctr"/>
        <c:lblOffset val="100"/>
        <c:noMultiLvlLbl val="0"/>
      </c:catAx>
      <c:valAx>
        <c:axId val="1545571936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43797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000" b="1" dirty="0"/>
              <a:t>Purchase funnel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2974796089671165E-2"/>
          <c:y val="7.9064957071380657E-2"/>
          <c:w val="0.88250601318797772"/>
          <c:h val="0.7933877021855014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 Awareness</c:v>
                </c:pt>
                <c:pt idx="1">
                  <c:v>pastyear</c:v>
                </c:pt>
                <c:pt idx="2">
                  <c:v>past3months</c:v>
                </c:pt>
                <c:pt idx="3">
                  <c:v>MOU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0.42799999999999999</c:v>
                </c:pt>
                <c:pt idx="2">
                  <c:v>0.34</c:v>
                </c:pt>
                <c:pt idx="3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0D-4E90-8870-3079F1642E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Vatika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 Awareness</c:v>
                </c:pt>
                <c:pt idx="1">
                  <c:v>pastyear</c:v>
                </c:pt>
                <c:pt idx="2">
                  <c:v>past3months</c:v>
                </c:pt>
                <c:pt idx="3">
                  <c:v>MOU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0.95800000000000007</c:v>
                </c:pt>
                <c:pt idx="1">
                  <c:v>0.47199999999999998</c:v>
                </c:pt>
                <c:pt idx="2">
                  <c:v>0.4</c:v>
                </c:pt>
                <c:pt idx="3">
                  <c:v>0.33200000000000002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0D-4E90-8870-3079F1642E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Mink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 Awareness</c:v>
                </c:pt>
                <c:pt idx="1">
                  <c:v>pastyear</c:v>
                </c:pt>
                <c:pt idx="2">
                  <c:v>past3months</c:v>
                </c:pt>
                <c:pt idx="3">
                  <c:v>MOU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0.8580000000000001</c:v>
                </c:pt>
                <c:pt idx="1">
                  <c:v>0.36799999999999999</c:v>
                </c:pt>
                <c:pt idx="2">
                  <c:v>0.224</c:v>
                </c:pt>
                <c:pt idx="3">
                  <c:v>0.17199999999999999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D0D-4E90-8870-3079F1642E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Clary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 Awareness</c:v>
                </c:pt>
                <c:pt idx="1">
                  <c:v>pastyear</c:v>
                </c:pt>
                <c:pt idx="2">
                  <c:v>past3months</c:v>
                </c:pt>
                <c:pt idx="3">
                  <c:v>MOU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0.314</c:v>
                </c:pt>
                <c:pt idx="1">
                  <c:v>0.124</c:v>
                </c:pt>
                <c:pt idx="2">
                  <c:v>9.1999999999999998E-2</c:v>
                </c:pt>
                <c:pt idx="3">
                  <c:v>7.1999999999999995E-2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D0D-4E90-8870-3079F1642E8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Raw African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 Awareness</c:v>
                </c:pt>
                <c:pt idx="1">
                  <c:v>pastyear</c:v>
                </c:pt>
                <c:pt idx="2">
                  <c:v>past3months</c:v>
                </c:pt>
                <c:pt idx="3">
                  <c:v>MOU</c:v>
                </c:pt>
              </c:strCache>
            </c:strRef>
          </c:cat>
          <c:val>
            <c:numRef>
              <c:f>Sheet1!$F$2:$F$5</c:f>
              <c:numCache>
                <c:formatCode>0%</c:formatCode>
                <c:ptCount val="4"/>
                <c:pt idx="0">
                  <c:v>0.14000000000000001</c:v>
                </c:pt>
                <c:pt idx="1">
                  <c:v>0.06</c:v>
                </c:pt>
                <c:pt idx="2">
                  <c:v>3.5999999999999997E-2</c:v>
                </c:pt>
                <c:pt idx="3">
                  <c:v>2.8000000000000001E-2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D0D-4E90-8870-3079F1642E8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59725888"/>
        <c:axId val="1859729248"/>
      </c:lineChart>
      <c:catAx>
        <c:axId val="1859725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729248"/>
        <c:crosses val="autoZero"/>
        <c:auto val="1"/>
        <c:lblAlgn val="ctr"/>
        <c:lblOffset val="100"/>
        <c:noMultiLvlLbl val="0"/>
      </c:catAx>
      <c:valAx>
        <c:axId val="1859729248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1859725888"/>
        <c:crosses val="autoZero"/>
        <c:crossBetween val="between"/>
      </c:valAx>
      <c:spPr>
        <a:noFill/>
        <a:ln>
          <a:noFill/>
        </a:ln>
        <a:effectLst>
          <a:softEdge rad="0"/>
        </a:effectLst>
      </c:spPr>
    </c:plotArea>
    <c:legend>
      <c:legendPos val="r"/>
      <c:layout>
        <c:manualLayout>
          <c:xMode val="edge"/>
          <c:yMode val="edge"/>
          <c:x val="0.88919524139420825"/>
          <c:y val="7.6510044894370507E-2"/>
          <c:w val="0.11080475860579174"/>
          <c:h val="0.79282914042059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3000" dirty="0"/>
              <a:t>Usage Purpose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410706474190729E-2"/>
          <c:y val="0.11102166750432792"/>
          <c:w val="0.87905008748906377"/>
          <c:h val="0.640423158541352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Purpose</c:v>
                </c:pt>
              </c:strCache>
            </c:strRef>
          </c:tx>
          <c:spPr>
            <a:solidFill>
              <a:srgbClr val="DE7C7E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DE7C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CA-4E8B-87C4-E79DAAC2DA8E}"/>
              </c:ext>
            </c:extLst>
          </c:dPt>
          <c:dPt>
            <c:idx val="2"/>
            <c:invertIfNegative val="0"/>
            <c:bubble3D val="0"/>
            <c:spPr>
              <a:solidFill>
                <a:srgbClr val="DE7C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FCA-4E8B-87C4-E79DAAC2DA8E}"/>
              </c:ext>
            </c:extLst>
          </c:dPt>
          <c:dPt>
            <c:idx val="3"/>
            <c:invertIfNegative val="0"/>
            <c:bubble3D val="0"/>
            <c:spPr>
              <a:solidFill>
                <a:srgbClr val="DE7C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FCA-4E8B-87C4-E79DAAC2DA8E}"/>
              </c:ext>
            </c:extLst>
          </c:dPt>
          <c:dPt>
            <c:idx val="4"/>
            <c:invertIfNegative val="0"/>
            <c:bubble3D val="0"/>
            <c:spPr>
              <a:solidFill>
                <a:srgbClr val="DE7C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FCA-4E8B-87C4-E79DAAC2DA8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label 1</c:v>
                </c:pt>
                <c:pt idx="1">
                  <c:v>label 2</c:v>
                </c:pt>
                <c:pt idx="2">
                  <c:v>label 3</c:v>
                </c:pt>
                <c:pt idx="3">
                  <c:v>label 4</c:v>
                </c:pt>
                <c:pt idx="4">
                  <c:v>To Stay Focused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0.35</c:v>
                </c:pt>
                <c:pt idx="1">
                  <c:v>0.3</c:v>
                </c:pt>
                <c:pt idx="2">
                  <c:v>0.2</c:v>
                </c:pt>
                <c:pt idx="3">
                  <c:v>0.1</c:v>
                </c:pt>
                <c:pt idx="4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FCA-4E8B-87C4-E79DAAC2DA8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04853408"/>
        <c:axId val="1804848608"/>
      </c:barChart>
      <c:catAx>
        <c:axId val="180485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848608"/>
        <c:crosses val="autoZero"/>
        <c:auto val="1"/>
        <c:lblAlgn val="ctr"/>
        <c:lblOffset val="100"/>
        <c:noMultiLvlLbl val="0"/>
      </c:catAx>
      <c:valAx>
        <c:axId val="180484860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0485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3000"/>
            </a:pPr>
            <a:r>
              <a:rPr lang="en-US" sz="3000" dirty="0"/>
              <a:t>Usage Time</a:t>
            </a:r>
          </a:p>
        </c:rich>
      </c:tx>
      <c:layout>
        <c:manualLayout>
          <c:xMode val="edge"/>
          <c:yMode val="edge"/>
          <c:x val="0.36809818703449193"/>
          <c:y val="2.5783654330524625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1.5669527972575072E-2"/>
          <c:y val="9.2411126081286182E-2"/>
          <c:w val="0.96866094405484982"/>
          <c:h val="0.78145886139149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Purpose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AA-472A-A0BA-5ACAA7E8AE5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2AA-472A-A0BA-5ACAA7E8AE5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2AA-472A-A0BA-5ACAA7E8AE5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2AA-472A-A0BA-5ACAA7E8AE5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2AA-472A-A0BA-5ACAA7E8AE5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label 1</c:v>
                </c:pt>
                <c:pt idx="1">
                  <c:v>label 2</c:v>
                </c:pt>
                <c:pt idx="2">
                  <c:v>label 3</c:v>
                </c:pt>
                <c:pt idx="3">
                  <c:v>label 4</c:v>
                </c:pt>
                <c:pt idx="4">
                  <c:v>label 5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  <c:pt idx="4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2AA-472A-A0BA-5ACAA7E8AE5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04853408"/>
        <c:axId val="1804848608"/>
      </c:barChart>
      <c:catAx>
        <c:axId val="180485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848608"/>
        <c:crosses val="autoZero"/>
        <c:auto val="1"/>
        <c:lblAlgn val="ctr"/>
        <c:lblOffset val="100"/>
        <c:noMultiLvlLbl val="0"/>
      </c:catAx>
      <c:valAx>
        <c:axId val="180484860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0485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3000">
                <a:solidFill>
                  <a:srgbClr val="173D75"/>
                </a:solidFill>
              </a:defRPr>
            </a:pPr>
            <a:r>
              <a:rPr lang="en-US" sz="3000" dirty="0">
                <a:solidFill>
                  <a:srgbClr val="173D75"/>
                </a:solidFill>
              </a:rPr>
              <a:t>Usage Occasions</a:t>
            </a:r>
          </a:p>
        </c:rich>
      </c:tx>
      <c:layout>
        <c:manualLayout>
          <c:xMode val="edge"/>
          <c:yMode val="edge"/>
          <c:x val="0.30387688854209582"/>
          <c:y val="2.5192539437730289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2.9779530957381142E-2"/>
          <c:y val="8.0388500696762177E-2"/>
          <c:w val="0.96442334236204563"/>
          <c:h val="0.773358517607502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Purpose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78-4F02-87DC-9D8FB1B123F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B78-4F02-87DC-9D8FB1B123F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B78-4F02-87DC-9D8FB1B123F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B78-4F02-87DC-9D8FB1B123F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label 1</c:v>
                </c:pt>
                <c:pt idx="1">
                  <c:v>label 2</c:v>
                </c:pt>
                <c:pt idx="2">
                  <c:v>label 3</c:v>
                </c:pt>
                <c:pt idx="3">
                  <c:v>label 4</c:v>
                </c:pt>
                <c:pt idx="4">
                  <c:v>To Stay Focused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  <c:pt idx="4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78-4F02-87DC-9D8FB1B123F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04853408"/>
        <c:axId val="1804848608"/>
      </c:barChart>
      <c:catAx>
        <c:axId val="180485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848608"/>
        <c:crosses val="autoZero"/>
        <c:auto val="1"/>
        <c:lblAlgn val="ctr"/>
        <c:lblOffset val="100"/>
        <c:noMultiLvlLbl val="0"/>
      </c:catAx>
      <c:valAx>
        <c:axId val="180484860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0485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1" tx1="lt1" bg2="dk2" tx2="lt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3600" b="1">
                <a:latin typeface="Pangram" panose="00000500000000000000" pitchFamily="50" charset="0"/>
              </a:defRPr>
            </a:pPr>
            <a:r>
              <a:rPr lang="en-US" sz="3000" b="1" dirty="0">
                <a:latin typeface="Pangram" panose="00000500000000000000" pitchFamily="50" charset="0"/>
              </a:rPr>
              <a:t>Usage Frequency</a:t>
            </a:r>
          </a:p>
        </c:rich>
      </c:tx>
      <c:layout>
        <c:manualLayout>
          <c:xMode val="edge"/>
          <c:yMode val="edge"/>
          <c:x val="0.24012456000940946"/>
          <c:y val="3.5000529795099461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1.1248146275495516E-3"/>
          <c:y val="0.16335965717718176"/>
          <c:w val="0.60670707742973773"/>
          <c:h val="0.83308869900375437"/>
        </c:manualLayout>
      </c:layout>
      <c:barChart>
        <c:barDir val="col"/>
        <c:grouping val="percent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Several times a day</c:v>
                </c:pt>
              </c:strCache>
            </c:strRef>
          </c:tx>
          <c:spPr>
            <a:solidFill>
              <a:srgbClr val="0F9ED5">
                <a:lumMod val="50000"/>
              </a:srgbClr>
            </a:solidFill>
            <a:ln w="29369">
              <a:noFill/>
            </a:ln>
          </c:spPr>
          <c:invertIfNegative val="0"/>
          <c:dLbls>
            <c:numFmt formatCode="0%" sourceLinked="0"/>
            <c:spPr>
              <a:noFill/>
              <a:ln w="29369">
                <a:noFill/>
              </a:ln>
            </c:spPr>
            <c:txPr>
              <a:bodyPr/>
              <a:lstStyle/>
              <a:p>
                <a:pPr>
                  <a:defRPr sz="1619" b="1" i="0" u="none" strike="noStrike" baseline="0">
                    <a:solidFill>
                      <a:srgbClr val="FFFFFF"/>
                    </a:solidFill>
                    <a:latin typeface="Tahoma"/>
                    <a:ea typeface="Tahoma"/>
                    <a:cs typeface="Tahom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usage frequency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1B-4C46-879C-B644EE948B29}"/>
            </c:ext>
          </c:extLst>
        </c:ser>
        <c:ser>
          <c:idx val="5"/>
          <c:order val="1"/>
          <c:tx>
            <c:strRef>
              <c:f>Sheet1!$C$1</c:f>
              <c:strCache>
                <c:ptCount val="1"/>
                <c:pt idx="0">
                  <c:v>Few times a week</c:v>
                </c:pt>
              </c:strCache>
            </c:strRef>
          </c:tx>
          <c:spPr>
            <a:solidFill>
              <a:srgbClr val="0F9ED5">
                <a:lumMod val="75000"/>
              </a:srgbClr>
            </a:solidFill>
            <a:ln w="29369">
              <a:noFill/>
            </a:ln>
          </c:spPr>
          <c:invertIfNegative val="0"/>
          <c:dLbls>
            <c:dLbl>
              <c:idx val="0"/>
              <c:numFmt formatCode="0%" sourceLinked="0"/>
              <c:spPr>
                <a:noFill/>
                <a:ln w="29369">
                  <a:noFill/>
                </a:ln>
              </c:spPr>
              <c:txPr>
                <a:bodyPr/>
                <a:lstStyle/>
                <a:p>
                  <a:pPr>
                    <a:defRPr sz="1619" b="1" i="0" u="none" strike="noStrike" baseline="0">
                      <a:solidFill>
                        <a:srgbClr val="FFFFFF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41B-4C46-879C-B644EE948B29}"/>
                </c:ext>
              </c:extLst>
            </c:dLbl>
            <c:spPr>
              <a:noFill/>
              <a:ln w="29369">
                <a:noFill/>
              </a:ln>
            </c:spPr>
            <c:txPr>
              <a:bodyPr/>
              <a:lstStyle/>
              <a:p>
                <a:pPr>
                  <a:defRPr sz="1619" b="1" i="0" u="none" strike="noStrike" baseline="0">
                    <a:solidFill>
                      <a:srgbClr val="FFFFFF"/>
                    </a:solidFill>
                    <a:latin typeface="Tahoma"/>
                    <a:ea typeface="Tahoma"/>
                    <a:cs typeface="Tahom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usage frequency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1B-4C46-879C-B644EE948B29}"/>
            </c:ext>
          </c:extLst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Once a week</c:v>
                </c:pt>
              </c:strCache>
            </c:strRef>
          </c:tx>
          <c:spPr>
            <a:solidFill>
              <a:srgbClr val="0F9ED5">
                <a:lumMod val="60000"/>
                <a:lumOff val="40000"/>
              </a:srgbClr>
            </a:solidFill>
            <a:ln w="29369">
              <a:noFill/>
            </a:ln>
          </c:spPr>
          <c:invertIfNegative val="0"/>
          <c:dLbls>
            <c:numFmt formatCode="0%" sourceLinked="0"/>
            <c:spPr>
              <a:noFill/>
              <a:ln w="29369">
                <a:noFill/>
              </a:ln>
            </c:spPr>
            <c:txPr>
              <a:bodyPr/>
              <a:lstStyle/>
              <a:p>
                <a:pPr>
                  <a:defRPr sz="1619" b="1" i="0" u="none" strike="noStrike" baseline="0">
                    <a:solidFill>
                      <a:srgbClr val="FFFFFF"/>
                    </a:solidFill>
                    <a:latin typeface="Tahoma"/>
                    <a:ea typeface="Tahoma"/>
                    <a:cs typeface="Tahom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usage frequency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1B-4C46-879C-B644EE948B2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Once a day</c:v>
                </c:pt>
              </c:strCache>
            </c:strRef>
          </c:tx>
          <c:spPr>
            <a:solidFill>
              <a:srgbClr val="0F9ED5">
                <a:lumMod val="40000"/>
                <a:lumOff val="60000"/>
              </a:srgbClr>
            </a:solidFill>
            <a:ln w="29369">
              <a:noFill/>
            </a:ln>
          </c:spPr>
          <c:invertIfNegative val="0"/>
          <c:dLbls>
            <c:numFmt formatCode="0%" sourceLinked="0"/>
            <c:spPr>
              <a:noFill/>
              <a:ln w="29369">
                <a:noFill/>
              </a:ln>
            </c:spPr>
            <c:txPr>
              <a:bodyPr/>
              <a:lstStyle/>
              <a:p>
                <a:pPr>
                  <a:defRPr sz="1619" b="1" i="0" u="none" strike="noStrike" baseline="0">
                    <a:solidFill>
                      <a:schemeClr val="tx1"/>
                    </a:solidFill>
                    <a:latin typeface="Tahoma"/>
                    <a:ea typeface="Tahoma"/>
                    <a:cs typeface="Tahom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usage frequency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1B-4C46-879C-B644EE948B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-1658205200"/>
        <c:axId val="-1658216624"/>
      </c:barChart>
      <c:catAx>
        <c:axId val="-16582052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1658216624"/>
        <c:crosses val="autoZero"/>
        <c:auto val="1"/>
        <c:lblAlgn val="ctr"/>
        <c:lblOffset val="100"/>
        <c:noMultiLvlLbl val="0"/>
      </c:catAx>
      <c:valAx>
        <c:axId val="-1658216624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one"/>
        <c:crossAx val="-1658205200"/>
        <c:crosses val="autoZero"/>
        <c:crossBetween val="between"/>
        <c:majorUnit val="0.25"/>
      </c:valAx>
      <c:spPr>
        <a:noFill/>
        <a:ln w="29369">
          <a:noFill/>
        </a:ln>
      </c:spPr>
    </c:plotArea>
    <c:legend>
      <c:legendPos val="r"/>
      <c:layout>
        <c:manualLayout>
          <c:xMode val="edge"/>
          <c:yMode val="edge"/>
          <c:x val="0.57848832849086862"/>
          <c:y val="0.16102577907993859"/>
          <c:w val="0.33794190010088132"/>
          <c:h val="0.83897422092006146"/>
        </c:manualLayout>
      </c:layout>
      <c:overlay val="0"/>
      <c:spPr>
        <a:solidFill>
          <a:schemeClr val="bg1"/>
        </a:solidFill>
        <a:ln w="29369">
          <a:noFill/>
        </a:ln>
      </c:spPr>
      <c:txPr>
        <a:bodyPr/>
        <a:lstStyle/>
        <a:p>
          <a:pPr>
            <a:defRPr sz="2400" b="0" i="0" u="none" strike="noStrike" baseline="0">
              <a:solidFill>
                <a:schemeClr val="tx1"/>
              </a:solidFill>
              <a:latin typeface="+mn-lt"/>
              <a:ea typeface="Tahoma"/>
              <a:cs typeface="Tahom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25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3000" dirty="0"/>
              <a:t>Usage Places</a:t>
            </a:r>
          </a:p>
        </c:rich>
      </c:tx>
      <c:layout>
        <c:manualLayout>
          <c:xMode val="edge"/>
          <c:yMode val="edge"/>
          <c:x val="0.36300348170764363"/>
          <c:y val="3.4592145765167955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2.9304033530044349E-2"/>
          <c:y val="0.14773505804244841"/>
          <c:w val="0.95970695389618899"/>
          <c:h val="0.734031781242945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Purpose</c:v>
                </c:pt>
              </c:strCache>
            </c:strRef>
          </c:tx>
          <c:spPr>
            <a:solidFill>
              <a:srgbClr val="002060"/>
            </a:solidFill>
            <a:ln>
              <a:solidFill>
                <a:srgbClr val="00B0F0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05EA4"/>
              </a:solidFill>
              <a:ln>
                <a:solidFill>
                  <a:srgbClr val="00B0F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711F-464B-9254-9998E2B5F32A}"/>
              </c:ext>
            </c:extLst>
          </c:dPt>
          <c:dPt>
            <c:idx val="2"/>
            <c:invertIfNegative val="0"/>
            <c:bubble3D val="0"/>
            <c:spPr>
              <a:solidFill>
                <a:srgbClr val="0070C0"/>
              </a:solidFill>
              <a:ln>
                <a:solidFill>
                  <a:srgbClr val="00B0F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11F-464B-9254-9998E2B5F32A}"/>
              </c:ext>
            </c:extLst>
          </c:dPt>
          <c:dPt>
            <c:idx val="3"/>
            <c:invertIfNegative val="0"/>
            <c:bubble3D val="0"/>
            <c:spPr>
              <a:solidFill>
                <a:srgbClr val="21A0FF"/>
              </a:solidFill>
              <a:ln>
                <a:solidFill>
                  <a:srgbClr val="00B0F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11F-464B-9254-9998E2B5F32A}"/>
              </c:ext>
            </c:extLst>
          </c:dPt>
          <c:dPt>
            <c:idx val="4"/>
            <c:invertIfNegative val="0"/>
            <c:bubble3D val="0"/>
            <c:spPr>
              <a:solidFill>
                <a:srgbClr val="8ACAEC"/>
              </a:solidFill>
              <a:ln>
                <a:solidFill>
                  <a:srgbClr val="00B0F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11F-464B-9254-9998E2B5F32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label 1</c:v>
                </c:pt>
                <c:pt idx="1">
                  <c:v>label 2</c:v>
                </c:pt>
                <c:pt idx="2">
                  <c:v>label 3</c:v>
                </c:pt>
                <c:pt idx="3">
                  <c:v>label 4</c:v>
                </c:pt>
                <c:pt idx="4">
                  <c:v>label 5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26-4CBC-BD7F-7846EA79EE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04853408"/>
        <c:axId val="1804848608"/>
      </c:barChart>
      <c:catAx>
        <c:axId val="180485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848608"/>
        <c:crosses val="autoZero"/>
        <c:auto val="1"/>
        <c:lblAlgn val="ctr"/>
        <c:lblOffset val="100"/>
        <c:noMultiLvlLbl val="0"/>
      </c:catAx>
      <c:valAx>
        <c:axId val="180484860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0485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3000" dirty="0"/>
              <a:t>Purchase Places</a:t>
            </a:r>
          </a:p>
        </c:rich>
      </c:tx>
      <c:layout>
        <c:manualLayout>
          <c:xMode val="edge"/>
          <c:yMode val="edge"/>
          <c:x val="0.315833060119797"/>
          <c:y val="1.7235763530752946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1.4947578997960292E-2"/>
          <c:y val="9.3968716533995286E-2"/>
          <c:w val="0.96442336287193031"/>
          <c:h val="0.798511210032028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Purpose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78-4F02-87DC-9D8FB1B123F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B78-4F02-87DC-9D8FB1B123F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B78-4F02-87DC-9D8FB1B123F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B78-4F02-87DC-9D8FB1B123F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label 1</c:v>
                </c:pt>
                <c:pt idx="1">
                  <c:v>label 2</c:v>
                </c:pt>
                <c:pt idx="2">
                  <c:v>label 3</c:v>
                </c:pt>
                <c:pt idx="3">
                  <c:v>label 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78-4F02-87DC-9D8FB1B123F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04853408"/>
        <c:axId val="1804848608"/>
      </c:barChart>
      <c:catAx>
        <c:axId val="180485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848608"/>
        <c:crosses val="autoZero"/>
        <c:auto val="1"/>
        <c:lblAlgn val="ctr"/>
        <c:lblOffset val="100"/>
        <c:noMultiLvlLbl val="0"/>
      </c:catAx>
      <c:valAx>
        <c:axId val="180484860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0485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600" b="1" i="0" u="none" strike="noStrike" kern="1200" baseline="0">
                <a:solidFill>
                  <a:schemeClr val="tx1"/>
                </a:solidFill>
                <a:latin typeface="Pangram" panose="00000500000000000000" pitchFamily="50" charset="0"/>
                <a:ea typeface="Arial"/>
                <a:cs typeface="Arial"/>
              </a:defRPr>
            </a:pPr>
            <a:r>
              <a:rPr lang="en-US" sz="3000" b="1" dirty="0">
                <a:latin typeface="Pangram" panose="00000500000000000000" pitchFamily="50" charset="0"/>
              </a:rPr>
              <a:t>Purchase Frequency</a:t>
            </a:r>
          </a:p>
        </c:rich>
      </c:tx>
      <c:layout>
        <c:manualLayout>
          <c:xMode val="edge"/>
          <c:yMode val="edge"/>
          <c:x val="0.24012456000940946"/>
          <c:y val="3.50005297950994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600" b="1" i="0" u="none" strike="noStrike" kern="1200" baseline="0">
              <a:solidFill>
                <a:schemeClr val="tx1"/>
              </a:solidFill>
              <a:latin typeface="Pangram" panose="00000500000000000000" pitchFamily="50" charset="0"/>
              <a:ea typeface="Arial"/>
              <a:cs typeface="Arial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1248146275495516E-3"/>
          <c:y val="0.16335965717718176"/>
          <c:w val="0.60670707742973773"/>
          <c:h val="0.83308869900375437"/>
        </c:manualLayout>
      </c:layout>
      <c:barChart>
        <c:barDir val="col"/>
        <c:grouping val="percent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Several times a day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25" b="0" i="0" u="none" strike="noStrike" kern="1200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usage frequency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B8-4688-9375-C2E40CFCC744}"/>
            </c:ext>
          </c:extLst>
        </c:ser>
        <c:ser>
          <c:idx val="5"/>
          <c:order val="1"/>
          <c:tx>
            <c:strRef>
              <c:f>Sheet1!$C$1</c:f>
              <c:strCache>
                <c:ptCount val="1"/>
                <c:pt idx="0">
                  <c:v>Few times a week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25" b="0" i="0" u="none" strike="noStrike" kern="1200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usage frequency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B8-4688-9375-C2E40CFCC744}"/>
            </c:ext>
          </c:extLst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Once a week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25" b="0" i="0" u="none" strike="noStrike" kern="1200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usage frequency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0B8-4688-9375-C2E40CFCC74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Once a day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25" b="0" i="0" u="none" strike="noStrike" kern="1200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usage frequency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B8-4688-9375-C2E40CFCC74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-1658205200"/>
        <c:axId val="-1658216624"/>
      </c:barChart>
      <c:catAx>
        <c:axId val="-16582052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1658216624"/>
        <c:crosses val="autoZero"/>
        <c:auto val="1"/>
        <c:lblAlgn val="ctr"/>
        <c:lblOffset val="100"/>
        <c:noMultiLvlLbl val="0"/>
      </c:catAx>
      <c:valAx>
        <c:axId val="-1658216624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one"/>
        <c:crossAx val="-1658205200"/>
        <c:crosses val="autoZero"/>
        <c:crossBetween val="between"/>
        <c:majorUnit val="0.25"/>
      </c:valAx>
      <c:spPr>
        <a:noFill/>
        <a:ln w="29369">
          <a:noFill/>
        </a:ln>
        <a:effectLst/>
      </c:spPr>
    </c:plotArea>
    <c:legend>
      <c:legendPos val="r"/>
      <c:layout>
        <c:manualLayout>
          <c:xMode val="edge"/>
          <c:yMode val="edge"/>
          <c:x val="0.57848832849086862"/>
          <c:y val="0.15272322805525626"/>
          <c:w val="0.33794190010088132"/>
          <c:h val="0.83897418759212106"/>
        </c:manualLayout>
      </c:layout>
      <c:overlay val="0"/>
      <c:spPr>
        <a:solidFill>
          <a:schemeClr val="bg1"/>
        </a:solidFill>
        <a:ln w="29369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Tahoma"/>
              <a:cs typeface="Tahoma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925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3000" dirty="0"/>
              <a:t>Stocking</a:t>
            </a:r>
            <a:r>
              <a:rPr lang="en-US" sz="3000" baseline="0" dirty="0"/>
              <a:t> Behavior</a:t>
            </a:r>
            <a:endParaRPr lang="en-US" sz="3000" dirty="0"/>
          </a:p>
        </c:rich>
      </c:tx>
      <c:layout>
        <c:manualLayout>
          <c:xMode val="edge"/>
          <c:yMode val="edge"/>
          <c:x val="0.31003595007044971"/>
          <c:y val="1.0968213155933692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1.4947528736491337E-2"/>
          <c:y val="0.11277136765845305"/>
          <c:w val="0.96442336287193031"/>
          <c:h val="0.798511210032028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Purpose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D19-4666-82AA-98A43F6452D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19-4666-82AA-98A43F6452D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0D19-4666-82AA-98A43F6452D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D19-4666-82AA-98A43F6452D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label 1</c:v>
                </c:pt>
                <c:pt idx="1">
                  <c:v>label 2</c:v>
                </c:pt>
                <c:pt idx="2">
                  <c:v>label 3</c:v>
                </c:pt>
                <c:pt idx="3">
                  <c:v>label 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19-4666-82AA-98A43F6452D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04853408"/>
        <c:axId val="1804848608"/>
      </c:barChart>
      <c:catAx>
        <c:axId val="180485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848608"/>
        <c:crosses val="autoZero"/>
        <c:auto val="1"/>
        <c:lblAlgn val="ctr"/>
        <c:lblOffset val="100"/>
        <c:noMultiLvlLbl val="0"/>
      </c:catAx>
      <c:valAx>
        <c:axId val="180484860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0485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3000" dirty="0"/>
              <a:t>Monthly</a:t>
            </a:r>
            <a:r>
              <a:rPr lang="en-US" sz="3000" baseline="0" dirty="0"/>
              <a:t> Budget</a:t>
            </a:r>
            <a:endParaRPr lang="en-US" sz="3000" dirty="0"/>
          </a:p>
        </c:rich>
      </c:tx>
      <c:layout>
        <c:manualLayout>
          <c:xMode val="edge"/>
          <c:yMode val="edge"/>
          <c:x val="0.31003595007044971"/>
          <c:y val="1.0968213155933692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1.4947528736491337E-2"/>
          <c:y val="0.11277136765845305"/>
          <c:w val="0.96442336287193031"/>
          <c:h val="0.798511210032028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Purpose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9FF-4209-AE29-B7AD39CC355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9FF-4209-AE29-B7AD39CC355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39FF-4209-AE29-B7AD39CC355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9FF-4209-AE29-B7AD39CC35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label 1</c:v>
                </c:pt>
                <c:pt idx="1">
                  <c:v>label 2</c:v>
                </c:pt>
                <c:pt idx="2">
                  <c:v>label 3</c:v>
                </c:pt>
                <c:pt idx="3">
                  <c:v>label 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FF-4209-AE29-B7AD39CC35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04853408"/>
        <c:axId val="1804848608"/>
      </c:barChart>
      <c:catAx>
        <c:axId val="180485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848608"/>
        <c:crosses val="autoZero"/>
        <c:auto val="1"/>
        <c:lblAlgn val="ctr"/>
        <c:lblOffset val="100"/>
        <c:noMultiLvlLbl val="0"/>
      </c:catAx>
      <c:valAx>
        <c:axId val="180484860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0485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Barriers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7892486741146597"/>
          <c:y val="9.1545687446626819E-2"/>
          <c:w val="0.60511286250463903"/>
          <c:h val="0.8896669513236550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28-4ABD-A31D-BDEF9B8FE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91785088"/>
        <c:axId val="872416288"/>
      </c:barChart>
      <c:catAx>
        <c:axId val="109178508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2416288"/>
        <c:crosses val="autoZero"/>
        <c:auto val="1"/>
        <c:lblAlgn val="ctr"/>
        <c:lblOffset val="100"/>
        <c:noMultiLvlLbl val="0"/>
      </c:catAx>
      <c:valAx>
        <c:axId val="872416288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091785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Drivers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9135407125868149"/>
          <c:y val="9.1545687446626819E-2"/>
          <c:w val="0.59295685685191579"/>
          <c:h val="0.8896669513236550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94-4B57-9A00-369F54634F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26586864"/>
        <c:axId val="967497104"/>
      </c:barChart>
      <c:catAx>
        <c:axId val="9265868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497104"/>
        <c:crosses val="autoZero"/>
        <c:auto val="1"/>
        <c:lblAlgn val="ctr"/>
        <c:lblOffset val="100"/>
        <c:noMultiLvlLbl val="0"/>
      </c:catAx>
      <c:valAx>
        <c:axId val="96749710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926586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/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539564498882083"/>
          <c:y val="0.10392304410224584"/>
          <c:w val="0.78093686205890944"/>
          <c:h val="0.8709985859917980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80-4465-8497-620C747BC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80-4465-8497-620C747BC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80-4465-8497-620C747BCB3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9.2592592592592587E-3"/>
          <c:y val="0.13503799485879314"/>
          <c:w val="0.26746913580246906"/>
          <c:h val="0.80480071652485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Chart1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543859649122806"/>
          <c:y val="0.10259620368770518"/>
          <c:w val="0.73670304369848505"/>
          <c:h val="0.8784054501024364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C1-441B-BC2A-1CB519F758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7C1-441B-BC2A-1CB519F758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7C1-441B-BC2A-1CB519F758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96071456"/>
        <c:axId val="1736142400"/>
      </c:barChart>
      <c:catAx>
        <c:axId val="1596071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36142400"/>
        <c:crosses val="autoZero"/>
        <c:auto val="1"/>
        <c:lblAlgn val="ctr"/>
        <c:lblOffset val="100"/>
        <c:noMultiLvlLbl val="0"/>
      </c:catAx>
      <c:valAx>
        <c:axId val="173614240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96071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0.12357796968168949"/>
          <c:w val="0.23460889912345859"/>
          <c:h val="0.784866656558212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9633721328312224"/>
          <c:y val="7.5853182928936391E-2"/>
          <c:w val="0.68180406253566128"/>
          <c:h val="0.82593566086370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AD-4E91-9BB5-E1830A2AA7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AD-4E91-9BB5-E1830A2AA7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AD-4E91-9BB5-E1830A2AA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55689871"/>
        <c:axId val="1456115183"/>
      </c:barChart>
      <c:catAx>
        <c:axId val="13556898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6115183"/>
        <c:crosses val="autoZero"/>
        <c:auto val="1"/>
        <c:lblAlgn val="ctr"/>
        <c:lblOffset val="100"/>
        <c:noMultiLvlLbl val="0"/>
      </c:catAx>
      <c:valAx>
        <c:axId val="14561151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55689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9633721328312224"/>
          <c:y val="7.5853182928936391E-2"/>
          <c:w val="0.68180406253566128"/>
          <c:h val="0.82593566086370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9B-4BF7-8FBB-1D5B216CBA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9B-4BF7-8FBB-1D5B216CBA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9B-4BF7-8FBB-1D5B216CBA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55689871"/>
        <c:axId val="1456115183"/>
      </c:barChart>
      <c:catAx>
        <c:axId val="13556898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6115183"/>
        <c:crosses val="autoZero"/>
        <c:auto val="1"/>
        <c:lblAlgn val="ctr"/>
        <c:lblOffset val="100"/>
        <c:noMultiLvlLbl val="0"/>
      </c:catAx>
      <c:valAx>
        <c:axId val="14561151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55689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Chart1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543859649122806"/>
          <c:y val="0.10259620368770518"/>
          <c:w val="0.73670304369848505"/>
          <c:h val="0.8784054501024364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C1-441B-BC2A-1CB519F758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7C1-441B-BC2A-1CB519F758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7C1-441B-BC2A-1CB519F758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96071456"/>
        <c:axId val="1736142400"/>
      </c:barChart>
      <c:catAx>
        <c:axId val="1596071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36142400"/>
        <c:crosses val="autoZero"/>
        <c:auto val="1"/>
        <c:lblAlgn val="ctr"/>
        <c:lblOffset val="100"/>
        <c:noMultiLvlLbl val="0"/>
      </c:catAx>
      <c:valAx>
        <c:axId val="173614240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96071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0.11283009686485115"/>
          <c:w val="0.23460889912345859"/>
          <c:h val="0.784866656558212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9633721328312224"/>
          <c:y val="7.5853182928936391E-2"/>
          <c:w val="0.68180406253566128"/>
          <c:h val="0.82593566086370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AD-4E91-9BB5-E1830A2AA7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AD-4E91-9BB5-E1830A2AA7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AD-4E91-9BB5-E1830A2AA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55689871"/>
        <c:axId val="1456115183"/>
      </c:barChart>
      <c:catAx>
        <c:axId val="13556898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6115183"/>
        <c:crosses val="autoZero"/>
        <c:auto val="1"/>
        <c:lblAlgn val="ctr"/>
        <c:lblOffset val="100"/>
        <c:noMultiLvlLbl val="0"/>
      </c:catAx>
      <c:valAx>
        <c:axId val="14561151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55689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9633721328312224"/>
          <c:y val="7.5853182928936391E-2"/>
          <c:w val="0.68180406253566128"/>
          <c:h val="0.82593566086370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9B-4BF7-8FBB-1D5B216CBA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9B-4BF7-8FBB-1D5B216CBA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9B-4BF7-8FBB-1D5B216CBA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55689871"/>
        <c:axId val="1456115183"/>
      </c:barChart>
      <c:catAx>
        <c:axId val="13556898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6115183"/>
        <c:crosses val="autoZero"/>
        <c:auto val="1"/>
        <c:lblAlgn val="ctr"/>
        <c:lblOffset val="100"/>
        <c:noMultiLvlLbl val="0"/>
      </c:catAx>
      <c:valAx>
        <c:axId val="14561151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55689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/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539564498882083"/>
          <c:y val="0.10392304410224584"/>
          <c:w val="0.78093686205890944"/>
          <c:h val="0.8709985859917980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1-4123-9513-3596C977D9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1-4123-9513-3596C977D9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21-4123-9513-3596C977D9C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9.2592592592592587E-3"/>
          <c:y val="0.14578586767563145"/>
          <c:w val="0.26746913580246906"/>
          <c:h val="0.772557098074339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/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539564498882083"/>
          <c:y val="0.10392304410224584"/>
          <c:w val="0.78093686205890944"/>
          <c:h val="0.8709985859917980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80-4465-8497-620C747BC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80-4465-8497-620C747BC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80-4465-8497-620C747BCB3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9.2592592592592587E-3"/>
          <c:y val="0.15458240596744929"/>
          <c:w val="0.26746913580246906"/>
          <c:h val="0.746050100212959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4424237204724408"/>
          <c:y val="7.866412401574803E-2"/>
          <c:w val="0.74525500328083993"/>
          <c:h val="0.8481696604330708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89-4423-A001-D1E50D323A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89-4423-A001-D1E50D323A4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89-4423-A001-D1E50D323A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55691471"/>
        <c:axId val="1456116015"/>
      </c:barChart>
      <c:catAx>
        <c:axId val="13556914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6116015"/>
        <c:crosses val="autoZero"/>
        <c:auto val="1"/>
        <c:lblAlgn val="ctr"/>
        <c:lblOffset val="100"/>
        <c:noMultiLvlLbl val="0"/>
      </c:catAx>
      <c:valAx>
        <c:axId val="145611601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55691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53-410C-91AF-A57D589C8B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3-410C-91AF-A57D589C8B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53-410C-91AF-A57D589C8B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7707376"/>
        <c:axId val="1374579040"/>
      </c:barChart>
      <c:catAx>
        <c:axId val="13777073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4579040"/>
        <c:crosses val="autoZero"/>
        <c:auto val="1"/>
        <c:lblAlgn val="ctr"/>
        <c:lblOffset val="100"/>
        <c:noMultiLvlLbl val="0"/>
      </c:catAx>
      <c:valAx>
        <c:axId val="13745790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7707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Imagery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53-410C-91AF-A57D589C8B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3-410C-91AF-A57D589C8B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53-410C-91AF-A57D589C8B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77707376"/>
        <c:axId val="1374579040"/>
      </c:barChart>
      <c:catAx>
        <c:axId val="13777073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4579040"/>
        <c:crosses val="autoZero"/>
        <c:auto val="1"/>
        <c:lblAlgn val="ctr"/>
        <c:lblOffset val="100"/>
        <c:noMultiLvlLbl val="0"/>
      </c:catAx>
      <c:valAx>
        <c:axId val="13745790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7707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Combined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53-410C-91AF-A57D589C8B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3-410C-91AF-A57D589C8B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53-410C-91AF-A57D589C8B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7707376"/>
        <c:axId val="1374579040"/>
      </c:barChart>
      <c:catAx>
        <c:axId val="13777073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74579040"/>
        <c:crosses val="autoZero"/>
        <c:auto val="1"/>
        <c:lblAlgn val="ctr"/>
        <c:lblOffset val="100"/>
        <c:noMultiLvlLbl val="0"/>
      </c:catAx>
      <c:valAx>
        <c:axId val="13745790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77707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1" tx1="lt1" bg2="dk2" tx2="lt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000" b="1" dirty="0">
                <a:latin typeface="Pangram" panose="00000500000000000000" pitchFamily="50" charset="0"/>
              </a:rPr>
              <a:t>Purchase Intent</a:t>
            </a:r>
          </a:p>
        </c:rich>
      </c:tx>
      <c:layout>
        <c:manualLayout>
          <c:xMode val="edge"/>
          <c:yMode val="edge"/>
          <c:x val="0.30098909080816144"/>
          <c:y val="1.0869335306523203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8591808531462323"/>
          <c:w val="0.71831778234698929"/>
          <c:h val="0.71794270503154856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Won't buy it</c:v>
                </c:pt>
              </c:strCache>
            </c:strRef>
          </c:tx>
          <c:spPr>
            <a:solidFill>
              <a:srgbClr val="00008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Abu Auf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4C-4362-8E51-249352304267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Definetly I won't buy</c:v>
                </c:pt>
              </c:strCache>
            </c:strRef>
          </c:tx>
          <c:spPr>
            <a:solidFill>
              <a:srgbClr val="0073B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Abu Auf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4C-4362-8E51-249352304267}"/>
            </c:ext>
          </c:extLst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I might buy it</c:v>
                </c:pt>
              </c:strCache>
            </c:strRef>
          </c:tx>
          <c:spPr>
            <a:solidFill>
              <a:srgbClr val="3CB9FC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Abu Auf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04C-4362-8E51-24935230426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Definitely will buy it</c:v>
                </c:pt>
              </c:strCache>
            </c:strRef>
          </c:tx>
          <c:spPr>
            <a:solidFill>
              <a:srgbClr val="9EDCFE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Abu Auf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4C-4362-8E51-24935230426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Will buy it</c:v>
                </c:pt>
              </c:strCache>
            </c:strRef>
          </c:tx>
          <c:spPr>
            <a:solidFill>
              <a:srgbClr val="66ABD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Abu Auf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04C-4362-8E51-24935230426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67146895"/>
        <c:axId val="967160335"/>
      </c:barChart>
      <c:catAx>
        <c:axId val="96714689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160335"/>
        <c:crosses val="autoZero"/>
        <c:auto val="1"/>
        <c:lblAlgn val="ctr"/>
        <c:lblOffset val="100"/>
        <c:noMultiLvlLbl val="0"/>
      </c:catAx>
      <c:valAx>
        <c:axId val="96716033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967146895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53716946358080508"/>
          <c:y val="0.17538552585277062"/>
          <c:w val="0.42329329669923904"/>
          <c:h val="0.75313428715316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4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3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 sz="3000" b="1" dirty="0">
                <a:solidFill>
                  <a:srgbClr val="173D75"/>
                </a:solidFill>
                <a:latin typeface="Pangram" panose="00000500000000000000" pitchFamily="50" charset="0"/>
              </a:rPr>
              <a:t>Purchase</a:t>
            </a:r>
            <a:r>
              <a:rPr lang="en-US" sz="3000" b="1" baseline="0" dirty="0">
                <a:solidFill>
                  <a:srgbClr val="173D75"/>
                </a:solidFill>
                <a:latin typeface="Pangram" panose="00000500000000000000" pitchFamily="50" charset="0"/>
              </a:rPr>
              <a:t> Intent for Real Price</a:t>
            </a:r>
            <a:endParaRPr lang="en-US" sz="3000" b="1" dirty="0">
              <a:solidFill>
                <a:srgbClr val="173D75"/>
              </a:solidFill>
              <a:latin typeface="Pangram" panose="00000500000000000000" pitchFamily="50" charset="0"/>
            </a:endParaRP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4754545238630323"/>
          <c:w val="1"/>
          <c:h val="0.661946888501849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rgbClr val="E79D9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Abu Auf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94-44DC-ACC1-377D06337C3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75709632"/>
        <c:axId val="575709992"/>
      </c:barChart>
      <c:catAx>
        <c:axId val="575709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5709992"/>
        <c:crosses val="autoZero"/>
        <c:auto val="1"/>
        <c:lblAlgn val="ctr"/>
        <c:lblOffset val="100"/>
        <c:noMultiLvlLbl val="0"/>
      </c:catAx>
      <c:valAx>
        <c:axId val="57570999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7570963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800" b="1"/>
            </a:pPr>
            <a:r>
              <a:rPr lang="en-US" sz="2800" b="1" dirty="0">
                <a:latin typeface="Pangram" panose="00000500000000000000" pitchFamily="50" charset="0"/>
              </a:rPr>
              <a:t>Product</a:t>
            </a:r>
            <a:r>
              <a:rPr lang="en-US" sz="2800" b="1" baseline="0" dirty="0">
                <a:latin typeface="Pangram" panose="00000500000000000000" pitchFamily="50" charset="0"/>
              </a:rPr>
              <a:t> Preference</a:t>
            </a:r>
            <a:endParaRPr lang="en-US" sz="2800" b="1" dirty="0">
              <a:latin typeface="Pangram" panose="00000500000000000000" pitchFamily="50" charset="0"/>
            </a:endParaRP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2.7108486439195102E-2"/>
          <c:y val="0.20201614743809201"/>
          <c:w val="0.97289156626506046"/>
          <c:h val="0.67967872124642492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Top 2 Box</c:v>
                </c:pt>
              </c:strCache>
            </c:strRef>
          </c:tx>
          <c:spPr>
            <a:solidFill>
              <a:schemeClr val="hlink"/>
            </a:solidFill>
            <a:ln w="27220"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73D75"/>
              </a:solidFill>
              <a:ln w="27220">
                <a:noFill/>
              </a:ln>
            </c:spPr>
            <c:extLst>
              <c:ext xmlns:c16="http://schemas.microsoft.com/office/drawing/2014/chart" uri="{C3380CC4-5D6E-409C-BE32-E72D297353CC}">
                <c16:uniqueId val="{00000001-7AD1-4F94-BE49-F079BBA20B65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/>
              </a:solidFill>
              <a:ln w="27220">
                <a:noFill/>
              </a:ln>
            </c:spPr>
            <c:extLst>
              <c:ext xmlns:c16="http://schemas.microsoft.com/office/drawing/2014/chart" uri="{C3380CC4-5D6E-409C-BE32-E72D297353CC}">
                <c16:uniqueId val="{00000003-7AD1-4F94-BE49-F079BBA20B65}"/>
              </c:ext>
            </c:extLst>
          </c:dPt>
          <c:dLbls>
            <c:numFmt formatCode="0%" sourceLinked="0"/>
            <c:spPr>
              <a:noFill/>
              <a:ln w="27220">
                <a:noFill/>
              </a:ln>
            </c:spPr>
            <c:txPr>
              <a:bodyPr/>
              <a:lstStyle/>
              <a:p>
                <a:pPr>
                  <a:defRPr sz="1179" b="1" i="0" u="none" strike="noStrike" baseline="0">
                    <a:solidFill>
                      <a:schemeClr val="tx1"/>
                    </a:solidFill>
                    <a:latin typeface="Tahoma"/>
                    <a:ea typeface="Tahoma"/>
                    <a:cs typeface="Tahom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Milkana</c:v>
                </c:pt>
                <c:pt idx="1">
                  <c:v>Competitor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0.68</c:v>
                </c:pt>
                <c:pt idx="1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D1-4F94-BE49-F079BBA20B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647223296"/>
        <c:axId val="-1647230368"/>
      </c:barChart>
      <c:catAx>
        <c:axId val="-164722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3610">
            <a:solidFill>
              <a:srgbClr val="808080"/>
            </a:solidFill>
            <a:prstDash val="solid"/>
          </a:ln>
        </c:spPr>
        <c:txPr>
          <a:bodyPr rot="0" vert="horz"/>
          <a:lstStyle/>
          <a:p>
            <a:pPr>
              <a:defRPr sz="1286" b="1" i="0" u="none" strike="noStrike" baseline="0">
                <a:solidFill>
                  <a:schemeClr val="tx1"/>
                </a:solidFill>
                <a:latin typeface="Tahoma"/>
                <a:ea typeface="Tahoma"/>
                <a:cs typeface="Tahoma"/>
              </a:defRPr>
            </a:pPr>
            <a:endParaRPr lang="en-US"/>
          </a:p>
        </c:txPr>
        <c:crossAx val="-1647230368"/>
        <c:crosses val="autoZero"/>
        <c:auto val="0"/>
        <c:lblAlgn val="ctr"/>
        <c:lblOffset val="100"/>
        <c:tickLblSkip val="1"/>
        <c:tickMarkSkip val="1"/>
        <c:noMultiLvlLbl val="0"/>
      </c:catAx>
      <c:valAx>
        <c:axId val="-1647230368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one"/>
        <c:crossAx val="-1647223296"/>
        <c:crosses val="autoZero"/>
        <c:crossBetween val="between"/>
        <c:majorUnit val="0.2"/>
        <c:minorUnit val="0.2"/>
      </c:valAx>
      <c:spPr>
        <a:noFill/>
        <a:ln w="27220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52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1" tx1="lt1" bg2="dk2" tx2="lt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2400">
                <a:solidFill>
                  <a:schemeClr val="tx1"/>
                </a:solidFill>
              </a:defRPr>
            </a:pPr>
            <a:r>
              <a:rPr lang="en-US" sz="2400" b="1" dirty="0">
                <a:solidFill>
                  <a:schemeClr val="tx1"/>
                </a:solidFill>
                <a:latin typeface="Pangram" panose="00000500000000000000" pitchFamily="50" charset="0"/>
              </a:rPr>
              <a:t>Overall averages</a:t>
            </a:r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0.39111648543932009"/>
          <c:y val="0.20271741483368699"/>
          <c:w val="0.54792600924884394"/>
          <c:h val="0.7651431062806155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ourBrand</c:v>
                </c:pt>
              </c:strCache>
            </c:strRef>
          </c:tx>
          <c:spPr>
            <a:ln w="38471">
              <a:solidFill>
                <a:schemeClr val="accent2"/>
              </a:solidFill>
              <a:prstDash val="solid"/>
            </a:ln>
          </c:spPr>
          <c:marker>
            <c:symbol val="triangle"/>
            <c:size val="7"/>
            <c:spPr>
              <a:solidFill>
                <a:schemeClr val="accent2"/>
              </a:solidFill>
              <a:ln>
                <a:solidFill>
                  <a:schemeClr val="accent2"/>
                </a:solidFill>
                <a:prstDash val="solid"/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8.4</c:v>
                </c:pt>
                <c:pt idx="1">
                  <c:v>8.1999999999999993</c:v>
                </c:pt>
                <c:pt idx="2">
                  <c:v>8</c:v>
                </c:pt>
                <c:pt idx="3">
                  <c:v>8.1</c:v>
                </c:pt>
                <c:pt idx="4">
                  <c:v>8.4</c:v>
                </c:pt>
                <c:pt idx="5">
                  <c:v>7.5</c:v>
                </c:pt>
                <c:pt idx="6">
                  <c:v>7.9</c:v>
                </c:pt>
                <c:pt idx="7">
                  <c:v>7.6</c:v>
                </c:pt>
                <c:pt idx="8">
                  <c:v>8.4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2.5</c:v>
                </c:pt>
                <c:pt idx="2">
                  <c:v>4</c:v>
                </c:pt>
                <c:pt idx="3">
                  <c:v>5.5</c:v>
                </c:pt>
                <c:pt idx="4">
                  <c:v>7</c:v>
                </c:pt>
                <c:pt idx="5">
                  <c:v>8.5</c:v>
                </c:pt>
                <c:pt idx="6">
                  <c:v>10</c:v>
                </c:pt>
                <c:pt idx="7">
                  <c:v>11.5</c:v>
                </c:pt>
                <c:pt idx="8">
                  <c:v>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2B3-44F2-9D38-72682F945163}"/>
            </c:ext>
          </c:extLst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Competitor</c:v>
                </c:pt>
              </c:strCache>
            </c:strRef>
          </c:tx>
          <c:spPr>
            <a:ln w="38471">
              <a:solidFill>
                <a:schemeClr val="accent1"/>
              </a:solidFill>
              <a:prstDash val="solid"/>
            </a:ln>
          </c:spPr>
          <c:marker>
            <c:symbol val="square"/>
            <c:size val="7"/>
            <c:spPr>
              <a:solidFill>
                <a:schemeClr val="accent1"/>
              </a:solidFill>
              <a:ln>
                <a:solidFill>
                  <a:schemeClr val="accent1"/>
                </a:solidFill>
                <a:prstDash val="solid"/>
              </a:ln>
            </c:spPr>
          </c:marker>
          <c:xVal>
            <c:numRef>
              <c:f>Sheet1!$A$13:$A$21</c:f>
              <c:numCache>
                <c:formatCode>General</c:formatCode>
                <c:ptCount val="9"/>
                <c:pt idx="0">
                  <c:v>6.8</c:v>
                </c:pt>
                <c:pt idx="1">
                  <c:v>5.5</c:v>
                </c:pt>
                <c:pt idx="2">
                  <c:v>6.8</c:v>
                </c:pt>
                <c:pt idx="3">
                  <c:v>6.9</c:v>
                </c:pt>
                <c:pt idx="4">
                  <c:v>6.5</c:v>
                </c:pt>
                <c:pt idx="5">
                  <c:v>7.8</c:v>
                </c:pt>
                <c:pt idx="6">
                  <c:v>7.8</c:v>
                </c:pt>
                <c:pt idx="7">
                  <c:v>7.9</c:v>
                </c:pt>
                <c:pt idx="8">
                  <c:v>8.5</c:v>
                </c:pt>
              </c:numCache>
            </c:numRef>
          </c:xVal>
          <c:yVal>
            <c:numRef>
              <c:f>Sheet1!$B$13:$B$21</c:f>
              <c:numCache>
                <c:formatCode>General</c:formatCode>
                <c:ptCount val="9"/>
                <c:pt idx="0">
                  <c:v>1</c:v>
                </c:pt>
                <c:pt idx="1">
                  <c:v>2.5</c:v>
                </c:pt>
                <c:pt idx="2">
                  <c:v>4</c:v>
                </c:pt>
                <c:pt idx="3">
                  <c:v>5.5</c:v>
                </c:pt>
                <c:pt idx="4">
                  <c:v>7</c:v>
                </c:pt>
                <c:pt idx="5">
                  <c:v>8.5</c:v>
                </c:pt>
                <c:pt idx="6">
                  <c:v>10</c:v>
                </c:pt>
                <c:pt idx="7">
                  <c:v>11.5</c:v>
                </c:pt>
                <c:pt idx="8">
                  <c:v>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2B3-44F2-9D38-72682F9451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839830496"/>
        <c:axId val="-1839808736"/>
      </c:scatterChart>
      <c:valAx>
        <c:axId val="-1839830496"/>
        <c:scaling>
          <c:orientation val="minMax"/>
          <c:max val="10"/>
          <c:min val="1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20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010" b="1" i="0" u="none" strike="noStrike" baseline="0">
                <a:solidFill>
                  <a:schemeClr val="tx1"/>
                </a:solidFill>
                <a:latin typeface="Tahoma"/>
                <a:ea typeface="Tahoma"/>
                <a:cs typeface="Tahoma"/>
              </a:defRPr>
            </a:pPr>
            <a:endParaRPr lang="en-US"/>
          </a:p>
        </c:txPr>
        <c:crossAx val="-1839808736"/>
        <c:crosses val="autoZero"/>
        <c:crossBetween val="midCat"/>
        <c:majorUnit val="1"/>
      </c:valAx>
      <c:valAx>
        <c:axId val="-1839808736"/>
        <c:scaling>
          <c:orientation val="minMax"/>
          <c:max val="13"/>
        </c:scaling>
        <c:delete val="1"/>
        <c:axPos val="l"/>
        <c:numFmt formatCode="General" sourceLinked="1"/>
        <c:majorTickMark val="out"/>
        <c:minorTickMark val="none"/>
        <c:tickLblPos val="none"/>
        <c:crossAx val="-1839830496"/>
        <c:crosses val="autoZero"/>
        <c:crossBetween val="midCat"/>
        <c:majorUnit val="1"/>
      </c:valAx>
      <c:spPr>
        <a:noFill/>
        <a:ln w="25647">
          <a:noFill/>
        </a:ln>
      </c:spPr>
    </c:plotArea>
    <c:legend>
      <c:legendPos val="t"/>
      <c:layout>
        <c:manualLayout>
          <c:xMode val="edge"/>
          <c:yMode val="edge"/>
          <c:x val="2.870277578938997E-2"/>
          <c:y val="7.5648119068678368E-2"/>
          <c:w val="0.92401030481917512"/>
          <c:h val="7.5856014826899285E-2"/>
        </c:manualLayout>
      </c:layout>
      <c:overlay val="0"/>
      <c:spPr>
        <a:solidFill>
          <a:srgbClr val="FFFFFF"/>
        </a:solidFill>
        <a:ln w="25647">
          <a:noFill/>
        </a:ln>
      </c:spPr>
      <c:txPr>
        <a:bodyPr/>
        <a:lstStyle/>
        <a:p>
          <a:pPr>
            <a:defRPr sz="2000" b="1" i="0" u="none" strike="noStrike" baseline="0">
              <a:solidFill>
                <a:schemeClr val="tx1"/>
              </a:solidFill>
              <a:latin typeface="+mj-lt"/>
              <a:ea typeface="Tahoma"/>
              <a:cs typeface="Tahom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379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2800" dirty="0">
                <a:latin typeface="Pangram" panose="00000500000000000000" pitchFamily="50" charset="0"/>
              </a:rPr>
              <a:t>Overall Scatter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87932420609586"/>
          <c:y val="0.22321824146981628"/>
          <c:w val="0.81844612328864297"/>
          <c:h val="0.5474842519685040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our_brand_average</c:v>
                </c:pt>
              </c:strCache>
            </c:strRef>
          </c:tx>
          <c:marker>
            <c:symbol val="triangle"/>
            <c:size val="12"/>
            <c:spPr>
              <a:solidFill>
                <a:srgbClr val="800080"/>
              </a:solidFill>
              <a:ln>
                <a:solidFill>
                  <a:srgbClr val="800080"/>
                </a:solidFill>
                <a:prstDash val="solid"/>
              </a:ln>
            </c:spPr>
          </c:marker>
          <c:cat>
            <c:numRef>
              <c:f>Sheet1!$A$2:$A$5</c:f>
              <c:numCache>
                <c:formatCode>General</c:formatCode>
                <c:ptCount val="4"/>
                <c:pt idx="0">
                  <c:v>0.65731650622292115</c:v>
                </c:pt>
                <c:pt idx="1">
                  <c:v>0.62963970781393752</c:v>
                </c:pt>
                <c:pt idx="2">
                  <c:v>0.47811594141274227</c:v>
                </c:pt>
                <c:pt idx="3">
                  <c:v>0.36993951420081922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7.5</c:v>
                </c:pt>
                <c:pt idx="1">
                  <c:v>7.9</c:v>
                </c:pt>
                <c:pt idx="2">
                  <c:v>8.4</c:v>
                </c:pt>
                <c:pt idx="3">
                  <c:v>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B83-45D2-A595-A67E23CDF8A0}"/>
            </c:ext>
          </c:extLst>
        </c:ser>
        <c:ser>
          <c:idx val="1"/>
          <c:order val="1"/>
          <c:tx>
            <c:strRef>
              <c:f>Sheet1!$B$7</c:f>
              <c:strCache>
                <c:ptCount val="1"/>
                <c:pt idx="0">
                  <c:v>competitor_average</c:v>
                </c:pt>
              </c:strCache>
            </c:strRef>
          </c:tx>
          <c:marker>
            <c:symbol val="square"/>
            <c:size val="12"/>
            <c:spPr>
              <a:solidFill>
                <a:srgbClr val="009999"/>
              </a:solidFill>
              <a:ln>
                <a:solidFill>
                  <a:srgbClr val="009999"/>
                </a:solidFill>
                <a:prstDash val="solid"/>
              </a:ln>
            </c:spPr>
          </c:marker>
          <c:cat>
            <c:numRef>
              <c:f>Sheet1!$A$8:$A$11</c:f>
              <c:numCache>
                <c:formatCode>General</c:formatCode>
                <c:ptCount val="4"/>
                <c:pt idx="0">
                  <c:v>0.65731650622292115</c:v>
                </c:pt>
                <c:pt idx="1">
                  <c:v>0.62963970781393752</c:v>
                </c:pt>
                <c:pt idx="2">
                  <c:v>0.47811594141274227</c:v>
                </c:pt>
                <c:pt idx="3">
                  <c:v>0.36993951420081922</c:v>
                </c:pt>
              </c:numCache>
            </c:numRef>
          </c:cat>
          <c:val>
            <c:numRef>
              <c:f>Sheet1!$B$8:$B$11</c:f>
              <c:numCache>
                <c:formatCode>General</c:formatCode>
                <c:ptCount val="4"/>
                <c:pt idx="0">
                  <c:v>7.8</c:v>
                </c:pt>
                <c:pt idx="1">
                  <c:v>7.8</c:v>
                </c:pt>
                <c:pt idx="2">
                  <c:v>6.5</c:v>
                </c:pt>
                <c:pt idx="3">
                  <c:v>6.9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B83-45D2-A595-A67E23CDF8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647235808"/>
        <c:axId val="-1647232544"/>
      </c:lineChart>
      <c:catAx>
        <c:axId val="-1647235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1647232544"/>
        <c:crosses val="autoZero"/>
        <c:auto val="1"/>
        <c:lblAlgn val="ctr"/>
        <c:lblOffset val="100"/>
        <c:noMultiLvlLbl val="1"/>
      </c:catAx>
      <c:valAx>
        <c:axId val="-1647232544"/>
        <c:scaling>
          <c:orientation val="minMax"/>
          <c:max val="1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1800" b="0">
                    <a:latin typeface="+mj-lt"/>
                  </a:defRPr>
                </a:pPr>
                <a:r>
                  <a:rPr lang="en-US" dirty="0"/>
                  <a:t>Axis Title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3140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87" b="0" i="0" u="none" strike="noStrike" baseline="0">
                <a:solidFill>
                  <a:schemeClr val="tx1"/>
                </a:solidFill>
                <a:latin typeface="Tahoma"/>
                <a:ea typeface="Tahoma"/>
                <a:cs typeface="Tahoma"/>
              </a:defRPr>
            </a:pPr>
            <a:endParaRPr lang="en-US"/>
          </a:p>
        </c:txPr>
        <c:crossAx val="-1647235808"/>
        <c:crosses val="autoZero"/>
        <c:crossBetween val="between"/>
        <c:majorUnit val="1"/>
      </c:valAx>
      <c:spPr>
        <a:solidFill>
          <a:srgbClr val="EAEAEA"/>
        </a:solidFill>
        <a:ln w="25117">
          <a:noFill/>
        </a:ln>
      </c:spPr>
    </c:plotArea>
    <c:legend>
      <c:legendPos val="t"/>
      <c:layout>
        <c:manualLayout>
          <c:xMode val="edge"/>
          <c:yMode val="edge"/>
          <c:x val="0.125763046511078"/>
          <c:y val="0.11933333333333332"/>
          <c:w val="0.76348880376439432"/>
          <c:h val="4.6869160104986873E-2"/>
        </c:manualLayout>
      </c:layout>
      <c:overlay val="0"/>
      <c:txPr>
        <a:bodyPr/>
        <a:lstStyle/>
        <a:p>
          <a:pPr>
            <a:defRPr sz="2000">
              <a:latin typeface="Pangram (Body)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39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200">
                <a:latin typeface="+mj-lt"/>
              </a:defRPr>
            </a:pPr>
            <a:r>
              <a:rPr lang="en-US" sz="2200">
                <a:latin typeface="+mj-lt"/>
              </a:rPr>
              <a:t>Sub Scatter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33551230624474"/>
          <c:y val="0.24610474928891787"/>
          <c:w val="0.79160290694795221"/>
          <c:h val="0.5129903104554288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our_brand_average</c:v>
                </c:pt>
              </c:strCache>
            </c:strRef>
          </c:tx>
          <c:marker>
            <c:symbol val="triangle"/>
            <c:size val="12"/>
            <c:spPr>
              <a:solidFill>
                <a:srgbClr val="800080"/>
              </a:solidFill>
              <a:ln>
                <a:solidFill>
                  <a:srgbClr val="800080"/>
                </a:solidFill>
                <a:prstDash val="solid"/>
              </a:ln>
            </c:spPr>
          </c:marker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0.6230956266495582</c:v>
                </c:pt>
                <c:pt idx="1">
                  <c:v>0.49268951252512772</c:v>
                </c:pt>
                <c:pt idx="2">
                  <c:v>0.38570221829464046</c:v>
                </c:pt>
                <c:pt idx="3">
                  <c:v>0.35215521705326286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</c:v>
                </c:pt>
                <c:pt idx="1">
                  <c:v>4.3</c:v>
                </c:pt>
                <c:pt idx="2">
                  <c:v>3.4</c:v>
                </c:pt>
                <c:pt idx="3">
                  <c:v>4.4000000000000004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97C-4B0A-A8E9-D0D8B0A5A59B}"/>
            </c:ext>
          </c:extLst>
        </c:ser>
        <c:ser>
          <c:idx val="1"/>
          <c:order val="1"/>
          <c:tx>
            <c:strRef>
              <c:f>Sheet1!$B$7</c:f>
              <c:strCache>
                <c:ptCount val="1"/>
                <c:pt idx="0">
                  <c:v>competitor_average</c:v>
                </c:pt>
              </c:strCache>
            </c:strRef>
          </c:tx>
          <c:marker>
            <c:symbol val="square"/>
            <c:size val="12"/>
            <c:spPr>
              <a:solidFill>
                <a:srgbClr val="009999"/>
              </a:solidFill>
              <a:ln>
                <a:solidFill>
                  <a:srgbClr val="009999"/>
                </a:solidFill>
                <a:prstDash val="solid"/>
              </a:ln>
            </c:spPr>
          </c:marker>
          <c:dLbls>
            <c:delete val="1"/>
          </c:dLbls>
          <c:cat>
            <c:numRef>
              <c:f>Sheet1!$A$8:$A$11</c:f>
              <c:numCache>
                <c:formatCode>General</c:formatCode>
                <c:ptCount val="4"/>
                <c:pt idx="0">
                  <c:v>0.6230956266495582</c:v>
                </c:pt>
                <c:pt idx="1">
                  <c:v>0.49268951252512772</c:v>
                </c:pt>
                <c:pt idx="2">
                  <c:v>0.38570221829464046</c:v>
                </c:pt>
                <c:pt idx="3">
                  <c:v>0.35215521705326286</c:v>
                </c:pt>
              </c:numCache>
            </c:numRef>
          </c:cat>
          <c:val>
            <c:numRef>
              <c:f>Sheet1!$B$8:$B$11</c:f>
              <c:numCache>
                <c:formatCode>General</c:formatCode>
                <c:ptCount val="4"/>
                <c:pt idx="0">
                  <c:v>3.7</c:v>
                </c:pt>
                <c:pt idx="1">
                  <c:v>4.2</c:v>
                </c:pt>
                <c:pt idx="2">
                  <c:v>3.1</c:v>
                </c:pt>
                <c:pt idx="3">
                  <c:v>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97C-4B0A-A8E9-D0D8B0A5A59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-1647233088"/>
        <c:axId val="-1647236896"/>
      </c:lineChart>
      <c:catAx>
        <c:axId val="-1647233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1647236896"/>
        <c:crosses val="autoZero"/>
        <c:auto val="1"/>
        <c:lblAlgn val="ctr"/>
        <c:lblOffset val="100"/>
        <c:noMultiLvlLbl val="1"/>
      </c:catAx>
      <c:valAx>
        <c:axId val="-1647236896"/>
        <c:scaling>
          <c:orientation val="minMax"/>
          <c:max val="5"/>
          <c:min val="0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 w="3137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86" b="0" i="0" u="none" strike="noStrike" baseline="0">
                <a:solidFill>
                  <a:schemeClr val="tx1"/>
                </a:solidFill>
                <a:latin typeface="Tahoma"/>
                <a:ea typeface="Tahoma"/>
                <a:cs typeface="Tahoma"/>
              </a:defRPr>
            </a:pPr>
            <a:endParaRPr lang="en-US"/>
          </a:p>
        </c:txPr>
        <c:crossAx val="-1647233088"/>
        <c:crosses val="autoZero"/>
        <c:crossBetween val="between"/>
        <c:majorUnit val="1"/>
      </c:valAx>
      <c:spPr>
        <a:solidFill>
          <a:schemeClr val="tx1">
            <a:lumMod val="20000"/>
            <a:lumOff val="80000"/>
          </a:schemeClr>
        </a:solidFill>
        <a:ln w="25096">
          <a:noFill/>
        </a:ln>
      </c:spPr>
    </c:plotArea>
    <c:legend>
      <c:legendPos val="t"/>
      <c:layout>
        <c:manualLayout>
          <c:xMode val="edge"/>
          <c:yMode val="edge"/>
          <c:x val="0.1650796067944337"/>
          <c:y val="0.10350128095644746"/>
          <c:w val="0.65774649631060267"/>
          <c:h val="4.0471768526799221E-2"/>
        </c:manualLayout>
      </c:layout>
      <c:overlay val="0"/>
      <c:txPr>
        <a:bodyPr/>
        <a:lstStyle/>
        <a:p>
          <a:pPr>
            <a:defRPr sz="1600">
              <a:latin typeface="+mj-lt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rgbClr val="21A0FF"/>
      </a:solidFill>
    </a:ln>
  </c:spPr>
  <c:txPr>
    <a:bodyPr/>
    <a:lstStyle/>
    <a:p>
      <a:pPr>
        <a:defRPr sz="889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1" tx1="lt1" bg2="dk2" tx2="lt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000" b="1" dirty="0">
                <a:latin typeface="Pangram" panose="00000500000000000000" pitchFamily="50" charset="0"/>
              </a:rPr>
              <a:t>Purchase Intent</a:t>
            </a:r>
          </a:p>
        </c:rich>
      </c:tx>
      <c:layout>
        <c:manualLayout>
          <c:xMode val="edge"/>
          <c:yMode val="edge"/>
          <c:x val="0.30098909080816144"/>
          <c:y val="1.0869335306523203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8591808531462323"/>
          <c:w val="1"/>
          <c:h val="0.71794270503154856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Won't buy it</c:v>
                </c:pt>
              </c:strCache>
            </c:strRef>
          </c:tx>
          <c:spPr>
            <a:solidFill>
              <a:srgbClr val="00008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Abu Auf</c:v>
                </c:pt>
                <c:pt idx="1">
                  <c:v>Hero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4C-4362-8E51-249352304267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Definetly I won't buy</c:v>
                </c:pt>
              </c:strCache>
            </c:strRef>
          </c:tx>
          <c:spPr>
            <a:solidFill>
              <a:srgbClr val="0073B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Abu Auf</c:v>
                </c:pt>
                <c:pt idx="1">
                  <c:v>Hero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0.12</c:v>
                </c:pt>
                <c:pt idx="1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4C-4362-8E51-249352304267}"/>
            </c:ext>
          </c:extLst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I might buy it</c:v>
                </c:pt>
              </c:strCache>
            </c:strRef>
          </c:tx>
          <c:spPr>
            <a:solidFill>
              <a:srgbClr val="3CB9FC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Abu Auf</c:v>
                </c:pt>
                <c:pt idx="1">
                  <c:v>Hero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0.3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04C-4362-8E51-24935230426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Definitely will buy it</c:v>
                </c:pt>
              </c:strCache>
            </c:strRef>
          </c:tx>
          <c:spPr>
            <a:solidFill>
              <a:srgbClr val="9EDCFE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Abu Auf</c:v>
                </c:pt>
                <c:pt idx="1">
                  <c:v>Hero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0.15</c:v>
                </c:pt>
                <c:pt idx="1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4C-4362-8E51-24935230426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Will buy it</c:v>
                </c:pt>
              </c:strCache>
            </c:strRef>
          </c:tx>
          <c:spPr>
            <a:solidFill>
              <a:srgbClr val="66ABD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Abu Auf</c:v>
                </c:pt>
                <c:pt idx="1">
                  <c:v>Hero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0.33</c:v>
                </c:pt>
                <c:pt idx="1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04C-4362-8E51-24935230426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67146895"/>
        <c:axId val="967160335"/>
      </c:barChart>
      <c:catAx>
        <c:axId val="96714689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160335"/>
        <c:crosses val="autoZero"/>
        <c:auto val="1"/>
        <c:lblAlgn val="ctr"/>
        <c:lblOffset val="100"/>
        <c:noMultiLvlLbl val="0"/>
      </c:catAx>
      <c:valAx>
        <c:axId val="96716033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967146895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3483322226961052"/>
          <c:y val="0.18542462482759145"/>
          <c:w val="0.30212273379822324"/>
          <c:h val="0.75313428715316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4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3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 sz="3000" b="1" dirty="0">
                <a:solidFill>
                  <a:srgbClr val="173D75"/>
                </a:solidFill>
                <a:latin typeface="Pangram" panose="00000500000000000000" pitchFamily="50" charset="0"/>
              </a:rPr>
              <a:t>Purchase</a:t>
            </a:r>
            <a:r>
              <a:rPr lang="en-US" sz="3000" b="1" baseline="0" dirty="0">
                <a:solidFill>
                  <a:srgbClr val="173D75"/>
                </a:solidFill>
                <a:latin typeface="Pangram" panose="00000500000000000000" pitchFamily="50" charset="0"/>
              </a:rPr>
              <a:t> Intent for Real Price</a:t>
            </a:r>
            <a:endParaRPr lang="en-US" sz="3000" b="1" dirty="0">
              <a:solidFill>
                <a:srgbClr val="173D75"/>
              </a:solidFill>
              <a:latin typeface="Pangram" panose="00000500000000000000" pitchFamily="50" charset="0"/>
            </a:endParaRP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4754545238630323"/>
          <c:w val="1"/>
          <c:h val="0.6619468885018499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rgbClr val="E79D9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Abu Auf</c:v>
                </c:pt>
                <c:pt idx="1">
                  <c:v>Hero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94-44DC-ACC1-377D06337C3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75709632"/>
        <c:axId val="575709992"/>
      </c:barChart>
      <c:catAx>
        <c:axId val="575709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5709992"/>
        <c:crosses val="autoZero"/>
        <c:auto val="1"/>
        <c:lblAlgn val="ctr"/>
        <c:lblOffset val="100"/>
        <c:noMultiLvlLbl val="0"/>
      </c:catAx>
      <c:valAx>
        <c:axId val="57570999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7570963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002060"/>
                </a:solidFill>
                <a:latin typeface="Pangram Headings"/>
                <a:ea typeface="+mn-ea"/>
                <a:cs typeface="+mn-cs"/>
              </a:defRPr>
            </a:pPr>
            <a:r>
              <a:rPr lang="en-US" sz="3600" b="1" dirty="0">
                <a:solidFill>
                  <a:srgbClr val="002060"/>
                </a:solidFill>
                <a:latin typeface="Pangram Headings"/>
              </a:rPr>
              <a:t>Recommend</a:t>
            </a:r>
            <a:r>
              <a:rPr lang="en-US" sz="3600" b="1" baseline="0" dirty="0">
                <a:solidFill>
                  <a:srgbClr val="002060"/>
                </a:solidFill>
                <a:latin typeface="Pangram Headings"/>
              </a:rPr>
              <a:t> to others</a:t>
            </a:r>
            <a:endParaRPr lang="en-US" sz="3600" b="1" dirty="0">
              <a:solidFill>
                <a:srgbClr val="002060"/>
              </a:solidFill>
              <a:latin typeface="Pangram Headings"/>
            </a:endParaRP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002060"/>
              </a:solidFill>
              <a:latin typeface="Pangram Headings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7142857142857147E-2"/>
          <c:y val="0.17579215361126935"/>
          <c:w val="0.85847328458942629"/>
          <c:h val="0.699034050588487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Rejectors (1:6)</c:v>
                </c:pt>
              </c:strCache>
            </c:strRef>
          </c:tx>
          <c:spPr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Abu Auf</c:v>
                </c:pt>
                <c:pt idx="1">
                  <c:v>Hero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C5-4133-8EE1-E447EF2957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 (7-8)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Abu Auf</c:v>
                </c:pt>
                <c:pt idx="1">
                  <c:v>Hero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0.3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C5-4133-8EE1-E447EF2957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Promoters (9-10)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Abu Auf</c:v>
                </c:pt>
                <c:pt idx="1">
                  <c:v>Hero</c:v>
                </c:pt>
              </c:strCache>
            </c:strRef>
          </c:cat>
          <c:val>
            <c:numRef>
              <c:f>Sheet1!$D$2:$D$3</c:f>
              <c:numCache>
                <c:formatCode>0%</c:formatCode>
                <c:ptCount val="2"/>
                <c:pt idx="0">
                  <c:v>0.6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C5-4133-8EE1-E447EF29576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75709632"/>
        <c:axId val="575709992"/>
      </c:barChart>
      <c:catAx>
        <c:axId val="575709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575709992"/>
        <c:crosses val="autoZero"/>
        <c:auto val="1"/>
        <c:lblAlgn val="ctr"/>
        <c:lblOffset val="100"/>
        <c:noMultiLvlLbl val="0"/>
      </c:catAx>
      <c:valAx>
        <c:axId val="57570999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75709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2166643643228813"/>
          <c:y val="0.13989034750488788"/>
          <c:w val="0.19602408251600131"/>
          <c:h val="0.726992653220061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angram Body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1" tx1="lt1" bg2="dk2" tx2="lt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2200">
                <a:solidFill>
                  <a:srgbClr val="002060"/>
                </a:solidFill>
                <a:latin typeface="Pangram" panose="00000500000000000000" pitchFamily="50" charset="0"/>
              </a:defRPr>
            </a:pPr>
            <a:r>
              <a:rPr lang="en-US" sz="2200" b="1" dirty="0">
                <a:solidFill>
                  <a:srgbClr val="002060"/>
                </a:solidFill>
                <a:latin typeface="Pangram" panose="00000500000000000000" pitchFamily="50" charset="0"/>
              </a:rPr>
              <a:t>Overall averages</a:t>
            </a:r>
          </a:p>
        </c:rich>
      </c:tx>
      <c:layout>
        <c:manualLayout>
          <c:xMode val="edge"/>
          <c:yMode val="edge"/>
          <c:x val="0.21229797979797979"/>
          <c:y val="4.4552370798847017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3.901316312733636E-2"/>
          <c:y val="0.17066871896478641"/>
          <c:w val="0.89554502457744445"/>
          <c:h val="0.7553229412677506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ourBrand</c:v>
                </c:pt>
              </c:strCache>
            </c:strRef>
          </c:tx>
          <c:spPr>
            <a:ln w="38471">
              <a:solidFill>
                <a:schemeClr val="accent2"/>
              </a:solidFill>
              <a:prstDash val="solid"/>
            </a:ln>
          </c:spPr>
          <c:marker>
            <c:symbol val="triangle"/>
            <c:size val="7"/>
            <c:spPr>
              <a:solidFill>
                <a:schemeClr val="accent2"/>
              </a:solidFill>
              <a:ln>
                <a:solidFill>
                  <a:schemeClr val="accent2"/>
                </a:solidFill>
                <a:prstDash val="solid"/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8.4</c:v>
                </c:pt>
                <c:pt idx="1">
                  <c:v>8.1999999999999993</c:v>
                </c:pt>
                <c:pt idx="2">
                  <c:v>8</c:v>
                </c:pt>
                <c:pt idx="3">
                  <c:v>8.1</c:v>
                </c:pt>
                <c:pt idx="4">
                  <c:v>8.4</c:v>
                </c:pt>
                <c:pt idx="5">
                  <c:v>7.5</c:v>
                </c:pt>
                <c:pt idx="6">
                  <c:v>7.9</c:v>
                </c:pt>
                <c:pt idx="7">
                  <c:v>7.6</c:v>
                </c:pt>
                <c:pt idx="8">
                  <c:v>8.4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2.5</c:v>
                </c:pt>
                <c:pt idx="2">
                  <c:v>4</c:v>
                </c:pt>
                <c:pt idx="3">
                  <c:v>5.5</c:v>
                </c:pt>
                <c:pt idx="4">
                  <c:v>7</c:v>
                </c:pt>
                <c:pt idx="5">
                  <c:v>8.5</c:v>
                </c:pt>
                <c:pt idx="6">
                  <c:v>10</c:v>
                </c:pt>
                <c:pt idx="7">
                  <c:v>11.5</c:v>
                </c:pt>
                <c:pt idx="8">
                  <c:v>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F99-4CD5-8423-11BAF15CDD8F}"/>
            </c:ext>
          </c:extLst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Competitor</c:v>
                </c:pt>
              </c:strCache>
            </c:strRef>
          </c:tx>
          <c:spPr>
            <a:ln w="38471">
              <a:solidFill>
                <a:schemeClr val="accent1"/>
              </a:solidFill>
              <a:prstDash val="solid"/>
            </a:ln>
          </c:spPr>
          <c:marker>
            <c:symbol val="square"/>
            <c:size val="7"/>
            <c:spPr>
              <a:solidFill>
                <a:schemeClr val="accent1"/>
              </a:solidFill>
              <a:ln>
                <a:solidFill>
                  <a:schemeClr val="accent1"/>
                </a:solidFill>
                <a:prstDash val="solid"/>
              </a:ln>
            </c:spPr>
          </c:marker>
          <c:xVal>
            <c:numRef>
              <c:f>Sheet1!$A$13:$A$21</c:f>
              <c:numCache>
                <c:formatCode>General</c:formatCode>
                <c:ptCount val="9"/>
                <c:pt idx="0">
                  <c:v>6.8</c:v>
                </c:pt>
                <c:pt idx="1">
                  <c:v>5.5</c:v>
                </c:pt>
                <c:pt idx="2">
                  <c:v>6.8</c:v>
                </c:pt>
                <c:pt idx="3">
                  <c:v>6.9</c:v>
                </c:pt>
                <c:pt idx="4">
                  <c:v>6.5</c:v>
                </c:pt>
                <c:pt idx="5">
                  <c:v>7.8</c:v>
                </c:pt>
                <c:pt idx="6">
                  <c:v>7.8</c:v>
                </c:pt>
                <c:pt idx="7">
                  <c:v>7.9</c:v>
                </c:pt>
                <c:pt idx="8">
                  <c:v>8.5</c:v>
                </c:pt>
              </c:numCache>
            </c:numRef>
          </c:xVal>
          <c:yVal>
            <c:numRef>
              <c:f>Sheet1!$B$13:$B$21</c:f>
              <c:numCache>
                <c:formatCode>General</c:formatCode>
                <c:ptCount val="9"/>
                <c:pt idx="0">
                  <c:v>1</c:v>
                </c:pt>
                <c:pt idx="1">
                  <c:v>2.5</c:v>
                </c:pt>
                <c:pt idx="2">
                  <c:v>4</c:v>
                </c:pt>
                <c:pt idx="3">
                  <c:v>5.5</c:v>
                </c:pt>
                <c:pt idx="4">
                  <c:v>7</c:v>
                </c:pt>
                <c:pt idx="5">
                  <c:v>8.5</c:v>
                </c:pt>
                <c:pt idx="6">
                  <c:v>10</c:v>
                </c:pt>
                <c:pt idx="7">
                  <c:v>11.5</c:v>
                </c:pt>
                <c:pt idx="8">
                  <c:v>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F99-4CD5-8423-11BAF15CDD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839830496"/>
        <c:axId val="-1839808736"/>
      </c:scatterChart>
      <c:valAx>
        <c:axId val="-1839830496"/>
        <c:scaling>
          <c:orientation val="minMax"/>
          <c:max val="10"/>
          <c:min val="1"/>
        </c:scaling>
        <c:delete val="0"/>
        <c:axPos val="b"/>
        <c:majorGridlines>
          <c:spPr>
            <a:ln w="12824">
              <a:solidFill>
                <a:srgbClr val="C0C0C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20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400" b="1" i="0" u="none" strike="noStrike" baseline="0">
                <a:solidFill>
                  <a:schemeClr val="tx1"/>
                </a:solidFill>
                <a:latin typeface="Tahoma"/>
                <a:ea typeface="Tahoma"/>
                <a:cs typeface="Tahoma"/>
              </a:defRPr>
            </a:pPr>
            <a:endParaRPr lang="en-US"/>
          </a:p>
        </c:txPr>
        <c:crossAx val="-1839808736"/>
        <c:crosses val="autoZero"/>
        <c:crossBetween val="midCat"/>
        <c:majorUnit val="1"/>
      </c:valAx>
      <c:valAx>
        <c:axId val="-1839808736"/>
        <c:scaling>
          <c:orientation val="minMax"/>
          <c:max val="13"/>
        </c:scaling>
        <c:delete val="1"/>
        <c:axPos val="l"/>
        <c:numFmt formatCode="General" sourceLinked="1"/>
        <c:majorTickMark val="out"/>
        <c:minorTickMark val="none"/>
        <c:tickLblPos val="none"/>
        <c:crossAx val="-1839830496"/>
        <c:crosses val="autoZero"/>
        <c:crossBetween val="midCat"/>
        <c:majorUnit val="1"/>
      </c:valAx>
      <c:spPr>
        <a:noFill/>
        <a:ln w="25647">
          <a:noFill/>
        </a:ln>
      </c:spPr>
    </c:plotArea>
    <c:legend>
      <c:legendPos val="b"/>
      <c:overlay val="0"/>
      <c:spPr>
        <a:noFill/>
        <a:ln w="25647">
          <a:noFill/>
        </a:ln>
      </c:spPr>
      <c:txPr>
        <a:bodyPr/>
        <a:lstStyle/>
        <a:p>
          <a:pPr>
            <a:defRPr sz="1500" b="1" i="0" u="none" strike="noStrike" baseline="0">
              <a:solidFill>
                <a:schemeClr val="tx1"/>
              </a:solidFill>
              <a:latin typeface="Tahoma"/>
              <a:ea typeface="Tahoma"/>
              <a:cs typeface="Tahom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379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1" tx1="lt1" bg2="dk2" tx2="lt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2400" b="1"/>
            </a:pPr>
            <a:r>
              <a:rPr lang="en-US" sz="2400" b="1" dirty="0">
                <a:latin typeface="Pangram" panose="00000500000000000000" pitchFamily="50" charset="0"/>
              </a:rPr>
              <a:t>Sub</a:t>
            </a:r>
            <a:r>
              <a:rPr lang="en-US" sz="2400" b="1" baseline="0" dirty="0">
                <a:latin typeface="Pangram" panose="00000500000000000000" pitchFamily="50" charset="0"/>
              </a:rPr>
              <a:t> Averages</a:t>
            </a:r>
            <a:endParaRPr lang="en-US" sz="2400" b="1" dirty="0">
              <a:latin typeface="Pangram" panose="00000500000000000000" pitchFamily="50" charset="0"/>
            </a:endParaRP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6388934141852952E-2"/>
          <c:y val="8.7331212722289983E-2"/>
          <c:w val="0.85069444444444475"/>
          <c:h val="0.8712162789939478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ourBrand</c:v>
                </c:pt>
              </c:strCache>
            </c:strRef>
          </c:tx>
          <c:spPr>
            <a:ln w="38441">
              <a:solidFill>
                <a:schemeClr val="accent2"/>
              </a:solidFill>
              <a:prstDash val="solid"/>
            </a:ln>
          </c:spPr>
          <c:marker>
            <c:symbol val="triangle"/>
            <c:size val="7"/>
            <c:spPr>
              <a:solidFill>
                <a:schemeClr val="accent2"/>
              </a:solidFill>
              <a:ln>
                <a:solidFill>
                  <a:schemeClr val="accent2"/>
                </a:solidFill>
                <a:prstDash val="solid"/>
              </a:ln>
            </c:spPr>
          </c:marker>
          <c:dLbls>
            <c:delete val="1"/>
          </c:dLbls>
          <c:xVal>
            <c:numRef>
              <c:f>Sheet1!$A$2:$A$19</c:f>
              <c:numCache>
                <c:formatCode>General</c:formatCode>
                <c:ptCount val="18"/>
                <c:pt idx="0">
                  <c:v>3.6</c:v>
                </c:pt>
                <c:pt idx="1">
                  <c:v>3.4</c:v>
                </c:pt>
                <c:pt idx="2">
                  <c:v>4.3</c:v>
                </c:pt>
                <c:pt idx="3">
                  <c:v>4.4000000000000004</c:v>
                </c:pt>
                <c:pt idx="4">
                  <c:v>3.3</c:v>
                </c:pt>
                <c:pt idx="5">
                  <c:v>3.8</c:v>
                </c:pt>
                <c:pt idx="6">
                  <c:v>3.4</c:v>
                </c:pt>
                <c:pt idx="7">
                  <c:v>3.5</c:v>
                </c:pt>
                <c:pt idx="8">
                  <c:v>4.8</c:v>
                </c:pt>
                <c:pt idx="9">
                  <c:v>3.7</c:v>
                </c:pt>
                <c:pt idx="10">
                  <c:v>1.6</c:v>
                </c:pt>
                <c:pt idx="11">
                  <c:v>4.8</c:v>
                </c:pt>
                <c:pt idx="12">
                  <c:v>3.3</c:v>
                </c:pt>
                <c:pt idx="13">
                  <c:v>3.9</c:v>
                </c:pt>
                <c:pt idx="14">
                  <c:v>3</c:v>
                </c:pt>
                <c:pt idx="15">
                  <c:v>2.9</c:v>
                </c:pt>
                <c:pt idx="16">
                  <c:v>2.7</c:v>
                </c:pt>
                <c:pt idx="17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2.5</c:v>
                </c:pt>
                <c:pt idx="2">
                  <c:v>4</c:v>
                </c:pt>
                <c:pt idx="3">
                  <c:v>5.5</c:v>
                </c:pt>
                <c:pt idx="4">
                  <c:v>7</c:v>
                </c:pt>
                <c:pt idx="5">
                  <c:v>8.5</c:v>
                </c:pt>
                <c:pt idx="6">
                  <c:v>10</c:v>
                </c:pt>
                <c:pt idx="7">
                  <c:v>11.5</c:v>
                </c:pt>
                <c:pt idx="8">
                  <c:v>13</c:v>
                </c:pt>
                <c:pt idx="9">
                  <c:v>14.5</c:v>
                </c:pt>
                <c:pt idx="10">
                  <c:v>16</c:v>
                </c:pt>
                <c:pt idx="11">
                  <c:v>17.5</c:v>
                </c:pt>
                <c:pt idx="12">
                  <c:v>19</c:v>
                </c:pt>
                <c:pt idx="13">
                  <c:v>20.5</c:v>
                </c:pt>
                <c:pt idx="14">
                  <c:v>22</c:v>
                </c:pt>
                <c:pt idx="15">
                  <c:v>23.5</c:v>
                </c:pt>
                <c:pt idx="16">
                  <c:v>25</c:v>
                </c:pt>
                <c:pt idx="17">
                  <c:v>26.5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BDA-44E5-BE11-6BD4486D514C}"/>
            </c:ext>
          </c:extLst>
        </c:ser>
        <c:ser>
          <c:idx val="1"/>
          <c:order val="1"/>
          <c:tx>
            <c:strRef>
              <c:f>Sheet1!$B$21</c:f>
              <c:strCache>
                <c:ptCount val="1"/>
                <c:pt idx="0">
                  <c:v>Competitor</c:v>
                </c:pt>
              </c:strCache>
            </c:strRef>
          </c:tx>
          <c:spPr>
            <a:ln w="38441">
              <a:solidFill>
                <a:schemeClr val="accent1"/>
              </a:solidFill>
              <a:prstDash val="solid"/>
            </a:ln>
          </c:spPr>
          <c:marker>
            <c:symbol val="square"/>
            <c:size val="7"/>
            <c:spPr>
              <a:solidFill>
                <a:schemeClr val="accent1"/>
              </a:solidFill>
              <a:ln>
                <a:solidFill>
                  <a:schemeClr val="accent1"/>
                </a:solidFill>
                <a:prstDash val="solid"/>
              </a:ln>
            </c:spPr>
          </c:marker>
          <c:dLbls>
            <c:delete val="1"/>
          </c:dLbls>
          <c:xVal>
            <c:numRef>
              <c:f>Sheet1!$A$22:$A$39</c:f>
              <c:numCache>
                <c:formatCode>General</c:formatCode>
                <c:ptCount val="18"/>
                <c:pt idx="0">
                  <c:v>3.7</c:v>
                </c:pt>
                <c:pt idx="1">
                  <c:v>3.8</c:v>
                </c:pt>
                <c:pt idx="2">
                  <c:v>4.2</c:v>
                </c:pt>
                <c:pt idx="3">
                  <c:v>3.3</c:v>
                </c:pt>
                <c:pt idx="4">
                  <c:v>3.1</c:v>
                </c:pt>
                <c:pt idx="5">
                  <c:v>3.7</c:v>
                </c:pt>
                <c:pt idx="6">
                  <c:v>3.1</c:v>
                </c:pt>
                <c:pt idx="7">
                  <c:v>3.2</c:v>
                </c:pt>
                <c:pt idx="8">
                  <c:v>3.7</c:v>
                </c:pt>
                <c:pt idx="9">
                  <c:v>3.9</c:v>
                </c:pt>
                <c:pt idx="10">
                  <c:v>2.7</c:v>
                </c:pt>
                <c:pt idx="11">
                  <c:v>3.5</c:v>
                </c:pt>
                <c:pt idx="12">
                  <c:v>3.2</c:v>
                </c:pt>
                <c:pt idx="13">
                  <c:v>3.9</c:v>
                </c:pt>
                <c:pt idx="14">
                  <c:v>2.4</c:v>
                </c:pt>
                <c:pt idx="15">
                  <c:v>3</c:v>
                </c:pt>
                <c:pt idx="16">
                  <c:v>2.6</c:v>
                </c:pt>
                <c:pt idx="17">
                  <c:v>4.2</c:v>
                </c:pt>
              </c:numCache>
            </c:numRef>
          </c:xVal>
          <c:yVal>
            <c:numRef>
              <c:f>Sheet1!$B$22:$B$39</c:f>
              <c:numCache>
                <c:formatCode>General</c:formatCode>
                <c:ptCount val="18"/>
                <c:pt idx="0">
                  <c:v>1</c:v>
                </c:pt>
                <c:pt idx="1">
                  <c:v>2.5</c:v>
                </c:pt>
                <c:pt idx="2">
                  <c:v>4</c:v>
                </c:pt>
                <c:pt idx="3">
                  <c:v>5.5</c:v>
                </c:pt>
                <c:pt idx="4">
                  <c:v>7</c:v>
                </c:pt>
                <c:pt idx="5">
                  <c:v>8.5</c:v>
                </c:pt>
                <c:pt idx="6">
                  <c:v>10</c:v>
                </c:pt>
                <c:pt idx="7">
                  <c:v>11.5</c:v>
                </c:pt>
                <c:pt idx="8">
                  <c:v>13</c:v>
                </c:pt>
                <c:pt idx="9">
                  <c:v>14.5</c:v>
                </c:pt>
                <c:pt idx="10">
                  <c:v>16</c:v>
                </c:pt>
                <c:pt idx="11">
                  <c:v>17.5</c:v>
                </c:pt>
                <c:pt idx="12">
                  <c:v>19</c:v>
                </c:pt>
                <c:pt idx="13">
                  <c:v>20.5</c:v>
                </c:pt>
                <c:pt idx="14">
                  <c:v>22</c:v>
                </c:pt>
                <c:pt idx="15">
                  <c:v>23.5</c:v>
                </c:pt>
                <c:pt idx="16">
                  <c:v>25</c:v>
                </c:pt>
                <c:pt idx="17">
                  <c:v>26.5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BDA-44E5-BE11-6BD4486D514C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</c:dLbls>
        <c:axId val="-1839816352"/>
        <c:axId val="-1839816896"/>
      </c:scatterChart>
      <c:valAx>
        <c:axId val="-1839816352"/>
        <c:scaling>
          <c:orientation val="minMax"/>
          <c:max val="5"/>
          <c:min val="1"/>
        </c:scaling>
        <c:delete val="0"/>
        <c:axPos val="b"/>
        <c:majorGridlines>
          <c:spPr>
            <a:ln w="12814">
              <a:solidFill>
                <a:srgbClr val="C0C0C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low"/>
        <c:spPr>
          <a:ln w="3203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400" b="1" i="0" u="none" strike="noStrike" baseline="0">
                <a:solidFill>
                  <a:schemeClr val="tx1"/>
                </a:solidFill>
                <a:latin typeface="Tahoma"/>
                <a:ea typeface="Tahoma"/>
                <a:cs typeface="Tahoma"/>
              </a:defRPr>
            </a:pPr>
            <a:endParaRPr lang="en-US"/>
          </a:p>
        </c:txPr>
        <c:crossAx val="-1839816896"/>
        <c:crosses val="autoZero"/>
        <c:crossBetween val="midCat"/>
        <c:majorUnit val="1"/>
      </c:valAx>
      <c:valAx>
        <c:axId val="-1839816896"/>
        <c:scaling>
          <c:orientation val="minMax"/>
          <c:max val="27.5"/>
          <c:min val="0.2"/>
        </c:scaling>
        <c:delete val="1"/>
        <c:axPos val="l"/>
        <c:numFmt formatCode="General" sourceLinked="1"/>
        <c:majorTickMark val="out"/>
        <c:minorTickMark val="none"/>
        <c:tickLblPos val="none"/>
        <c:crossAx val="-1839816352"/>
        <c:crosses val="autoZero"/>
        <c:crossBetween val="midCat"/>
        <c:majorUnit val="0.2"/>
      </c:valAx>
      <c:spPr>
        <a:noFill/>
        <a:ln w="25627">
          <a:noFill/>
        </a:ln>
      </c:spPr>
    </c:plotArea>
    <c:legend>
      <c:legendPos val="t"/>
      <c:overlay val="0"/>
      <c:spPr>
        <a:noFill/>
        <a:ln w="25627">
          <a:noFill/>
        </a:ln>
      </c:spPr>
      <c:txPr>
        <a:bodyPr/>
        <a:lstStyle/>
        <a:p>
          <a:pPr>
            <a:defRPr sz="1400" b="1" i="0" u="none" strike="noStrike" baseline="0">
              <a:solidFill>
                <a:schemeClr val="tx1"/>
              </a:solidFill>
              <a:latin typeface="Tahoma"/>
              <a:ea typeface="Tahoma"/>
              <a:cs typeface="Tahom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303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800" b="1"/>
            </a:pPr>
            <a:r>
              <a:rPr lang="en-US" sz="2800" b="1" dirty="0">
                <a:latin typeface="Pangram" panose="00000500000000000000" pitchFamily="50" charset="0"/>
              </a:rPr>
              <a:t>Overall Switch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.20201614743809201"/>
          <c:w val="1"/>
          <c:h val="0.67967872124642492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Top 2 Box</c:v>
                </c:pt>
              </c:strCache>
            </c:strRef>
          </c:tx>
          <c:spPr>
            <a:solidFill>
              <a:srgbClr val="DE7C7E"/>
            </a:solidFill>
            <a:ln w="27220"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00-48AB-ADDD-6FD8EC83E9A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>
                  <a:lumMod val="50000"/>
                </a:schemeClr>
              </a:solidFill>
              <a:ln w="27220">
                <a:noFill/>
              </a:ln>
            </c:spPr>
            <c:extLst>
              <c:ext xmlns:c16="http://schemas.microsoft.com/office/drawing/2014/chart" uri="{C3380CC4-5D6E-409C-BE32-E72D297353CC}">
                <c16:uniqueId val="{00000003-1D00-48AB-ADDD-6FD8EC83E9AD}"/>
              </c:ext>
            </c:extLst>
          </c:dPt>
          <c:dLbls>
            <c:numFmt formatCode="0%" sourceLinked="0"/>
            <c:spPr>
              <a:noFill/>
              <a:ln w="27220">
                <a:noFill/>
              </a:ln>
            </c:spPr>
            <c:txPr>
              <a:bodyPr/>
              <a:lstStyle/>
              <a:p>
                <a:pPr>
                  <a:defRPr sz="2200" b="1" i="0" u="none" strike="noStrike" baseline="0">
                    <a:solidFill>
                      <a:schemeClr val="tx1"/>
                    </a:solidFill>
                    <a:latin typeface="+mj-lt"/>
                    <a:ea typeface="Tahoma"/>
                    <a:cs typeface="Tahom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0.68</c:v>
                </c:pt>
                <c:pt idx="1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00-48AB-ADDD-6FD8EC83E9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647223296"/>
        <c:axId val="-1647230368"/>
      </c:barChart>
      <c:catAx>
        <c:axId val="-164722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3610">
            <a:solidFill>
              <a:srgbClr val="808080"/>
            </a:solidFill>
            <a:prstDash val="solid"/>
          </a:ln>
        </c:spPr>
        <c:txPr>
          <a:bodyPr rot="0" vert="horz"/>
          <a:lstStyle/>
          <a:p>
            <a:pPr>
              <a:defRPr sz="2200" b="1" i="0" u="none" strike="noStrike" baseline="0">
                <a:solidFill>
                  <a:schemeClr val="tx1"/>
                </a:solidFill>
                <a:latin typeface="+mj-lt"/>
                <a:ea typeface="Tahoma"/>
                <a:cs typeface="Tahoma"/>
              </a:defRPr>
            </a:pPr>
            <a:endParaRPr lang="en-US"/>
          </a:p>
        </c:txPr>
        <c:crossAx val="-1647230368"/>
        <c:crosses val="autoZero"/>
        <c:auto val="0"/>
        <c:lblAlgn val="ctr"/>
        <c:lblOffset val="100"/>
        <c:tickLblSkip val="1"/>
        <c:tickMarkSkip val="1"/>
        <c:noMultiLvlLbl val="0"/>
      </c:catAx>
      <c:valAx>
        <c:axId val="-1647230368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one"/>
        <c:crossAx val="-1647223296"/>
        <c:crosses val="autoZero"/>
        <c:crossBetween val="between"/>
        <c:majorUnit val="0.2"/>
        <c:minorUnit val="0.2"/>
      </c:valAx>
      <c:spPr>
        <a:noFill/>
        <a:ln w="27220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52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800" b="1"/>
            </a:pPr>
            <a:r>
              <a:rPr lang="en-US" sz="2800" b="1" dirty="0">
                <a:latin typeface="Pangram" panose="00000500000000000000" pitchFamily="50" charset="0"/>
              </a:rPr>
              <a:t>Switch Per Brand MOU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.20201614173228347"/>
          <c:w val="1"/>
          <c:h val="0.67967872124642492"/>
        </c:manualLayout>
      </c:layout>
      <c:barChart>
        <c:barDir val="col"/>
        <c:grouping val="percent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DE7C7E"/>
            </a:solidFill>
            <a:ln w="27220"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5F3-49BE-8EAC-B1DCF56A3E1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5F3-49BE-8EAC-B1DCF56A3E18}"/>
              </c:ext>
            </c:extLst>
          </c:dPt>
          <c:dLbls>
            <c:numFmt formatCode="0%" sourceLinked="0"/>
            <c:spPr>
              <a:noFill/>
              <a:ln w="27220">
                <a:noFill/>
              </a:ln>
            </c:spPr>
            <c:txPr>
              <a:bodyPr/>
              <a:lstStyle/>
              <a:p>
                <a:pPr>
                  <a:defRPr sz="1800" b="1" i="0" u="none" strike="noStrike" baseline="0">
                    <a:solidFill>
                      <a:schemeClr val="tx1"/>
                    </a:solidFill>
                    <a:latin typeface="+mj-lt"/>
                    <a:ea typeface="Tahoma"/>
                    <a:cs typeface="Tahom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Eva</c:v>
                </c:pt>
                <c:pt idx="1">
                  <c:v>Clary</c:v>
                </c:pt>
                <c:pt idx="2">
                  <c:v>Brand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0.68</c:v>
                </c:pt>
                <c:pt idx="1">
                  <c:v>0.48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F3-49BE-8EAC-B1DCF56A3E18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No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200">
                    <a:latin typeface="+mj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Eva</c:v>
                </c:pt>
                <c:pt idx="1">
                  <c:v>Clary</c:v>
                </c:pt>
                <c:pt idx="2">
                  <c:v>Brand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0.48</c:v>
                </c:pt>
                <c:pt idx="1">
                  <c:v>0.68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5F3-49BE-8EAC-B1DCF56A3E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1647223296"/>
        <c:axId val="-1647230368"/>
      </c:barChart>
      <c:catAx>
        <c:axId val="-164722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3610">
            <a:solidFill>
              <a:srgbClr val="808080"/>
            </a:solidFill>
            <a:prstDash val="solid"/>
          </a:ln>
        </c:spPr>
        <c:txPr>
          <a:bodyPr rot="0" vert="horz"/>
          <a:lstStyle/>
          <a:p>
            <a:pPr>
              <a:defRPr sz="2200" b="1" i="0" u="none" strike="noStrike" baseline="0">
                <a:solidFill>
                  <a:schemeClr val="tx1"/>
                </a:solidFill>
                <a:latin typeface="+mj-lt"/>
                <a:ea typeface="Tahoma"/>
                <a:cs typeface="Tahoma"/>
              </a:defRPr>
            </a:pPr>
            <a:endParaRPr lang="en-US"/>
          </a:p>
        </c:txPr>
        <c:crossAx val="-1647230368"/>
        <c:crosses val="autoZero"/>
        <c:auto val="0"/>
        <c:lblAlgn val="ctr"/>
        <c:lblOffset val="100"/>
        <c:noMultiLvlLbl val="0"/>
      </c:catAx>
      <c:valAx>
        <c:axId val="-1647230368"/>
        <c:scaling>
          <c:orientation val="minMax"/>
          <c:max val="1"/>
          <c:min val="0"/>
        </c:scaling>
        <c:delete val="1"/>
        <c:axPos val="l"/>
        <c:numFmt formatCode="0%" sourceLinked="1"/>
        <c:majorTickMark val="out"/>
        <c:minorTickMark val="none"/>
        <c:tickLblPos val="none"/>
        <c:crossAx val="-1647223296"/>
        <c:crosses val="autoZero"/>
        <c:crossBetween val="between"/>
        <c:majorUnit val="0.2"/>
        <c:minorUnit val="0.2"/>
      </c:valAx>
      <c:spPr>
        <a:noFill/>
        <a:ln w="27220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52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/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46969696969697E-3"/>
          <c:y val="0.10392304410224584"/>
          <c:w val="0.95686274509803926"/>
          <c:h val="0.8709985859917980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80-4465-8497-620C747BC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80-4465-8497-620C747BC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80-4465-8497-620C747BCB3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543859649122806"/>
          <c:y val="0.10259620368770518"/>
          <c:w val="0.73670304369848505"/>
          <c:h val="0.8784054501024364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C1-441B-BC2A-1CB519F758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7C1-441B-BC2A-1CB519F758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7C1-441B-BC2A-1CB519F758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96071456"/>
        <c:axId val="1736142400"/>
      </c:barChart>
      <c:catAx>
        <c:axId val="1596071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36142400"/>
        <c:crosses val="autoZero"/>
        <c:auto val="1"/>
        <c:lblAlgn val="ctr"/>
        <c:lblOffset val="100"/>
        <c:noMultiLvlLbl val="0"/>
      </c:catAx>
      <c:valAx>
        <c:axId val="173614240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96071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0.44064015748031499"/>
          <c:w val="0.14341391536584241"/>
          <c:h val="0.14715953609247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/>
              <a:t>Chart1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80-4465-8497-620C747BC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80-4465-8497-620C747BC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80-4465-8497-620C747BCB3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1.1363638058285323E-2"/>
          <c:y val="0.24043330178040656"/>
          <c:w val="0.39833339273642815"/>
          <c:h val="0.588799922729668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/>
              <a:t>Chart3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968380905511808E-2"/>
          <c:y val="6.9110860942264304E-2"/>
          <c:w val="0.95582329317269077"/>
          <c:h val="0.900436833954419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80-4465-8497-620C747BC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80-4465-8497-620C747BC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80-4465-8497-620C747BCB3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/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BF-4C49-B65F-DF34C117B3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BF-4C49-B65F-DF34C117B3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BF-4C49-B65F-DF34C117B3A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3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3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80-4465-8497-620C747BC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80-4465-8497-620C747BC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80-4465-8497-620C747BCB3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1.3442621967537656E-2"/>
          <c:y val="0.1900333333333333"/>
          <c:w val="0.39055297689686069"/>
          <c:h val="0.680466666666666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en-US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3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3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80-4465-8497-620C747BC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80-4465-8497-620C747BC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80-4465-8497-620C747BCB3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en-US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3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3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BF-4C49-B65F-DF34C117B3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BF-4C49-B65F-DF34C117B3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BF-4C49-B65F-DF34C117B3A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en-US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3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3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BF-4C49-B65F-DF34C117B3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BF-4C49-B65F-DF34C117B3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BF-4C49-B65F-DF34C117B3A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3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3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80-4465-8497-620C747BC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80-4465-8497-620C747BC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80-4465-8497-620C747BCB3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1.3442621967537656E-2"/>
          <c:y val="0.1900333333333333"/>
          <c:w val="0.39055297689686069"/>
          <c:h val="0.680466666666666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en-US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3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3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80-4465-8497-620C747BC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80-4465-8497-620C747BC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80-4465-8497-620C747BCB3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en-US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3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3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BF-4C49-B65F-DF34C117B3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BF-4C49-B65F-DF34C117B3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BF-4C49-B65F-DF34C117B3A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en-US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3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3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BF-4C49-B65F-DF34C117B3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BF-4C49-B65F-DF34C117B3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BF-4C49-B65F-DF34C117B3A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en-US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3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3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27-46FE-951D-42B6027BA3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27-46FE-951D-42B6027BA3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27-46FE-951D-42B6027BA37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290191"/>
        <c:axId val="949843855"/>
      </c:barChart>
      <c:catAx>
        <c:axId val="742290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9843855"/>
        <c:crosses val="autoZero"/>
        <c:auto val="1"/>
        <c:lblAlgn val="ctr"/>
        <c:lblOffset val="100"/>
        <c:noMultiLvlLbl val="0"/>
      </c:catAx>
      <c:valAx>
        <c:axId val="9498438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290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800"/>
      </a:pPr>
      <a:endParaRPr lang="en-US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 sz="2000"/>
              <a:t>Chart1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8946183123891892"/>
          <c:y val="7.8817733990147784E-2"/>
          <c:w val="0.57343918701878627"/>
          <c:h val="0.856611528574602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6A-4286-A10B-8AC778AC97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 sz="2000" dirty="0"/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53730096961682"/>
          <c:y val="7.8817733990147784E-2"/>
          <c:w val="0.80342654302029892"/>
          <c:h val="0.856611528574602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30-45EB-85B8-C9601DA798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noFill/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/>
              <a:t>Chart1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3789370701819427"/>
          <c:y val="8.7416032243618436E-2"/>
          <c:w val="0.60266551450730721"/>
          <c:h val="0.8546292371760739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6A-4286-A10B-8AC778AC97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 sz="2400"/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2080424924003548"/>
          <c:y val="7.8817733990147784E-2"/>
          <c:w val="0.65466427378908076"/>
          <c:h val="0.8632275354295446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39-47AF-871A-3F72AAE35D2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noFill/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 sz="2400" dirty="0">
                <a:latin typeface="Pangram" panose="00000500000000000000" pitchFamily="50" charset="0"/>
              </a:rPr>
              <a:t>Chart3</a:t>
            </a:r>
            <a:endParaRPr lang="en-US" sz="2000" dirty="0">
              <a:latin typeface="Pangram" panose="00000500000000000000" pitchFamily="50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6844518964657776"/>
          <c:y val="7.3443797581728615E-2"/>
          <c:w val="0.65920687571578929"/>
          <c:h val="0.8632275354295446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B3-4509-9EC7-A959EB396A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Chart1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1120516620119115"/>
          <c:y val="8.8302802275107464E-2"/>
          <c:w val="0.66382977982534275"/>
          <c:h val="0.8602744092725086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6A-4286-A10B-8AC778AC97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695036984013362"/>
          <c:y val="8.8302802275107464E-2"/>
          <c:w val="0.7422271534240038"/>
          <c:h val="0.8602744092725086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39-47AF-871A-3F72AAE35D2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Chart3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695036984013362"/>
          <c:y val="8.8302802275107464E-2"/>
          <c:w val="0.77567835838701982"/>
          <c:h val="0.8602744092725086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B3-4509-9EC7-A959EB396A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Chart4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695036984013362"/>
          <c:y val="8.8302802275107464E-2"/>
          <c:w val="0.77567835838701982"/>
          <c:h val="0.8602744092725086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E5-4409-BF70-709D65926E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 sz="2400" dirty="0">
                <a:latin typeface="Pangram" panose="00000500000000000000" pitchFamily="50" charset="0"/>
              </a:rPr>
              <a:t>Chart1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6A-4286-A10B-8AC778AC97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 sz="2400" dirty="0">
                <a:latin typeface="Pangram" panose="00000500000000000000" pitchFamily="50" charset="0"/>
              </a:rPr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AC-4353-A841-B6DCA49B0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>
                <a:latin typeface="Pangram" panose="00000500000000000000" pitchFamily="50" charset="0"/>
              </a:rPr>
              <a:t>Chart5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52-4FA2-8874-7D3C48F71A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 sz="2400" dirty="0">
                <a:latin typeface="Pangram" panose="00000500000000000000" pitchFamily="50" charset="0"/>
              </a:rPr>
              <a:t>Chart3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85-4E94-AD3C-1CEA965A9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>
                <a:latin typeface="Pangram" panose="00000500000000000000" pitchFamily="50" charset="0"/>
              </a:rPr>
              <a:t>Chart4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D7-4C47-A547-7B388F0B34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6A-4286-A10B-8AC778AC97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6780028786178216E-2"/>
          <c:y val="7.0575074878618735E-2"/>
          <c:w val="0.86832066932525098"/>
          <c:h val="0.8817498532480122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11-4629-8285-81A31921A2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1D-49D6-BB1C-9C2EB028D3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6E-4211-9FF6-AA1E3BB4D7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3626354163897547E-2"/>
          <c:y val="6.6896622248237766E-2"/>
          <c:w val="0.86832066932525098"/>
          <c:h val="0.8729062628926870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95-4439-833E-B0EEFC7841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Chart6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E5-4341-ABEF-3BA836A6AA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5061279"/>
        <c:axId val="179805711"/>
      </c:barChart>
      <c:catAx>
        <c:axId val="1535061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05711"/>
        <c:crosses val="autoZero"/>
        <c:auto val="1"/>
        <c:lblAlgn val="ctr"/>
        <c:lblOffset val="100"/>
        <c:noMultiLvlLbl val="0"/>
      </c:catAx>
      <c:valAx>
        <c:axId val="17980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06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/>
              <a:t>Brand Purchase Funnel</a:t>
            </a:r>
          </a:p>
        </c:rich>
      </c:tx>
      <c:layout>
        <c:manualLayout>
          <c:xMode val="edge"/>
          <c:yMode val="edge"/>
          <c:x val="0.2849069454992782"/>
          <c:y val="1.11047944294154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7A-4A38-818E-7E8863C2E8C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477A-4A38-818E-7E8863C2E8C2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7A-4A38-818E-7E8863C2E8C2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77A-4A38-818E-7E8863C2E8C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</c:v>
                </c:pt>
                <c:pt idx="1">
                  <c:v>4000</c:v>
                </c:pt>
                <c:pt idx="2">
                  <c:v>3000</c:v>
                </c:pt>
                <c:pt idx="3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7A-4A38-818E-7E8863C2E8C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45918320"/>
        <c:axId val="1447195008"/>
      </c:barChart>
      <c:catAx>
        <c:axId val="16459183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447195008"/>
        <c:crosses val="autoZero"/>
        <c:auto val="1"/>
        <c:lblAlgn val="ctr"/>
        <c:lblOffset val="100"/>
        <c:noMultiLvlLbl val="0"/>
      </c:catAx>
      <c:valAx>
        <c:axId val="14471950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45918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000" b="1" dirty="0">
                <a:latin typeface="Pangram" panose="00000500000000000000" pitchFamily="50" charset="0"/>
              </a:rPr>
              <a:t>Brand Why MOU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41416774861480476"/>
          <c:y val="0.11150525197026304"/>
          <c:w val="0.58295865338845287"/>
          <c:h val="0.834008389220421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78-4ACE-B70D-F312C87609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43797200"/>
        <c:axId val="1545571936"/>
      </c:barChart>
      <c:catAx>
        <c:axId val="1543797200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545571936"/>
        <c:crosses val="autoZero"/>
        <c:auto val="1"/>
        <c:lblAlgn val="ctr"/>
        <c:lblOffset val="100"/>
        <c:noMultiLvlLbl val="0"/>
      </c:catAx>
      <c:valAx>
        <c:axId val="1545571936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43797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r>
              <a:rPr lang="en-US"/>
              <a:t>Brand Purchase Funnel</a:t>
            </a:r>
          </a:p>
        </c:rich>
      </c:tx>
      <c:layout>
        <c:manualLayout>
          <c:xMode val="edge"/>
          <c:yMode val="edge"/>
          <c:x val="0.2849069454992782"/>
          <c:y val="1.11047944294154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angram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7A-4A38-818E-7E8863C2E8C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477A-4A38-818E-7E8863C2E8C2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7A-4A38-818E-7E8863C2E8C2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77A-4A38-818E-7E8863C2E8C2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5D1B-4EF1-B75E-A8CC0CFE4A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5000</c:v>
                </c:pt>
                <c:pt idx="1">
                  <c:v>4000</c:v>
                </c:pt>
                <c:pt idx="2">
                  <c:v>3000</c:v>
                </c:pt>
                <c:pt idx="3">
                  <c:v>2000</c:v>
                </c:pt>
                <c:pt idx="4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7A-4A38-818E-7E8863C2E8C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45918320"/>
        <c:axId val="1447195008"/>
      </c:barChart>
      <c:catAx>
        <c:axId val="16459183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447195008"/>
        <c:crosses val="autoZero"/>
        <c:auto val="1"/>
        <c:lblAlgn val="ctr"/>
        <c:lblOffset val="100"/>
        <c:noMultiLvlLbl val="0"/>
      </c:catAx>
      <c:valAx>
        <c:axId val="14471950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45918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latin typeface="Pangram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000" b="1" dirty="0">
                <a:latin typeface="Pangram" panose="00000500000000000000" pitchFamily="50" charset="0"/>
              </a:rPr>
              <a:t>Brand Why MOU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41416774861480476"/>
          <c:y val="0.11150525197026304"/>
          <c:w val="0.58295865338845287"/>
          <c:h val="0.834008389220421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Pangram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78-4ACE-B70D-F312C87609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43797200"/>
        <c:axId val="1545571936"/>
      </c:barChart>
      <c:catAx>
        <c:axId val="1543797200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angram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545571936"/>
        <c:crosses val="autoZero"/>
        <c:auto val="1"/>
        <c:lblAlgn val="ctr"/>
        <c:lblOffset val="100"/>
        <c:noMultiLvlLbl val="0"/>
      </c:catAx>
      <c:valAx>
        <c:axId val="1545571936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43797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0.42256</cdr:x>
      <cdr:y>0.9309</cdr:y>
    </cdr:from>
    <cdr:to>
      <cdr:x>0.57743</cdr:x>
      <cdr:y>1</cdr:y>
    </cdr:to>
    <cdr:sp macro="" textlink="">
      <cdr:nvSpPr>
        <cdr:cNvPr id="3" name="TextBox 7">
          <a:extLst xmlns:a="http://schemas.openxmlformats.org/drawingml/2006/main">
            <a:ext uri="{FF2B5EF4-FFF2-40B4-BE49-F238E27FC236}">
              <a16:creationId xmlns:a16="http://schemas.microsoft.com/office/drawing/2014/main" id="{6C43FD8E-AD12-4D8E-82FC-96582D0CB6A3}"/>
            </a:ext>
          </a:extLst>
        </cdr:cNvPr>
        <cdr:cNvSpPr txBox="1"/>
      </cdr:nvSpPr>
      <cdr:spPr>
        <a:xfrm xmlns:a="http://schemas.openxmlformats.org/drawingml/2006/main">
          <a:off x="3410285" y="7065854"/>
          <a:ext cx="1249869" cy="52449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accent1"/>
          </a:solidFill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SzTx/>
            <a:buFont typeface="Arial"/>
            <a:buNone/>
            <a:tabLst/>
            <a:defRPr/>
          </a:pPr>
          <a:r>
            <a:rPr lang="en-US" sz="2800" dirty="0">
              <a:solidFill>
                <a:srgbClr val="08306B"/>
              </a:solidFill>
              <a:latin typeface="Pangram Headings"/>
              <a:cs typeface="Arial"/>
              <a:sym typeface="Arial"/>
            </a:rPr>
            <a:t>00</a:t>
          </a:r>
          <a:r>
            <a: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8306B"/>
              </a:solidFill>
              <a:effectLst/>
              <a:uLnTx/>
              <a:uFillTx/>
              <a:latin typeface="Pangram Headings"/>
              <a:cs typeface="Arial"/>
              <a:sym typeface="Arial"/>
            </a:rPr>
            <a:t> EGP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angram" panose="00000500000000000000" pitchFamily="50" charset="0"/>
              </a:defRPr>
            </a:lvl1pPr>
          </a:lstStyle>
          <a:p>
            <a:endParaRPr lang="cs-C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angram" panose="00000500000000000000" pitchFamily="50" charset="0"/>
              </a:defRPr>
            </a:lvl1pPr>
          </a:lstStyle>
          <a:p>
            <a:fld id="{B7268E1E-0E44-426D-905E-8AD9B19D2182}" type="datetimeFigureOut">
              <a:rPr lang="cs-CZ" smtClean="0"/>
              <a:pPr/>
              <a:t>16.03.2026</a:t>
            </a:fld>
            <a:endParaRPr lang="cs-C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angram" panose="00000500000000000000" pitchFamily="50" charset="0"/>
              </a:defRPr>
            </a:lvl1pPr>
          </a:lstStyle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angram" panose="00000500000000000000" pitchFamily="50" charset="0"/>
              </a:defRPr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angram" panose="00000500000000000000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angram" panose="00000500000000000000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angram" panose="00000500000000000000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angram" panose="00000500000000000000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angram" panose="00000500000000000000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4EE71-0566-1552-4EEA-A97BB69A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F6729-8D57-F6E3-86F7-16E9496FF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904C6-0E6B-A481-C6F9-AF78AAEA4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0F4F7-934D-0E58-6C6A-64DDA9A94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75074-F504-4928-AEC6-9F129E938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1852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00926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82FE-AF7B-6781-2E5B-0AE95FACC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6BF2F-2DB2-3F62-DFD4-67F98FA81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3D2D2-7485-C07D-8291-3FF1EC78A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39E9B-69D0-0D43-57E0-31A67C638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75074-F504-4928-AEC6-9F129E938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9478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80AA3-410C-9338-B5FF-249AA20ED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80623-596D-1BE9-DDEA-71E7775B5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6EFCB-1D1E-C2A3-A396-7BFDDB231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DFAF5-B94E-6521-320C-261BD9419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845C9-BAC4-4641-9420-E046D2E910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8CC0A-9908-67D6-810C-38FE68C92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ABDE2-B6AC-91A6-1E86-F4A178299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541B6-D72B-0190-2275-9207CE5D3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A1648-F557-F9E9-84A6-A2AB42250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845C9-BAC4-4641-9420-E046D2E910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67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845C9-BAC4-4641-9420-E046D2E910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88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8CC0A-9908-67D6-810C-38FE68C92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ABDE2-B6AC-91A6-1E86-F4A178299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541B6-D72B-0190-2275-9207CE5D3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A1648-F557-F9E9-84A6-A2AB42250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E845C9-BAC4-4641-9420-E046D2E910B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482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4DA8-BA51-3122-A078-5F0550ABE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4CA38-6FB8-BE67-9498-3C53FA977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3D189-D20C-B5E4-6018-F904227E5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58ECC-FF4E-A47E-21BB-D35AD0369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845C9-BAC4-4641-9420-E046D2E910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23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15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43865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17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28707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18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11046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19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70593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20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69605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21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10635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22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17157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B58D6-16F2-03AF-E1F9-DC4E576E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12F34-6DB1-E21C-8E04-3F663F61F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F560F-D24B-22E3-69A1-B5C0EC995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55DDC-76D8-30EA-0C30-6031EF5C1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75074-F504-4928-AEC6-9F129E938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284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35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34587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75074-F504-4928-AEC6-9F129E938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746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B58D6-16F2-03AF-E1F9-DC4E576E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12F34-6DB1-E21C-8E04-3F663F61F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F560F-D24B-22E3-69A1-B5C0EC995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55DDC-76D8-30EA-0C30-6031EF5C1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75074-F504-4928-AEC6-9F129E938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8500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92896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554723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458B5-7E99-5302-54E8-B66EC5E6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89D6C-0EAE-ADEC-B064-09010A0B0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730A8-C8B7-172D-AEDE-8C17BBBC0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0B133-055E-2AA2-9027-1B014DA84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75074-F504-4928-AEC6-9F129E938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6882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50865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44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134920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45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430212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48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280521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49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49896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50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213489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51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228725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52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610909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53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343485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54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957022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56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29232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58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18372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pPr/>
              <a:t>59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31646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svg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0.png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A1CC-A821-3B5F-A85B-4264FACB7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1103" y="4185349"/>
            <a:ext cx="9189404" cy="848726"/>
          </a:xfrm>
          <a:prstGeom prst="rect">
            <a:avLst/>
          </a:prstGeom>
        </p:spPr>
        <p:txBody>
          <a:bodyPr anchor="ctr"/>
          <a:lstStyle>
            <a:lvl1pPr algn="ctr">
              <a:defRPr sz="3300">
                <a:latin typeface="Pangram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87873-92B9-3E1A-417B-8B95C02BE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1103" y="5062524"/>
            <a:ext cx="9189404" cy="533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2"/>
                </a:solidFill>
                <a:latin typeface="Pangram" panose="020B060402020202020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1" indent="0" algn="ctr">
              <a:buNone/>
              <a:defRPr sz="1200"/>
            </a:lvl4pPr>
            <a:lvl5pPr marL="1371669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4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LID4096" dirty="0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DA78FBA3-30E9-5F3F-F132-8401C7ECC1F5}"/>
              </a:ext>
            </a:extLst>
          </p:cNvPr>
          <p:cNvGrpSpPr/>
          <p:nvPr userDrawn="1"/>
        </p:nvGrpSpPr>
        <p:grpSpPr>
          <a:xfrm>
            <a:off x="-2977356" y="-1013464"/>
            <a:ext cx="6454199" cy="11300465"/>
            <a:chOff x="0" y="0"/>
            <a:chExt cx="5353494" cy="9373274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21A4380B-E3A4-28A0-B2F6-4CA1FD37C159}"/>
                </a:ext>
              </a:extLst>
            </p:cNvPr>
            <p:cNvSpPr/>
            <p:nvPr/>
          </p:nvSpPr>
          <p:spPr>
            <a:xfrm>
              <a:off x="0" y="0"/>
              <a:ext cx="5353493" cy="9373274"/>
            </a:xfrm>
            <a:custGeom>
              <a:avLst/>
              <a:gdLst/>
              <a:ahLst/>
              <a:cxnLst/>
              <a:rect l="l" t="t" r="r" b="b"/>
              <a:pathLst>
                <a:path w="5353493" h="9373274">
                  <a:moveTo>
                    <a:pt x="5353493" y="9373274"/>
                  </a:moveTo>
                  <a:lnTo>
                    <a:pt x="0" y="9373274"/>
                  </a:lnTo>
                  <a:lnTo>
                    <a:pt x="0" y="0"/>
                  </a:lnTo>
                  <a:lnTo>
                    <a:pt x="5353493" y="9373274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29AA280D-9F22-386E-D8C1-3C8A702ACDB9}"/>
              </a:ext>
            </a:extLst>
          </p:cNvPr>
          <p:cNvGrpSpPr/>
          <p:nvPr userDrawn="1"/>
        </p:nvGrpSpPr>
        <p:grpSpPr>
          <a:xfrm rot="5400000">
            <a:off x="-3038016" y="1441413"/>
            <a:ext cx="7902687" cy="4627544"/>
            <a:chOff x="0" y="0"/>
            <a:chExt cx="8209447" cy="4807171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9BC5B10-1341-0716-56A6-E58460F81C1C}"/>
                </a:ext>
              </a:extLst>
            </p:cNvPr>
            <p:cNvSpPr/>
            <p:nvPr/>
          </p:nvSpPr>
          <p:spPr>
            <a:xfrm>
              <a:off x="0" y="0"/>
              <a:ext cx="8209447" cy="4807171"/>
            </a:xfrm>
            <a:custGeom>
              <a:avLst/>
              <a:gdLst/>
              <a:ahLst/>
              <a:cxnLst/>
              <a:rect l="l" t="t" r="r" b="b"/>
              <a:pathLst>
                <a:path w="8209447" h="4807171">
                  <a:moveTo>
                    <a:pt x="8209447" y="4807171"/>
                  </a:moveTo>
                  <a:lnTo>
                    <a:pt x="0" y="4807171"/>
                  </a:lnTo>
                  <a:lnTo>
                    <a:pt x="0" y="0"/>
                  </a:lnTo>
                  <a:lnTo>
                    <a:pt x="8209447" y="4807171"/>
                  </a:lnTo>
                  <a:close/>
                </a:path>
              </a:pathLst>
            </a:custGeom>
            <a:solidFill>
              <a:srgbClr val="08306B"/>
            </a:solid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11" name="Group 6">
            <a:extLst>
              <a:ext uri="{FF2B5EF4-FFF2-40B4-BE49-F238E27FC236}">
                <a16:creationId xmlns:a16="http://schemas.microsoft.com/office/drawing/2014/main" id="{687D4BEC-39F0-5418-A7AD-9DCBB14C3CB9}"/>
              </a:ext>
            </a:extLst>
          </p:cNvPr>
          <p:cNvGrpSpPr/>
          <p:nvPr userDrawn="1"/>
        </p:nvGrpSpPr>
        <p:grpSpPr>
          <a:xfrm>
            <a:off x="-2318959" y="5143504"/>
            <a:ext cx="5777423" cy="4649837"/>
            <a:chOff x="0" y="0"/>
            <a:chExt cx="6785293" cy="5461000"/>
          </a:xfrm>
        </p:grpSpPr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59E9C432-C001-1C92-1D1B-54E2CCEDA20B}"/>
                </a:ext>
              </a:extLst>
            </p:cNvPr>
            <p:cNvSpPr/>
            <p:nvPr/>
          </p:nvSpPr>
          <p:spPr>
            <a:xfrm>
              <a:off x="63646" y="32385"/>
              <a:ext cx="6658000" cy="5396230"/>
            </a:xfrm>
            <a:custGeom>
              <a:avLst/>
              <a:gdLst/>
              <a:ahLst/>
              <a:cxnLst/>
              <a:rect l="l" t="t" r="r" b="b"/>
              <a:pathLst>
                <a:path w="6658000" h="5396230">
                  <a:moveTo>
                    <a:pt x="3329000" y="0"/>
                  </a:moveTo>
                  <a:lnTo>
                    <a:pt x="0" y="5396230"/>
                  </a:lnTo>
                  <a:lnTo>
                    <a:pt x="6658000" y="539623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11614" t="-600" r="-11513" b="-614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03E94984-66BE-D061-A990-7C2F418D785C}"/>
              </a:ext>
            </a:extLst>
          </p:cNvPr>
          <p:cNvGrpSpPr/>
          <p:nvPr userDrawn="1"/>
        </p:nvGrpSpPr>
        <p:grpSpPr>
          <a:xfrm>
            <a:off x="805629" y="73893"/>
            <a:ext cx="5305671" cy="4562877"/>
            <a:chOff x="0" y="0"/>
            <a:chExt cx="6350000" cy="5461000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CC89B0C0-3887-C814-0C6D-26A0A509EBC7}"/>
                </a:ext>
              </a:extLst>
            </p:cNvPr>
            <p:cNvSpPr/>
            <p:nvPr/>
          </p:nvSpPr>
          <p:spPr>
            <a:xfrm>
              <a:off x="59563" y="32385"/>
              <a:ext cx="6230874" cy="5396230"/>
            </a:xfrm>
            <a:custGeom>
              <a:avLst/>
              <a:gdLst/>
              <a:ahLst/>
              <a:cxnLst/>
              <a:rect l="l" t="t" r="r" b="b"/>
              <a:pathLst>
                <a:path w="6230874" h="5396230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14994" r="-14994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15" name="Group 10">
            <a:extLst>
              <a:ext uri="{FF2B5EF4-FFF2-40B4-BE49-F238E27FC236}">
                <a16:creationId xmlns:a16="http://schemas.microsoft.com/office/drawing/2014/main" id="{07EC3C92-846C-BC6D-60EB-6F2E7743D0F8}"/>
              </a:ext>
            </a:extLst>
          </p:cNvPr>
          <p:cNvGrpSpPr/>
          <p:nvPr userDrawn="1"/>
        </p:nvGrpSpPr>
        <p:grpSpPr>
          <a:xfrm>
            <a:off x="842390" y="4846238"/>
            <a:ext cx="5268911" cy="4562877"/>
            <a:chOff x="0" y="0"/>
            <a:chExt cx="6350000" cy="5499100"/>
          </a:xfrm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D4540B2E-2113-57EA-C39C-171C6AF89FA6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3175000" y="0"/>
                  </a:moveTo>
                  <a:lnTo>
                    <a:pt x="0" y="0"/>
                  </a:lnTo>
                  <a:lnTo>
                    <a:pt x="1587500" y="2749550"/>
                  </a:lnTo>
                  <a:lnTo>
                    <a:pt x="3175000" y="5499100"/>
                  </a:lnTo>
                  <a:lnTo>
                    <a:pt x="4762500" y="274955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14990" r="-14990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sp>
        <p:nvSpPr>
          <p:cNvPr id="17" name="Freeform 12">
            <a:extLst>
              <a:ext uri="{FF2B5EF4-FFF2-40B4-BE49-F238E27FC236}">
                <a16:creationId xmlns:a16="http://schemas.microsoft.com/office/drawing/2014/main" id="{4C319597-B819-8E7F-1AFE-653FB6B46A29}"/>
              </a:ext>
            </a:extLst>
          </p:cNvPr>
          <p:cNvSpPr/>
          <p:nvPr userDrawn="1"/>
        </p:nvSpPr>
        <p:spPr>
          <a:xfrm>
            <a:off x="15069034" y="644022"/>
            <a:ext cx="2702609" cy="769356"/>
          </a:xfrm>
          <a:custGeom>
            <a:avLst/>
            <a:gdLst/>
            <a:ahLst/>
            <a:cxnLst/>
            <a:rect l="l" t="t" r="r" b="b"/>
            <a:pathLst>
              <a:path w="2702609" h="769356">
                <a:moveTo>
                  <a:pt x="0" y="0"/>
                </a:moveTo>
                <a:lnTo>
                  <a:pt x="2702609" y="0"/>
                </a:lnTo>
                <a:lnTo>
                  <a:pt x="2702609" y="769356"/>
                </a:lnTo>
                <a:lnTo>
                  <a:pt x="0" y="769356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548C0E-A1F4-3342-2884-05CB6A86CA0D}"/>
              </a:ext>
            </a:extLst>
          </p:cNvPr>
          <p:cNvSpPr txBox="1">
            <a:spLocks/>
          </p:cNvSpPr>
          <p:nvPr userDrawn="1"/>
        </p:nvSpPr>
        <p:spPr>
          <a:xfrm>
            <a:off x="6591103" y="5624378"/>
            <a:ext cx="9189404" cy="53340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angram" panose="020B060402020202020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Date</a:t>
            </a:r>
            <a:endParaRPr lang="LID4096" sz="1800" b="1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7707348-983F-F5A8-0E8F-4C82AC963F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1300" y="6134100"/>
            <a:ext cx="9188451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latin typeface="Pangram" panose="020B0604020202020204" charset="0"/>
              </a:defRPr>
            </a:lvl1pPr>
          </a:lstStyle>
          <a:p>
            <a:pPr lvl="0"/>
            <a:r>
              <a:rPr lang="en-US" dirty="0"/>
              <a:t>Put client’s logo here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3409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A8F8F43C-39D9-3BA3-B332-E5D13013E6E1}"/>
              </a:ext>
            </a:extLst>
          </p:cNvPr>
          <p:cNvSpPr/>
          <p:nvPr userDrawn="1"/>
        </p:nvSpPr>
        <p:spPr>
          <a:xfrm>
            <a:off x="17054011" y="879638"/>
            <a:ext cx="201938" cy="804821"/>
          </a:xfrm>
          <a:custGeom>
            <a:avLst/>
            <a:gdLst/>
            <a:ahLst/>
            <a:cxnLst/>
            <a:rect l="l" t="t" r="r" b="b"/>
            <a:pathLst>
              <a:path w="201937" h="804821">
                <a:moveTo>
                  <a:pt x="0" y="0"/>
                </a:moveTo>
                <a:lnTo>
                  <a:pt x="201937" y="0"/>
                </a:lnTo>
                <a:lnTo>
                  <a:pt x="201937" y="804821"/>
                </a:lnTo>
                <a:lnTo>
                  <a:pt x="0" y="804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819705B8-F99D-D165-A20F-72743205BEBE}"/>
              </a:ext>
            </a:extLst>
          </p:cNvPr>
          <p:cNvSpPr txBox="1"/>
          <p:nvPr userDrawn="1"/>
        </p:nvSpPr>
        <p:spPr>
          <a:xfrm>
            <a:off x="7291130" y="2324156"/>
            <a:ext cx="7395227" cy="78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799" b="1" dirty="0">
                <a:solidFill>
                  <a:srgbClr val="CD393B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Table Of</a:t>
            </a:r>
            <a:r>
              <a:rPr lang="en-US" sz="4799" b="1" dirty="0">
                <a:solidFill>
                  <a:srgbClr val="EEA525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 </a:t>
            </a:r>
            <a:r>
              <a:rPr lang="en-US" sz="4799" b="1" dirty="0">
                <a:solidFill>
                  <a:srgbClr val="08306B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Content</a:t>
            </a:r>
          </a:p>
        </p:txBody>
      </p:sp>
      <p:grpSp>
        <p:nvGrpSpPr>
          <p:cNvPr id="34" name="Group 28">
            <a:extLst>
              <a:ext uri="{FF2B5EF4-FFF2-40B4-BE49-F238E27FC236}">
                <a16:creationId xmlns:a16="http://schemas.microsoft.com/office/drawing/2014/main" id="{2915768A-C58B-D31A-1D17-262E21FDAFB0}"/>
              </a:ext>
            </a:extLst>
          </p:cNvPr>
          <p:cNvGrpSpPr/>
          <p:nvPr userDrawn="1"/>
        </p:nvGrpSpPr>
        <p:grpSpPr>
          <a:xfrm>
            <a:off x="-1238052" y="-1013464"/>
            <a:ext cx="6454199" cy="11300465"/>
            <a:chOff x="0" y="0"/>
            <a:chExt cx="5353494" cy="9373274"/>
          </a:xfrm>
        </p:grpSpPr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1DAEF471-5D72-BA0F-A162-5153C3BBC94E}"/>
                </a:ext>
              </a:extLst>
            </p:cNvPr>
            <p:cNvSpPr/>
            <p:nvPr/>
          </p:nvSpPr>
          <p:spPr>
            <a:xfrm>
              <a:off x="0" y="0"/>
              <a:ext cx="5353493" cy="9373274"/>
            </a:xfrm>
            <a:custGeom>
              <a:avLst/>
              <a:gdLst/>
              <a:ahLst/>
              <a:cxnLst/>
              <a:rect l="l" t="t" r="r" b="b"/>
              <a:pathLst>
                <a:path w="5353493" h="9373274">
                  <a:moveTo>
                    <a:pt x="5353493" y="9373274"/>
                  </a:moveTo>
                  <a:lnTo>
                    <a:pt x="0" y="9373274"/>
                  </a:lnTo>
                  <a:lnTo>
                    <a:pt x="0" y="0"/>
                  </a:lnTo>
                  <a:lnTo>
                    <a:pt x="5353493" y="9373274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36" name="Group 30">
            <a:extLst>
              <a:ext uri="{FF2B5EF4-FFF2-40B4-BE49-F238E27FC236}">
                <a16:creationId xmlns:a16="http://schemas.microsoft.com/office/drawing/2014/main" id="{6886199E-6C69-0D63-9ADD-874A195156D6}"/>
              </a:ext>
            </a:extLst>
          </p:cNvPr>
          <p:cNvGrpSpPr/>
          <p:nvPr userDrawn="1"/>
        </p:nvGrpSpPr>
        <p:grpSpPr>
          <a:xfrm rot="5400000">
            <a:off x="-2980398" y="1628050"/>
            <a:ext cx="7902687" cy="4627544"/>
            <a:chOff x="0" y="0"/>
            <a:chExt cx="8209447" cy="4807171"/>
          </a:xfrm>
        </p:grpSpPr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698A4F66-209F-664D-4DCF-E7325E3515CC}"/>
                </a:ext>
              </a:extLst>
            </p:cNvPr>
            <p:cNvSpPr/>
            <p:nvPr/>
          </p:nvSpPr>
          <p:spPr>
            <a:xfrm>
              <a:off x="0" y="0"/>
              <a:ext cx="8209447" cy="4807171"/>
            </a:xfrm>
            <a:custGeom>
              <a:avLst/>
              <a:gdLst/>
              <a:ahLst/>
              <a:cxnLst/>
              <a:rect l="l" t="t" r="r" b="b"/>
              <a:pathLst>
                <a:path w="8209447" h="4807171">
                  <a:moveTo>
                    <a:pt x="8209447" y="4807171"/>
                  </a:moveTo>
                  <a:lnTo>
                    <a:pt x="0" y="4807171"/>
                  </a:lnTo>
                  <a:lnTo>
                    <a:pt x="0" y="0"/>
                  </a:lnTo>
                  <a:lnTo>
                    <a:pt x="8209447" y="4807171"/>
                  </a:lnTo>
                  <a:close/>
                </a:path>
              </a:pathLst>
            </a:custGeom>
            <a:solidFill>
              <a:srgbClr val="08306B"/>
            </a:solid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38" name="Group 32">
            <a:extLst>
              <a:ext uri="{FF2B5EF4-FFF2-40B4-BE49-F238E27FC236}">
                <a16:creationId xmlns:a16="http://schemas.microsoft.com/office/drawing/2014/main" id="{E728CB19-C999-199E-B4C4-C79930F4C9AD}"/>
              </a:ext>
            </a:extLst>
          </p:cNvPr>
          <p:cNvGrpSpPr/>
          <p:nvPr userDrawn="1"/>
        </p:nvGrpSpPr>
        <p:grpSpPr>
          <a:xfrm>
            <a:off x="890468" y="337116"/>
            <a:ext cx="5305671" cy="4562877"/>
            <a:chOff x="0" y="0"/>
            <a:chExt cx="6350000" cy="5461000"/>
          </a:xfrm>
        </p:grpSpPr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F189BF9D-E1DD-9433-2A89-F84A57F2994E}"/>
                </a:ext>
              </a:extLst>
            </p:cNvPr>
            <p:cNvSpPr/>
            <p:nvPr/>
          </p:nvSpPr>
          <p:spPr>
            <a:xfrm>
              <a:off x="59563" y="32385"/>
              <a:ext cx="6230874" cy="5396230"/>
            </a:xfrm>
            <a:custGeom>
              <a:avLst/>
              <a:gdLst/>
              <a:ahLst/>
              <a:cxnLst/>
              <a:rect l="l" t="t" r="r" b="b"/>
              <a:pathLst>
                <a:path w="6230874" h="5396230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14872" r="-14872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40" name="Group 34">
            <a:extLst>
              <a:ext uri="{FF2B5EF4-FFF2-40B4-BE49-F238E27FC236}">
                <a16:creationId xmlns:a16="http://schemas.microsoft.com/office/drawing/2014/main" id="{5AC9B381-B3DA-CB47-F837-85137CBC4A4E}"/>
              </a:ext>
            </a:extLst>
          </p:cNvPr>
          <p:cNvGrpSpPr/>
          <p:nvPr userDrawn="1"/>
        </p:nvGrpSpPr>
        <p:grpSpPr>
          <a:xfrm>
            <a:off x="774088" y="5297865"/>
            <a:ext cx="5268911" cy="4562877"/>
            <a:chOff x="0" y="0"/>
            <a:chExt cx="6350000" cy="5499100"/>
          </a:xfrm>
        </p:grpSpPr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B775357B-2663-6A1C-B20B-12A567A078A6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3175000" y="0"/>
                  </a:moveTo>
                  <a:lnTo>
                    <a:pt x="0" y="0"/>
                  </a:lnTo>
                  <a:lnTo>
                    <a:pt x="1587500" y="2749550"/>
                  </a:lnTo>
                  <a:lnTo>
                    <a:pt x="3175000" y="5499100"/>
                  </a:lnTo>
                  <a:lnTo>
                    <a:pt x="4762500" y="274955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14990" r="-14990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sp>
        <p:nvSpPr>
          <p:cNvPr id="42" name="Freeform 36">
            <a:extLst>
              <a:ext uri="{FF2B5EF4-FFF2-40B4-BE49-F238E27FC236}">
                <a16:creationId xmlns:a16="http://schemas.microsoft.com/office/drawing/2014/main" id="{E0728A0B-4C6C-B335-171B-685DB9FAB69F}"/>
              </a:ext>
            </a:extLst>
          </p:cNvPr>
          <p:cNvSpPr/>
          <p:nvPr userDrawn="1"/>
        </p:nvSpPr>
        <p:spPr>
          <a:xfrm>
            <a:off x="17025084" y="9338764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7"/>
                </a:lnTo>
                <a:lnTo>
                  <a:pt x="0" y="411447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45" name="Content Placeholder 44">
            <a:extLst>
              <a:ext uri="{FF2B5EF4-FFF2-40B4-BE49-F238E27FC236}">
                <a16:creationId xmlns:a16="http://schemas.microsoft.com/office/drawing/2014/main" id="{2DDBDDA1-82F5-0448-EDB8-A2D0D0D229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543800" y="3543300"/>
            <a:ext cx="8915400" cy="55626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90054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5FE2C7C1-444C-0508-9B7F-C91DDD4D645F}"/>
              </a:ext>
            </a:extLst>
          </p:cNvPr>
          <p:cNvGrpSpPr/>
          <p:nvPr userDrawn="1"/>
        </p:nvGrpSpPr>
        <p:grpSpPr>
          <a:xfrm>
            <a:off x="0" y="0"/>
            <a:ext cx="18288000" cy="10287000"/>
            <a:chOff x="0" y="0"/>
            <a:chExt cx="3921433" cy="2205806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B944BC9-87B0-BC40-7E1E-CFAB40CF8250}"/>
                </a:ext>
              </a:extLst>
            </p:cNvPr>
            <p:cNvSpPr/>
            <p:nvPr/>
          </p:nvSpPr>
          <p:spPr>
            <a:xfrm>
              <a:off x="0" y="0"/>
              <a:ext cx="3921433" cy="2205806"/>
            </a:xfrm>
            <a:custGeom>
              <a:avLst/>
              <a:gdLst/>
              <a:ahLst/>
              <a:cxnLst/>
              <a:rect l="l" t="t" r="r" b="b"/>
              <a:pathLst>
                <a:path w="3921433" h="2205806">
                  <a:moveTo>
                    <a:pt x="0" y="0"/>
                  </a:moveTo>
                  <a:lnTo>
                    <a:pt x="3921433" y="0"/>
                  </a:lnTo>
                  <a:lnTo>
                    <a:pt x="3921433" y="2205806"/>
                  </a:lnTo>
                  <a:lnTo>
                    <a:pt x="0" y="2205806"/>
                  </a:lnTo>
                  <a:close/>
                </a:path>
              </a:pathLst>
            </a:custGeom>
            <a:blipFill>
              <a:blip r:embed="rId2" cstate="email">
                <a:alphaModFix amt="5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9333" b="-9333"/>
              </a:stretch>
            </a:blipFill>
          </p:spPr>
          <p:txBody>
            <a:bodyPr/>
            <a:lstStyle/>
            <a:p>
              <a:endParaRPr lang="LID4096" sz="900"/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1EB0CCBD-06C6-4A98-2EC9-918AE905883A}"/>
              </a:ext>
            </a:extLst>
          </p:cNvPr>
          <p:cNvGrpSpPr/>
          <p:nvPr userDrawn="1"/>
        </p:nvGrpSpPr>
        <p:grpSpPr>
          <a:xfrm>
            <a:off x="0" y="4008620"/>
            <a:ext cx="18288000" cy="2487455"/>
            <a:chOff x="0" y="0"/>
            <a:chExt cx="4816593" cy="655132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FBC0DCF-541B-43B7-A10A-6072FD5DDF4C}"/>
                </a:ext>
              </a:extLst>
            </p:cNvPr>
            <p:cNvSpPr/>
            <p:nvPr/>
          </p:nvSpPr>
          <p:spPr>
            <a:xfrm>
              <a:off x="0" y="0"/>
              <a:ext cx="4816592" cy="655132"/>
            </a:xfrm>
            <a:custGeom>
              <a:avLst/>
              <a:gdLst/>
              <a:ahLst/>
              <a:cxnLst/>
              <a:rect l="l" t="t" r="r" b="b"/>
              <a:pathLst>
                <a:path w="4816592" h="655132">
                  <a:moveTo>
                    <a:pt x="0" y="0"/>
                  </a:moveTo>
                  <a:lnTo>
                    <a:pt x="4816592" y="0"/>
                  </a:lnTo>
                  <a:lnTo>
                    <a:pt x="4816592" y="655132"/>
                  </a:lnTo>
                  <a:lnTo>
                    <a:pt x="0" y="655132"/>
                  </a:lnTo>
                  <a:close/>
                </a:path>
              </a:pathLst>
            </a:custGeom>
            <a:solidFill>
              <a:srgbClr val="08306B">
                <a:alpha val="64706"/>
              </a:srgbClr>
            </a:solidFill>
          </p:spPr>
          <p:txBody>
            <a:bodyPr/>
            <a:lstStyle/>
            <a:p>
              <a:endParaRPr lang="LID4096" sz="1200"/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8832F13E-E64F-1761-CC77-812B8C447AA3}"/>
                </a:ext>
              </a:extLst>
            </p:cNvPr>
            <p:cNvSpPr txBox="1"/>
            <p:nvPr/>
          </p:nvSpPr>
          <p:spPr>
            <a:xfrm>
              <a:off x="0" y="-38100"/>
              <a:ext cx="4816593" cy="69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6"/>
                </a:lnSpc>
              </a:pPr>
              <a:endParaRPr sz="120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3BB651-3BC8-B614-165A-7C65F858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914" y="4728389"/>
            <a:ext cx="9296402" cy="1047911"/>
          </a:xfrm>
          <a:prstGeom prst="rect">
            <a:avLst/>
          </a:prstGeom>
        </p:spPr>
        <p:txBody>
          <a:bodyPr anchor="ctr"/>
          <a:lstStyle>
            <a:lvl1pPr>
              <a:defRPr sz="33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DADA4CC6-D4B3-A018-269E-E65535460BB2}"/>
              </a:ext>
            </a:extLst>
          </p:cNvPr>
          <p:cNvGrpSpPr/>
          <p:nvPr userDrawn="1"/>
        </p:nvGrpSpPr>
        <p:grpSpPr>
          <a:xfrm rot="-5400000">
            <a:off x="986804" y="4959077"/>
            <a:ext cx="670331" cy="586539"/>
            <a:chOff x="0" y="0"/>
            <a:chExt cx="812800" cy="711200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0BCF67E0-0EDD-6261-AE71-2CB233357A7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D7807581-0CCB-F9A9-CB93-921AE7221F39}"/>
                </a:ext>
              </a:extLst>
            </p:cNvPr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6"/>
                </a:lnSpc>
              </a:pPr>
              <a:endParaRPr sz="1350"/>
            </a:p>
          </p:txBody>
        </p:sp>
      </p:grpSp>
      <p:sp>
        <p:nvSpPr>
          <p:cNvPr id="15" name="Freeform 10">
            <a:extLst>
              <a:ext uri="{FF2B5EF4-FFF2-40B4-BE49-F238E27FC236}">
                <a16:creationId xmlns:a16="http://schemas.microsoft.com/office/drawing/2014/main" id="{E402FB02-367D-3C14-DA54-0AC10919E177}"/>
              </a:ext>
            </a:extLst>
          </p:cNvPr>
          <p:cNvSpPr/>
          <p:nvPr userDrawn="1"/>
        </p:nvSpPr>
        <p:spPr>
          <a:xfrm>
            <a:off x="17449802" y="9563103"/>
            <a:ext cx="423383" cy="371877"/>
          </a:xfrm>
          <a:custGeom>
            <a:avLst/>
            <a:gdLst/>
            <a:ahLst/>
            <a:cxnLst/>
            <a:rect l="l" t="t" r="r" b="b"/>
            <a:pathLst>
              <a:path w="618164" h="542963">
                <a:moveTo>
                  <a:pt x="0" y="0"/>
                </a:moveTo>
                <a:lnTo>
                  <a:pt x="618164" y="0"/>
                </a:lnTo>
                <a:lnTo>
                  <a:pt x="618164" y="542962"/>
                </a:lnTo>
                <a:lnTo>
                  <a:pt x="0" y="542962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</p:spTree>
    <p:extLst>
      <p:ext uri="{BB962C8B-B14F-4D97-AF65-F5344CB8AC3E}">
        <p14:creationId xmlns:p14="http://schemas.microsoft.com/office/powerpoint/2010/main" val="3700966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to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E6CE5B8-241C-AADE-9BEC-B600AA904C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prstGeom prst="rect">
            <a:avLst/>
          </a:prstGeom>
        </p:spPr>
        <p:txBody>
          <a:bodyPr/>
          <a:lstStyle/>
          <a:p>
            <a:endParaRPr lang="LID4096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1EB0CCBD-06C6-4A98-2EC9-918AE905883A}"/>
              </a:ext>
            </a:extLst>
          </p:cNvPr>
          <p:cNvGrpSpPr/>
          <p:nvPr userDrawn="1"/>
        </p:nvGrpSpPr>
        <p:grpSpPr>
          <a:xfrm>
            <a:off x="0" y="4008620"/>
            <a:ext cx="18288000" cy="2487455"/>
            <a:chOff x="0" y="0"/>
            <a:chExt cx="4816593" cy="655132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FBC0DCF-541B-43B7-A10A-6072FD5DDF4C}"/>
                </a:ext>
              </a:extLst>
            </p:cNvPr>
            <p:cNvSpPr/>
            <p:nvPr/>
          </p:nvSpPr>
          <p:spPr>
            <a:xfrm>
              <a:off x="0" y="0"/>
              <a:ext cx="4816592" cy="655132"/>
            </a:xfrm>
            <a:custGeom>
              <a:avLst/>
              <a:gdLst/>
              <a:ahLst/>
              <a:cxnLst/>
              <a:rect l="l" t="t" r="r" b="b"/>
              <a:pathLst>
                <a:path w="4816592" h="655132">
                  <a:moveTo>
                    <a:pt x="0" y="0"/>
                  </a:moveTo>
                  <a:lnTo>
                    <a:pt x="4816592" y="0"/>
                  </a:lnTo>
                  <a:lnTo>
                    <a:pt x="4816592" y="655132"/>
                  </a:lnTo>
                  <a:lnTo>
                    <a:pt x="0" y="655132"/>
                  </a:lnTo>
                  <a:close/>
                </a:path>
              </a:pathLst>
            </a:custGeom>
            <a:solidFill>
              <a:srgbClr val="08306B">
                <a:alpha val="64706"/>
              </a:srgbClr>
            </a:solidFill>
          </p:spPr>
          <p:txBody>
            <a:bodyPr/>
            <a:lstStyle/>
            <a:p>
              <a:endParaRPr lang="LID4096" sz="1200"/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8832F13E-E64F-1761-CC77-812B8C447AA3}"/>
                </a:ext>
              </a:extLst>
            </p:cNvPr>
            <p:cNvSpPr txBox="1"/>
            <p:nvPr/>
          </p:nvSpPr>
          <p:spPr>
            <a:xfrm>
              <a:off x="0" y="-38100"/>
              <a:ext cx="4816593" cy="69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6"/>
                </a:lnSpc>
              </a:pPr>
              <a:endParaRPr sz="120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3BB651-3BC8-B614-165A-7C65F858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914" y="4728389"/>
            <a:ext cx="9296402" cy="1047911"/>
          </a:xfrm>
          <a:prstGeom prst="rect">
            <a:avLst/>
          </a:prstGeom>
        </p:spPr>
        <p:txBody>
          <a:bodyPr anchor="ctr"/>
          <a:lstStyle>
            <a:lvl1pPr>
              <a:defRPr sz="33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DADA4CC6-D4B3-A018-269E-E65535460BB2}"/>
              </a:ext>
            </a:extLst>
          </p:cNvPr>
          <p:cNvGrpSpPr/>
          <p:nvPr userDrawn="1"/>
        </p:nvGrpSpPr>
        <p:grpSpPr>
          <a:xfrm rot="-5400000">
            <a:off x="986804" y="4959077"/>
            <a:ext cx="670331" cy="586539"/>
            <a:chOff x="0" y="0"/>
            <a:chExt cx="812800" cy="711200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0BCF67E0-0EDD-6261-AE71-2CB233357A7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D7807581-0CCB-F9A9-CB93-921AE7221F39}"/>
                </a:ext>
              </a:extLst>
            </p:cNvPr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6"/>
                </a:lnSpc>
              </a:pPr>
              <a:endParaRPr sz="1350"/>
            </a:p>
          </p:txBody>
        </p:sp>
      </p:grpSp>
      <p:sp>
        <p:nvSpPr>
          <p:cNvPr id="5" name="Freeform 10">
            <a:extLst>
              <a:ext uri="{FF2B5EF4-FFF2-40B4-BE49-F238E27FC236}">
                <a16:creationId xmlns:a16="http://schemas.microsoft.com/office/drawing/2014/main" id="{D6C979E0-70A6-055F-FA03-5488FD92BAC1}"/>
              </a:ext>
            </a:extLst>
          </p:cNvPr>
          <p:cNvSpPr/>
          <p:nvPr userDrawn="1"/>
        </p:nvSpPr>
        <p:spPr>
          <a:xfrm>
            <a:off x="17449802" y="9563103"/>
            <a:ext cx="423383" cy="371877"/>
          </a:xfrm>
          <a:custGeom>
            <a:avLst/>
            <a:gdLst/>
            <a:ahLst/>
            <a:cxnLst/>
            <a:rect l="l" t="t" r="r" b="b"/>
            <a:pathLst>
              <a:path w="618164" h="542963">
                <a:moveTo>
                  <a:pt x="0" y="0"/>
                </a:moveTo>
                <a:lnTo>
                  <a:pt x="618164" y="0"/>
                </a:lnTo>
                <a:lnTo>
                  <a:pt x="618164" y="542962"/>
                </a:lnTo>
                <a:lnTo>
                  <a:pt x="0" y="54296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1B892E-073E-5CAB-6B38-1C4D534A36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8288000" cy="10287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56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CEA0D12-D1B6-B443-1E06-DD2A4AA98AE8}"/>
              </a:ext>
            </a:extLst>
          </p:cNvPr>
          <p:cNvGrpSpPr/>
          <p:nvPr userDrawn="1"/>
        </p:nvGrpSpPr>
        <p:grpSpPr>
          <a:xfrm>
            <a:off x="0" y="0"/>
            <a:ext cx="18288000" cy="10287000"/>
            <a:chOff x="0" y="0"/>
            <a:chExt cx="3921433" cy="2205806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335620F-5EF1-4D57-8CE7-03EBCFFBEAF0}"/>
                </a:ext>
              </a:extLst>
            </p:cNvPr>
            <p:cNvSpPr/>
            <p:nvPr/>
          </p:nvSpPr>
          <p:spPr>
            <a:xfrm>
              <a:off x="0" y="0"/>
              <a:ext cx="3921433" cy="2205806"/>
            </a:xfrm>
            <a:custGeom>
              <a:avLst/>
              <a:gdLst/>
              <a:ahLst/>
              <a:cxnLst/>
              <a:rect l="l" t="t" r="r" b="b"/>
              <a:pathLst>
                <a:path w="3921433" h="2205806">
                  <a:moveTo>
                    <a:pt x="0" y="0"/>
                  </a:moveTo>
                  <a:lnTo>
                    <a:pt x="3921433" y="0"/>
                  </a:lnTo>
                  <a:lnTo>
                    <a:pt x="3921433" y="2205806"/>
                  </a:lnTo>
                  <a:lnTo>
                    <a:pt x="0" y="2205806"/>
                  </a:lnTo>
                  <a:close/>
                </a:path>
              </a:pathLst>
            </a:custGeom>
            <a:blipFill>
              <a:blip r:embed="rId2" cstate="email">
                <a:alphaModFix amt="5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9333" b="-9333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16" name="Group 4">
            <a:extLst>
              <a:ext uri="{FF2B5EF4-FFF2-40B4-BE49-F238E27FC236}">
                <a16:creationId xmlns:a16="http://schemas.microsoft.com/office/drawing/2014/main" id="{A4A52BDF-6A9B-0AB9-4A8F-4415693F47FB}"/>
              </a:ext>
            </a:extLst>
          </p:cNvPr>
          <p:cNvGrpSpPr/>
          <p:nvPr userDrawn="1"/>
        </p:nvGrpSpPr>
        <p:grpSpPr>
          <a:xfrm>
            <a:off x="0" y="4008620"/>
            <a:ext cx="18288000" cy="2487455"/>
            <a:chOff x="0" y="0"/>
            <a:chExt cx="4816593" cy="655132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4226EC9-4212-94D7-4FF1-FE9479A0D6DD}"/>
                </a:ext>
              </a:extLst>
            </p:cNvPr>
            <p:cNvSpPr/>
            <p:nvPr/>
          </p:nvSpPr>
          <p:spPr>
            <a:xfrm>
              <a:off x="0" y="0"/>
              <a:ext cx="4816592" cy="655132"/>
            </a:xfrm>
            <a:custGeom>
              <a:avLst/>
              <a:gdLst/>
              <a:ahLst/>
              <a:cxnLst/>
              <a:rect l="l" t="t" r="r" b="b"/>
              <a:pathLst>
                <a:path w="4816592" h="655132">
                  <a:moveTo>
                    <a:pt x="0" y="0"/>
                  </a:moveTo>
                  <a:lnTo>
                    <a:pt x="4816592" y="0"/>
                  </a:lnTo>
                  <a:lnTo>
                    <a:pt x="4816592" y="655132"/>
                  </a:lnTo>
                  <a:lnTo>
                    <a:pt x="0" y="655132"/>
                  </a:lnTo>
                  <a:close/>
                </a:path>
              </a:pathLst>
            </a:custGeom>
            <a:solidFill>
              <a:srgbClr val="CD393B">
                <a:alpha val="64706"/>
              </a:srgbClr>
            </a:solidFill>
          </p:spPr>
          <p:txBody>
            <a:bodyPr/>
            <a:lstStyle/>
            <a:p>
              <a:endParaRPr lang="LID4096" sz="1350"/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C2F40A1E-EAEA-F855-9B10-280ADDBF42A8}"/>
                </a:ext>
              </a:extLst>
            </p:cNvPr>
            <p:cNvSpPr txBox="1"/>
            <p:nvPr/>
          </p:nvSpPr>
          <p:spPr>
            <a:xfrm>
              <a:off x="0" y="-38100"/>
              <a:ext cx="4816593" cy="69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6"/>
                </a:lnSpc>
              </a:pPr>
              <a:endParaRPr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3BB651-3BC8-B614-165A-7C65F858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914" y="4728389"/>
            <a:ext cx="9296402" cy="1047911"/>
          </a:xfrm>
          <a:prstGeom prst="rect">
            <a:avLst/>
          </a:prstGeom>
        </p:spPr>
        <p:txBody>
          <a:bodyPr anchor="ctr"/>
          <a:lstStyle>
            <a:lvl1pPr>
              <a:defRPr sz="33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0BCF67E0-0EDD-6261-AE71-2CB233357A7B}"/>
              </a:ext>
            </a:extLst>
          </p:cNvPr>
          <p:cNvSpPr/>
          <p:nvPr/>
        </p:nvSpPr>
        <p:spPr>
          <a:xfrm rot="16200000">
            <a:off x="986804" y="4959077"/>
            <a:ext cx="670331" cy="586539"/>
          </a:xfrm>
          <a:custGeom>
            <a:avLst/>
            <a:gdLst/>
            <a:ahLst/>
            <a:cxnLst/>
            <a:rect l="l" t="t" r="r" b="b"/>
            <a:pathLst>
              <a:path w="812800" h="711200">
                <a:moveTo>
                  <a:pt x="406400" y="711200"/>
                </a:moveTo>
                <a:lnTo>
                  <a:pt x="812800" y="0"/>
                </a:lnTo>
                <a:lnTo>
                  <a:pt x="0" y="0"/>
                </a:lnTo>
                <a:lnTo>
                  <a:pt x="406400" y="711200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 lang="LID4096" sz="1350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0DCF7B7D-6AB0-545C-2A86-77C56DD2BF6C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</p:spTree>
    <p:extLst>
      <p:ext uri="{BB962C8B-B14F-4D97-AF65-F5344CB8AC3E}">
        <p14:creationId xmlns:p14="http://schemas.microsoft.com/office/powerpoint/2010/main" val="433410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2" y="457625"/>
            <a:ext cx="14231100" cy="723476"/>
          </a:xfrm>
          <a:prstGeom prst="rect">
            <a:avLst/>
          </a:prstGeom>
        </p:spPr>
        <p:txBody>
          <a:bodyPr anchor="ctr"/>
          <a:lstStyle/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38301"/>
            <a:ext cx="15773400" cy="8191076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3106201-DD67-E96D-0CCC-AD4B2DA29651}"/>
              </a:ext>
            </a:extLst>
          </p:cNvPr>
          <p:cNvSpPr/>
          <p:nvPr userDrawn="1"/>
        </p:nvSpPr>
        <p:spPr>
          <a:xfrm rot="5400000">
            <a:off x="381214" y="419315"/>
            <a:ext cx="799676" cy="723900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350"/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1C1F0BDE-B4C2-95B8-7DA9-A1301BEF5415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AB6ED849-F649-0FC7-D77D-31E0E0324B7C}"/>
              </a:ext>
            </a:extLst>
          </p:cNvPr>
          <p:cNvSpPr/>
          <p:nvPr userDrawn="1"/>
        </p:nvSpPr>
        <p:spPr>
          <a:xfrm rot="5400000" flipV="1">
            <a:off x="15568132" y="-108304"/>
            <a:ext cx="3706193" cy="3865652"/>
          </a:xfrm>
          <a:custGeom>
            <a:avLst/>
            <a:gdLst/>
            <a:ahLst/>
            <a:cxnLst/>
            <a:rect l="l" t="t" r="r" b="b"/>
            <a:pathLst>
              <a:path w="3706193" h="3865651">
                <a:moveTo>
                  <a:pt x="0" y="3865651"/>
                </a:moveTo>
                <a:lnTo>
                  <a:pt x="3706192" y="3865651"/>
                </a:lnTo>
                <a:lnTo>
                  <a:pt x="3706192" y="0"/>
                </a:lnTo>
                <a:lnTo>
                  <a:pt x="0" y="0"/>
                </a:lnTo>
                <a:lnTo>
                  <a:pt x="0" y="38656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072714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457625"/>
            <a:ext cx="15773400" cy="723476"/>
          </a:xfrm>
          <a:prstGeom prst="rect">
            <a:avLst/>
          </a:prstGeom>
        </p:spPr>
        <p:txBody>
          <a:bodyPr anchor="ctr"/>
          <a:lstStyle/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38301"/>
            <a:ext cx="15773400" cy="8191076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3106201-DD67-E96D-0CCC-AD4B2DA29651}"/>
              </a:ext>
            </a:extLst>
          </p:cNvPr>
          <p:cNvSpPr/>
          <p:nvPr userDrawn="1"/>
        </p:nvSpPr>
        <p:spPr>
          <a:xfrm rot="5400000">
            <a:off x="381214" y="419315"/>
            <a:ext cx="799676" cy="723900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350"/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1C1F0BDE-B4C2-95B8-7DA9-A1301BEF5415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</p:spTree>
    <p:extLst>
      <p:ext uri="{BB962C8B-B14F-4D97-AF65-F5344CB8AC3E}">
        <p14:creationId xmlns:p14="http://schemas.microsoft.com/office/powerpoint/2010/main" val="26781228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90700"/>
            <a:ext cx="17373600" cy="76200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0" y="1028700"/>
            <a:ext cx="18288000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</p:spTree>
    <p:extLst>
      <p:ext uri="{BB962C8B-B14F-4D97-AF65-F5344CB8AC3E}">
        <p14:creationId xmlns:p14="http://schemas.microsoft.com/office/powerpoint/2010/main" val="697476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5" y="1821873"/>
            <a:ext cx="17605613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1" y="1028700"/>
            <a:ext cx="18288000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A57699-8F66-E787-265F-5C6869E8CD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1195" y="5587617"/>
            <a:ext cx="17605613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01347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5" y="1821874"/>
            <a:ext cx="8193207" cy="7436429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3049" y="1028697"/>
            <a:ext cx="18284952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8CD55C-FE73-5E85-3387-5B94A1A645E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991604" y="1821876"/>
            <a:ext cx="8904959" cy="7436427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8601981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2" y="1790700"/>
            <a:ext cx="86868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1" y="1028700"/>
            <a:ext cx="18288000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A57699-8F66-E787-265F-5C6869E8CD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4802" y="5556444"/>
            <a:ext cx="17605613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CA60D7-1BA9-745E-7CC0-8D5AC3E3841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96402" y="1790700"/>
            <a:ext cx="86868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59602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36" y="5718464"/>
            <a:ext cx="86868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0" y="1028700"/>
            <a:ext cx="18288002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A57699-8F66-E787-265F-5C6869E8CD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3736" y="1911158"/>
            <a:ext cx="17605613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CA60D7-1BA9-745E-7CC0-8D5AC3E3841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355337" y="5718464"/>
            <a:ext cx="86868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597665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523" y="1821873"/>
            <a:ext cx="83820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0" y="1028700"/>
            <a:ext cx="18288002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A57699-8F66-E787-265F-5C6869E8CD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4523" y="5587617"/>
            <a:ext cx="83820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CA60D7-1BA9-745E-7CC0-8D5AC3E3841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391783" y="1793204"/>
            <a:ext cx="83820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B6079EB-E2C2-182A-D70A-C4970E5BA70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403723" y="5586846"/>
            <a:ext cx="83820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938945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90701"/>
            <a:ext cx="13030200" cy="8038676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0" y="1028700"/>
            <a:ext cx="18288002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3AB8D68-E032-F534-2276-F9A0EAD86290}"/>
              </a:ext>
            </a:extLst>
          </p:cNvPr>
          <p:cNvSpPr/>
          <p:nvPr userDrawn="1"/>
        </p:nvSpPr>
        <p:spPr>
          <a:xfrm>
            <a:off x="13700198" y="2842202"/>
            <a:ext cx="4283003" cy="3139499"/>
          </a:xfrm>
          <a:custGeom>
            <a:avLst/>
            <a:gdLst/>
            <a:ahLst/>
            <a:cxnLst/>
            <a:rect l="l" t="t" r="r" b="b"/>
            <a:pathLst>
              <a:path w="4283002" h="2891636">
                <a:moveTo>
                  <a:pt x="0" y="0"/>
                </a:moveTo>
                <a:lnTo>
                  <a:pt x="4283002" y="0"/>
                </a:lnTo>
                <a:lnTo>
                  <a:pt x="4283002" y="2891636"/>
                </a:lnTo>
                <a:lnTo>
                  <a:pt x="0" y="289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3" r="-103"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52C3D513-5EC7-B698-5F73-E05168553B8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D1033E-29D1-F227-8920-856270A13DC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944600" y="3771900"/>
            <a:ext cx="3733800" cy="1676400"/>
          </a:xfrm>
          <a:prstGeom prst="rect">
            <a:avLst/>
          </a:prstGeom>
        </p:spPr>
        <p:txBody>
          <a:bodyPr/>
          <a:lstStyle>
            <a:lvl1pPr>
              <a:defRPr sz="1425"/>
            </a:lvl1pPr>
            <a:lvl2pPr>
              <a:defRPr sz="1425"/>
            </a:lvl2pPr>
            <a:lvl3pPr>
              <a:defRPr sz="1425"/>
            </a:lvl3pPr>
            <a:lvl4pPr>
              <a:defRPr sz="1425"/>
            </a:lvl4pPr>
            <a:lvl5pPr>
              <a:defRPr sz="142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249158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content 2 - withou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1100"/>
            <a:ext cx="17373600" cy="8077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</p:spTree>
    <p:extLst>
      <p:ext uri="{BB962C8B-B14F-4D97-AF65-F5344CB8AC3E}">
        <p14:creationId xmlns:p14="http://schemas.microsoft.com/office/powerpoint/2010/main" val="36245414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600AD7B8-1008-44DF-8611-0B326913064C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9222" b="-9222"/>
            </a:stretch>
          </a:blipFill>
        </p:spPr>
        <p:txBody>
          <a:bodyPr/>
          <a:lstStyle/>
          <a:p>
            <a:endParaRPr lang="LID4096" sz="135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9FEB1C1D-EEE2-B6CE-42E3-31FE4F06BBF5}"/>
              </a:ext>
            </a:extLst>
          </p:cNvPr>
          <p:cNvGrpSpPr/>
          <p:nvPr userDrawn="1"/>
        </p:nvGrpSpPr>
        <p:grpSpPr>
          <a:xfrm rot="-10800000">
            <a:off x="1028701" y="7034067"/>
            <a:ext cx="4628072" cy="3348237"/>
            <a:chOff x="0" y="0"/>
            <a:chExt cx="983050" cy="711200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225440AD-9C10-43E7-23F6-5A2E4B936BB7}"/>
                </a:ext>
              </a:extLst>
            </p:cNvPr>
            <p:cNvSpPr/>
            <p:nvPr/>
          </p:nvSpPr>
          <p:spPr>
            <a:xfrm>
              <a:off x="0" y="0"/>
              <a:ext cx="983050" cy="711200"/>
            </a:xfrm>
            <a:custGeom>
              <a:avLst/>
              <a:gdLst/>
              <a:ahLst/>
              <a:cxnLst/>
              <a:rect l="l" t="t" r="r" b="b"/>
              <a:pathLst>
                <a:path w="983050" h="711200">
                  <a:moveTo>
                    <a:pt x="491525" y="711200"/>
                  </a:moveTo>
                  <a:lnTo>
                    <a:pt x="983050" y="0"/>
                  </a:lnTo>
                  <a:lnTo>
                    <a:pt x="0" y="0"/>
                  </a:lnTo>
                  <a:lnTo>
                    <a:pt x="491525" y="711200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9A9201D5-D0D1-40BD-A8F7-868C76D792C4}"/>
                </a:ext>
              </a:extLst>
            </p:cNvPr>
            <p:cNvSpPr txBox="1"/>
            <p:nvPr/>
          </p:nvSpPr>
          <p:spPr>
            <a:xfrm>
              <a:off x="153602" y="50800"/>
              <a:ext cx="675847" cy="330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5"/>
                </a:lnSpc>
              </a:pPr>
              <a:endParaRPr sz="1350"/>
            </a:p>
          </p:txBody>
        </p:sp>
      </p:grpSp>
      <p:grpSp>
        <p:nvGrpSpPr>
          <p:cNvPr id="9" name="Group 6">
            <a:extLst>
              <a:ext uri="{FF2B5EF4-FFF2-40B4-BE49-F238E27FC236}">
                <a16:creationId xmlns:a16="http://schemas.microsoft.com/office/drawing/2014/main" id="{6BA25E06-55A4-9962-6761-345B9654E2CE}"/>
              </a:ext>
            </a:extLst>
          </p:cNvPr>
          <p:cNvGrpSpPr/>
          <p:nvPr userDrawn="1"/>
        </p:nvGrpSpPr>
        <p:grpSpPr>
          <a:xfrm>
            <a:off x="-1890843" y="3493168"/>
            <a:ext cx="4943765" cy="6889136"/>
            <a:chOff x="0" y="0"/>
            <a:chExt cx="7917731" cy="11033356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7B7FB20E-17A6-6376-155C-895C20CDC41D}"/>
                </a:ext>
              </a:extLst>
            </p:cNvPr>
            <p:cNvSpPr/>
            <p:nvPr/>
          </p:nvSpPr>
          <p:spPr>
            <a:xfrm>
              <a:off x="0" y="0"/>
              <a:ext cx="7917731" cy="11033356"/>
            </a:xfrm>
            <a:custGeom>
              <a:avLst/>
              <a:gdLst/>
              <a:ahLst/>
              <a:cxnLst/>
              <a:rect l="l" t="t" r="r" b="b"/>
              <a:pathLst>
                <a:path w="7917731" h="11033356">
                  <a:moveTo>
                    <a:pt x="7917731" y="11033356"/>
                  </a:moveTo>
                  <a:lnTo>
                    <a:pt x="0" y="11033356"/>
                  </a:lnTo>
                  <a:lnTo>
                    <a:pt x="0" y="0"/>
                  </a:lnTo>
                  <a:lnTo>
                    <a:pt x="7917731" y="11033356"/>
                  </a:lnTo>
                  <a:close/>
                </a:path>
              </a:pathLst>
            </a:custGeom>
            <a:solidFill>
              <a:srgbClr val="08306B"/>
            </a:solid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BCA5F81B-C915-2CEC-03E3-D62F5A9A05C5}"/>
              </a:ext>
            </a:extLst>
          </p:cNvPr>
          <p:cNvGrpSpPr/>
          <p:nvPr userDrawn="1"/>
        </p:nvGrpSpPr>
        <p:grpSpPr>
          <a:xfrm rot="-10800000">
            <a:off x="14864156" y="-1283071"/>
            <a:ext cx="4943765" cy="6889136"/>
            <a:chOff x="0" y="0"/>
            <a:chExt cx="7917731" cy="11033356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B578446-35CF-A326-6CF0-7F39A2AB7ACB}"/>
                </a:ext>
              </a:extLst>
            </p:cNvPr>
            <p:cNvSpPr/>
            <p:nvPr/>
          </p:nvSpPr>
          <p:spPr>
            <a:xfrm>
              <a:off x="0" y="0"/>
              <a:ext cx="7917731" cy="11033356"/>
            </a:xfrm>
            <a:custGeom>
              <a:avLst/>
              <a:gdLst/>
              <a:ahLst/>
              <a:cxnLst/>
              <a:rect l="l" t="t" r="r" b="b"/>
              <a:pathLst>
                <a:path w="7917731" h="11033356">
                  <a:moveTo>
                    <a:pt x="7917731" y="11033356"/>
                  </a:moveTo>
                  <a:lnTo>
                    <a:pt x="0" y="11033356"/>
                  </a:lnTo>
                  <a:lnTo>
                    <a:pt x="0" y="0"/>
                  </a:lnTo>
                  <a:lnTo>
                    <a:pt x="7917731" y="11033356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</p:grpSp>
      <p:sp>
        <p:nvSpPr>
          <p:cNvPr id="13" name="Freeform 10">
            <a:extLst>
              <a:ext uri="{FF2B5EF4-FFF2-40B4-BE49-F238E27FC236}">
                <a16:creationId xmlns:a16="http://schemas.microsoft.com/office/drawing/2014/main" id="{6550D53C-9DD2-9AD8-D23E-9AF37DC371B9}"/>
              </a:ext>
            </a:extLst>
          </p:cNvPr>
          <p:cNvSpPr/>
          <p:nvPr userDrawn="1"/>
        </p:nvSpPr>
        <p:spPr>
          <a:xfrm>
            <a:off x="1120582" y="1028700"/>
            <a:ext cx="2702609" cy="769356"/>
          </a:xfrm>
          <a:custGeom>
            <a:avLst/>
            <a:gdLst/>
            <a:ahLst/>
            <a:cxnLst/>
            <a:rect l="l" t="t" r="r" b="b"/>
            <a:pathLst>
              <a:path w="2702609" h="769356">
                <a:moveTo>
                  <a:pt x="0" y="0"/>
                </a:moveTo>
                <a:lnTo>
                  <a:pt x="2702609" y="0"/>
                </a:lnTo>
                <a:lnTo>
                  <a:pt x="2702609" y="769356"/>
                </a:lnTo>
                <a:lnTo>
                  <a:pt x="0" y="76935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BD648B8D-25A2-C9C6-5B9D-B81047447F37}"/>
              </a:ext>
            </a:extLst>
          </p:cNvPr>
          <p:cNvSpPr txBox="1"/>
          <p:nvPr userDrawn="1"/>
        </p:nvSpPr>
        <p:spPr>
          <a:xfrm>
            <a:off x="5221096" y="4605790"/>
            <a:ext cx="7845812" cy="85921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7200" b="1" spc="-605" dirty="0">
                <a:solidFill>
                  <a:srgbClr val="08306B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THANK </a:t>
            </a:r>
            <a:r>
              <a:rPr lang="en-US" sz="7200" b="1" spc="-605" dirty="0">
                <a:solidFill>
                  <a:srgbClr val="CD393B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YOU</a:t>
            </a:r>
            <a:r>
              <a:rPr lang="en-US" sz="7200" b="1" spc="-605" dirty="0">
                <a:solidFill>
                  <a:srgbClr val="08306B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!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F85AD437-D3A1-C3A2-B557-4F6C85E5D453}"/>
              </a:ext>
            </a:extLst>
          </p:cNvPr>
          <p:cNvSpPr txBox="1"/>
          <p:nvPr userDrawn="1"/>
        </p:nvSpPr>
        <p:spPr>
          <a:xfrm>
            <a:off x="17216880" y="9210679"/>
            <a:ext cx="237244" cy="25160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03055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C7154-BF16-6962-C7BC-1EDAB65DB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1" y="0"/>
            <a:ext cx="18287999" cy="1028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4841E-ED9A-B03C-ABC9-93E6463F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289501"/>
            <a:ext cx="18288000" cy="1989137"/>
          </a:xfrm>
          <a:solidFill>
            <a:schemeClr val="tx1">
              <a:alpha val="49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Google Shape;40;p28">
            <a:extLst>
              <a:ext uri="{FF2B5EF4-FFF2-40B4-BE49-F238E27FC236}">
                <a16:creationId xmlns:a16="http://schemas.microsoft.com/office/drawing/2014/main" id="{73C9BCBC-A4DD-0FDD-F29A-6149ABC1A208}"/>
              </a:ext>
            </a:extLst>
          </p:cNvPr>
          <p:cNvSpPr/>
          <p:nvPr userDrawn="1"/>
        </p:nvSpPr>
        <p:spPr>
          <a:xfrm>
            <a:off x="17690304" y="969703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33125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C7154-BF16-6962-C7BC-1EDAB65DB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1" y="0"/>
            <a:ext cx="18287999" cy="1028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4841E-ED9A-B03C-ABC9-93E6463F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289501"/>
            <a:ext cx="18288000" cy="1989137"/>
          </a:xfrm>
          <a:solidFill>
            <a:schemeClr val="tx2">
              <a:alpha val="49000"/>
            </a:schemeClr>
          </a:solidFill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40;p28">
            <a:extLst>
              <a:ext uri="{FF2B5EF4-FFF2-40B4-BE49-F238E27FC236}">
                <a16:creationId xmlns:a16="http://schemas.microsoft.com/office/drawing/2014/main" id="{16A13D4B-A695-9487-2ED3-779F20D03465}"/>
              </a:ext>
            </a:extLst>
          </p:cNvPr>
          <p:cNvSpPr/>
          <p:nvPr userDrawn="1"/>
        </p:nvSpPr>
        <p:spPr>
          <a:xfrm>
            <a:off x="17690304" y="969703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7003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8288000" cy="14085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rtl="0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321169"/>
            <a:ext cx="17373600" cy="708953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800" dirty="0">
              <a:latin typeface="Pangram" panose="00000500000000000000" pitchFamily="50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68DDFE5-46DE-9D77-BA4F-8815377A65B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408529"/>
            <a:ext cx="18288000" cy="617219"/>
          </a:xfrm>
          <a:prstGeom prst="rect">
            <a:avLst/>
          </a:prstGeom>
          <a:solidFill>
            <a:srgbClr val="CB3B3D"/>
          </a:solidFill>
          <a:ln>
            <a:solidFill>
              <a:srgbClr val="CB3B3D"/>
            </a:solidFill>
          </a:ln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23" indent="0">
              <a:buNone/>
              <a:defRPr sz="2000"/>
            </a:lvl2pPr>
            <a:lvl3pPr marL="914445" indent="0">
              <a:buNone/>
              <a:defRPr sz="2000"/>
            </a:lvl3pPr>
            <a:lvl4pPr marL="1371669" indent="0">
              <a:buNone/>
              <a:defRPr sz="2000"/>
            </a:lvl4pPr>
            <a:lvl5pPr marL="1828892" indent="0">
              <a:buNone/>
              <a:defRPr sz="2000"/>
            </a:lvl5pPr>
          </a:lstStyle>
          <a:p>
            <a:pPr lvl="0"/>
            <a:r>
              <a:rPr lang="en-US" dirty="0"/>
              <a:t>    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66708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angram" panose="00000500000000000000" pitchFamily="50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angram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Pangram" panose="00000500000000000000" pitchFamily="50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027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Main content 2 - withou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1100"/>
            <a:ext cx="17373600" cy="8077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 dirty="0">
              <a:latin typeface="Pangram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831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5" y="1821874"/>
            <a:ext cx="8193207" cy="7436429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 dirty="0">
              <a:latin typeface="Pangram" panose="00000500000000000000" pitchFamily="50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8CD55C-FE73-5E85-3387-5B94A1A645E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991604" y="1821876"/>
            <a:ext cx="8904959" cy="7436427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7539518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C7154-BF16-6962-C7BC-1EDAB65DB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1" y="0"/>
            <a:ext cx="18287999" cy="1028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4841E-ED9A-B03C-ABC9-93E6463F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289501"/>
            <a:ext cx="18288000" cy="1989137"/>
          </a:xfrm>
          <a:solidFill>
            <a:schemeClr val="tx1">
              <a:alpha val="49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Google Shape;40;p28">
            <a:extLst>
              <a:ext uri="{FF2B5EF4-FFF2-40B4-BE49-F238E27FC236}">
                <a16:creationId xmlns:a16="http://schemas.microsoft.com/office/drawing/2014/main" id="{73C9BCBC-A4DD-0FDD-F29A-6149ABC1A208}"/>
              </a:ext>
            </a:extLst>
          </p:cNvPr>
          <p:cNvSpPr/>
          <p:nvPr userDrawn="1"/>
        </p:nvSpPr>
        <p:spPr>
          <a:xfrm>
            <a:off x="17690304" y="969703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97769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C7154-BF16-6962-C7BC-1EDAB65DB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1" y="0"/>
            <a:ext cx="18287999" cy="1028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4841E-ED9A-B03C-ABC9-93E6463F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289501"/>
            <a:ext cx="18288000" cy="1989137"/>
          </a:xfrm>
          <a:solidFill>
            <a:schemeClr val="tx2">
              <a:alpha val="49000"/>
            </a:schemeClr>
          </a:solidFill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40;p28">
            <a:extLst>
              <a:ext uri="{FF2B5EF4-FFF2-40B4-BE49-F238E27FC236}">
                <a16:creationId xmlns:a16="http://schemas.microsoft.com/office/drawing/2014/main" id="{16A13D4B-A695-9487-2ED3-779F20D03465}"/>
              </a:ext>
            </a:extLst>
          </p:cNvPr>
          <p:cNvSpPr/>
          <p:nvPr userDrawn="1"/>
        </p:nvSpPr>
        <p:spPr>
          <a:xfrm>
            <a:off x="17690304" y="969703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36827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8288000" cy="14085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rtl="0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321169"/>
            <a:ext cx="17373600" cy="708953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8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68DDFE5-46DE-9D77-BA4F-8815377A65B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408529"/>
            <a:ext cx="18288000" cy="617219"/>
          </a:xfrm>
          <a:prstGeom prst="rect">
            <a:avLst/>
          </a:prstGeom>
          <a:solidFill>
            <a:srgbClr val="CB3B3D"/>
          </a:solidFill>
          <a:ln>
            <a:solidFill>
              <a:srgbClr val="CB3B3D"/>
            </a:solidFill>
          </a:ln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23" indent="0">
              <a:buNone/>
              <a:defRPr sz="2000"/>
            </a:lvl2pPr>
            <a:lvl3pPr marL="914445" indent="0">
              <a:buNone/>
              <a:defRPr sz="2000"/>
            </a:lvl3pPr>
            <a:lvl4pPr marL="1371669" indent="0">
              <a:buNone/>
              <a:defRPr sz="2000"/>
            </a:lvl4pPr>
            <a:lvl5pPr marL="1828892" indent="0">
              <a:buNone/>
              <a:defRPr sz="2000"/>
            </a:lvl5pPr>
          </a:lstStyle>
          <a:p>
            <a:pPr lvl="0"/>
            <a:r>
              <a:rPr lang="en-US" dirty="0"/>
              <a:t>    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67726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781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Main content 2 - withou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1100"/>
            <a:ext cx="17373600" cy="8077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</p:spTree>
    <p:extLst>
      <p:ext uri="{BB962C8B-B14F-4D97-AF65-F5344CB8AC3E}">
        <p14:creationId xmlns:p14="http://schemas.microsoft.com/office/powerpoint/2010/main" val="32788210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5" y="1821874"/>
            <a:ext cx="8193207" cy="7436429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8CD55C-FE73-5E85-3387-5B94A1A645E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991604" y="1821876"/>
            <a:ext cx="8904959" cy="7436427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560640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A1CC-A821-3B5F-A85B-4264FACB7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1103" y="4185349"/>
            <a:ext cx="9189404" cy="848726"/>
          </a:xfrm>
          <a:prstGeom prst="rect">
            <a:avLst/>
          </a:prstGeom>
        </p:spPr>
        <p:txBody>
          <a:bodyPr anchor="ctr"/>
          <a:lstStyle>
            <a:lvl1pPr algn="ctr">
              <a:defRPr sz="3300">
                <a:latin typeface="Pangram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87873-92B9-3E1A-417B-8B95C02BE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1103" y="5062524"/>
            <a:ext cx="9189404" cy="533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2"/>
                </a:solidFill>
                <a:latin typeface="Pangram" panose="020B060402020202020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1" indent="0" algn="ctr">
              <a:buNone/>
              <a:defRPr sz="1200"/>
            </a:lvl4pPr>
            <a:lvl5pPr marL="1371669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4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LID4096" dirty="0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DA78FBA3-30E9-5F3F-F132-8401C7ECC1F5}"/>
              </a:ext>
            </a:extLst>
          </p:cNvPr>
          <p:cNvGrpSpPr/>
          <p:nvPr userDrawn="1"/>
        </p:nvGrpSpPr>
        <p:grpSpPr>
          <a:xfrm>
            <a:off x="-2977356" y="-1013464"/>
            <a:ext cx="6454199" cy="11300465"/>
            <a:chOff x="0" y="0"/>
            <a:chExt cx="5353494" cy="9373274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21A4380B-E3A4-28A0-B2F6-4CA1FD37C159}"/>
                </a:ext>
              </a:extLst>
            </p:cNvPr>
            <p:cNvSpPr/>
            <p:nvPr/>
          </p:nvSpPr>
          <p:spPr>
            <a:xfrm>
              <a:off x="0" y="0"/>
              <a:ext cx="5353493" cy="9373274"/>
            </a:xfrm>
            <a:custGeom>
              <a:avLst/>
              <a:gdLst/>
              <a:ahLst/>
              <a:cxnLst/>
              <a:rect l="l" t="t" r="r" b="b"/>
              <a:pathLst>
                <a:path w="5353493" h="9373274">
                  <a:moveTo>
                    <a:pt x="5353493" y="9373274"/>
                  </a:moveTo>
                  <a:lnTo>
                    <a:pt x="0" y="9373274"/>
                  </a:lnTo>
                  <a:lnTo>
                    <a:pt x="0" y="0"/>
                  </a:lnTo>
                  <a:lnTo>
                    <a:pt x="5353493" y="9373274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29AA280D-9F22-386E-D8C1-3C8A702ACDB9}"/>
              </a:ext>
            </a:extLst>
          </p:cNvPr>
          <p:cNvGrpSpPr/>
          <p:nvPr userDrawn="1"/>
        </p:nvGrpSpPr>
        <p:grpSpPr>
          <a:xfrm rot="5400000">
            <a:off x="-3038016" y="1441413"/>
            <a:ext cx="7902687" cy="4627544"/>
            <a:chOff x="0" y="0"/>
            <a:chExt cx="8209447" cy="4807171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9BC5B10-1341-0716-56A6-E58460F81C1C}"/>
                </a:ext>
              </a:extLst>
            </p:cNvPr>
            <p:cNvSpPr/>
            <p:nvPr/>
          </p:nvSpPr>
          <p:spPr>
            <a:xfrm>
              <a:off x="0" y="0"/>
              <a:ext cx="8209447" cy="4807171"/>
            </a:xfrm>
            <a:custGeom>
              <a:avLst/>
              <a:gdLst/>
              <a:ahLst/>
              <a:cxnLst/>
              <a:rect l="l" t="t" r="r" b="b"/>
              <a:pathLst>
                <a:path w="8209447" h="4807171">
                  <a:moveTo>
                    <a:pt x="8209447" y="4807171"/>
                  </a:moveTo>
                  <a:lnTo>
                    <a:pt x="0" y="4807171"/>
                  </a:lnTo>
                  <a:lnTo>
                    <a:pt x="0" y="0"/>
                  </a:lnTo>
                  <a:lnTo>
                    <a:pt x="8209447" y="4807171"/>
                  </a:lnTo>
                  <a:close/>
                </a:path>
              </a:pathLst>
            </a:custGeom>
            <a:solidFill>
              <a:srgbClr val="08306B"/>
            </a:solid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11" name="Group 6">
            <a:extLst>
              <a:ext uri="{FF2B5EF4-FFF2-40B4-BE49-F238E27FC236}">
                <a16:creationId xmlns:a16="http://schemas.microsoft.com/office/drawing/2014/main" id="{687D4BEC-39F0-5418-A7AD-9DCBB14C3CB9}"/>
              </a:ext>
            </a:extLst>
          </p:cNvPr>
          <p:cNvGrpSpPr/>
          <p:nvPr userDrawn="1"/>
        </p:nvGrpSpPr>
        <p:grpSpPr>
          <a:xfrm>
            <a:off x="-2318959" y="5143504"/>
            <a:ext cx="5777423" cy="4649837"/>
            <a:chOff x="0" y="0"/>
            <a:chExt cx="6785293" cy="5461000"/>
          </a:xfrm>
        </p:grpSpPr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59E9C432-C001-1C92-1D1B-54E2CCEDA20B}"/>
                </a:ext>
              </a:extLst>
            </p:cNvPr>
            <p:cNvSpPr/>
            <p:nvPr/>
          </p:nvSpPr>
          <p:spPr>
            <a:xfrm>
              <a:off x="63646" y="32385"/>
              <a:ext cx="6658000" cy="5396230"/>
            </a:xfrm>
            <a:custGeom>
              <a:avLst/>
              <a:gdLst/>
              <a:ahLst/>
              <a:cxnLst/>
              <a:rect l="l" t="t" r="r" b="b"/>
              <a:pathLst>
                <a:path w="6658000" h="5396230">
                  <a:moveTo>
                    <a:pt x="3329000" y="0"/>
                  </a:moveTo>
                  <a:lnTo>
                    <a:pt x="0" y="5396230"/>
                  </a:lnTo>
                  <a:lnTo>
                    <a:pt x="6658000" y="539623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11614" t="-600" r="-11513" b="-614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03E94984-66BE-D061-A990-7C2F418D785C}"/>
              </a:ext>
            </a:extLst>
          </p:cNvPr>
          <p:cNvGrpSpPr/>
          <p:nvPr userDrawn="1"/>
        </p:nvGrpSpPr>
        <p:grpSpPr>
          <a:xfrm>
            <a:off x="805629" y="73893"/>
            <a:ext cx="5305671" cy="4562877"/>
            <a:chOff x="0" y="0"/>
            <a:chExt cx="6350000" cy="5461000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CC89B0C0-3887-C814-0C6D-26A0A509EBC7}"/>
                </a:ext>
              </a:extLst>
            </p:cNvPr>
            <p:cNvSpPr/>
            <p:nvPr/>
          </p:nvSpPr>
          <p:spPr>
            <a:xfrm>
              <a:off x="59563" y="32385"/>
              <a:ext cx="6230874" cy="5396230"/>
            </a:xfrm>
            <a:custGeom>
              <a:avLst/>
              <a:gdLst/>
              <a:ahLst/>
              <a:cxnLst/>
              <a:rect l="l" t="t" r="r" b="b"/>
              <a:pathLst>
                <a:path w="6230874" h="5396230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14994" r="-14994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15" name="Group 10">
            <a:extLst>
              <a:ext uri="{FF2B5EF4-FFF2-40B4-BE49-F238E27FC236}">
                <a16:creationId xmlns:a16="http://schemas.microsoft.com/office/drawing/2014/main" id="{07EC3C92-846C-BC6D-60EB-6F2E7743D0F8}"/>
              </a:ext>
            </a:extLst>
          </p:cNvPr>
          <p:cNvGrpSpPr/>
          <p:nvPr userDrawn="1"/>
        </p:nvGrpSpPr>
        <p:grpSpPr>
          <a:xfrm>
            <a:off x="842390" y="4846238"/>
            <a:ext cx="5268911" cy="4562877"/>
            <a:chOff x="0" y="0"/>
            <a:chExt cx="6350000" cy="5499100"/>
          </a:xfrm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D4540B2E-2113-57EA-C39C-171C6AF89FA6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3175000" y="0"/>
                  </a:moveTo>
                  <a:lnTo>
                    <a:pt x="0" y="0"/>
                  </a:lnTo>
                  <a:lnTo>
                    <a:pt x="1587500" y="2749550"/>
                  </a:lnTo>
                  <a:lnTo>
                    <a:pt x="3175000" y="5499100"/>
                  </a:lnTo>
                  <a:lnTo>
                    <a:pt x="4762500" y="274955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14990" r="-14990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sp>
        <p:nvSpPr>
          <p:cNvPr id="17" name="Freeform 12">
            <a:extLst>
              <a:ext uri="{FF2B5EF4-FFF2-40B4-BE49-F238E27FC236}">
                <a16:creationId xmlns:a16="http://schemas.microsoft.com/office/drawing/2014/main" id="{4C319597-B819-8E7F-1AFE-653FB6B46A29}"/>
              </a:ext>
            </a:extLst>
          </p:cNvPr>
          <p:cNvSpPr/>
          <p:nvPr userDrawn="1"/>
        </p:nvSpPr>
        <p:spPr>
          <a:xfrm>
            <a:off x="15069034" y="644022"/>
            <a:ext cx="2702609" cy="769356"/>
          </a:xfrm>
          <a:custGeom>
            <a:avLst/>
            <a:gdLst/>
            <a:ahLst/>
            <a:cxnLst/>
            <a:rect l="l" t="t" r="r" b="b"/>
            <a:pathLst>
              <a:path w="2702609" h="769356">
                <a:moveTo>
                  <a:pt x="0" y="0"/>
                </a:moveTo>
                <a:lnTo>
                  <a:pt x="2702609" y="0"/>
                </a:lnTo>
                <a:lnTo>
                  <a:pt x="2702609" y="769356"/>
                </a:lnTo>
                <a:lnTo>
                  <a:pt x="0" y="769356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548C0E-A1F4-3342-2884-05CB6A86CA0D}"/>
              </a:ext>
            </a:extLst>
          </p:cNvPr>
          <p:cNvSpPr txBox="1">
            <a:spLocks/>
          </p:cNvSpPr>
          <p:nvPr userDrawn="1"/>
        </p:nvSpPr>
        <p:spPr>
          <a:xfrm>
            <a:off x="6591103" y="5624378"/>
            <a:ext cx="9189404" cy="53340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angram" panose="020B060402020202020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Date</a:t>
            </a:r>
            <a:endParaRPr lang="LID4096" sz="1800" b="1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7707348-983F-F5A8-0E8F-4C82AC963F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1300" y="6134100"/>
            <a:ext cx="9188451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latin typeface="Pangram" panose="020B0604020202020204" charset="0"/>
              </a:defRPr>
            </a:lvl1pPr>
          </a:lstStyle>
          <a:p>
            <a:pPr lvl="0"/>
            <a:r>
              <a:rPr lang="en-US" dirty="0"/>
              <a:t>Put client’s logo here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117063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A8F8F43C-39D9-3BA3-B332-E5D13013E6E1}"/>
              </a:ext>
            </a:extLst>
          </p:cNvPr>
          <p:cNvSpPr/>
          <p:nvPr userDrawn="1"/>
        </p:nvSpPr>
        <p:spPr>
          <a:xfrm>
            <a:off x="17054011" y="879638"/>
            <a:ext cx="201938" cy="804821"/>
          </a:xfrm>
          <a:custGeom>
            <a:avLst/>
            <a:gdLst/>
            <a:ahLst/>
            <a:cxnLst/>
            <a:rect l="l" t="t" r="r" b="b"/>
            <a:pathLst>
              <a:path w="201937" h="804821">
                <a:moveTo>
                  <a:pt x="0" y="0"/>
                </a:moveTo>
                <a:lnTo>
                  <a:pt x="201937" y="0"/>
                </a:lnTo>
                <a:lnTo>
                  <a:pt x="201937" y="804821"/>
                </a:lnTo>
                <a:lnTo>
                  <a:pt x="0" y="804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819705B8-F99D-D165-A20F-72743205BEBE}"/>
              </a:ext>
            </a:extLst>
          </p:cNvPr>
          <p:cNvSpPr txBox="1"/>
          <p:nvPr userDrawn="1"/>
        </p:nvSpPr>
        <p:spPr>
          <a:xfrm>
            <a:off x="7291130" y="2324156"/>
            <a:ext cx="7395227" cy="78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799" b="1" dirty="0">
                <a:solidFill>
                  <a:srgbClr val="CD393B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Table Of</a:t>
            </a:r>
            <a:r>
              <a:rPr lang="en-US" sz="4799" b="1" dirty="0">
                <a:solidFill>
                  <a:srgbClr val="EEA525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 </a:t>
            </a:r>
            <a:r>
              <a:rPr lang="en-US" sz="4799" b="1" dirty="0">
                <a:solidFill>
                  <a:srgbClr val="08306B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Content</a:t>
            </a:r>
          </a:p>
        </p:txBody>
      </p:sp>
      <p:grpSp>
        <p:nvGrpSpPr>
          <p:cNvPr id="34" name="Group 28">
            <a:extLst>
              <a:ext uri="{FF2B5EF4-FFF2-40B4-BE49-F238E27FC236}">
                <a16:creationId xmlns:a16="http://schemas.microsoft.com/office/drawing/2014/main" id="{2915768A-C58B-D31A-1D17-262E21FDAFB0}"/>
              </a:ext>
            </a:extLst>
          </p:cNvPr>
          <p:cNvGrpSpPr/>
          <p:nvPr userDrawn="1"/>
        </p:nvGrpSpPr>
        <p:grpSpPr>
          <a:xfrm>
            <a:off x="-1238052" y="-1013464"/>
            <a:ext cx="6454199" cy="11300465"/>
            <a:chOff x="0" y="0"/>
            <a:chExt cx="5353494" cy="9373274"/>
          </a:xfrm>
        </p:grpSpPr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1DAEF471-5D72-BA0F-A162-5153C3BBC94E}"/>
                </a:ext>
              </a:extLst>
            </p:cNvPr>
            <p:cNvSpPr/>
            <p:nvPr/>
          </p:nvSpPr>
          <p:spPr>
            <a:xfrm>
              <a:off x="0" y="0"/>
              <a:ext cx="5353493" cy="9373274"/>
            </a:xfrm>
            <a:custGeom>
              <a:avLst/>
              <a:gdLst/>
              <a:ahLst/>
              <a:cxnLst/>
              <a:rect l="l" t="t" r="r" b="b"/>
              <a:pathLst>
                <a:path w="5353493" h="9373274">
                  <a:moveTo>
                    <a:pt x="5353493" y="9373274"/>
                  </a:moveTo>
                  <a:lnTo>
                    <a:pt x="0" y="9373274"/>
                  </a:lnTo>
                  <a:lnTo>
                    <a:pt x="0" y="0"/>
                  </a:lnTo>
                  <a:lnTo>
                    <a:pt x="5353493" y="9373274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36" name="Group 30">
            <a:extLst>
              <a:ext uri="{FF2B5EF4-FFF2-40B4-BE49-F238E27FC236}">
                <a16:creationId xmlns:a16="http://schemas.microsoft.com/office/drawing/2014/main" id="{6886199E-6C69-0D63-9ADD-874A195156D6}"/>
              </a:ext>
            </a:extLst>
          </p:cNvPr>
          <p:cNvGrpSpPr/>
          <p:nvPr userDrawn="1"/>
        </p:nvGrpSpPr>
        <p:grpSpPr>
          <a:xfrm rot="5400000">
            <a:off x="-2980398" y="1628050"/>
            <a:ext cx="7902687" cy="4627544"/>
            <a:chOff x="0" y="0"/>
            <a:chExt cx="8209447" cy="4807171"/>
          </a:xfrm>
        </p:grpSpPr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698A4F66-209F-664D-4DCF-E7325E3515CC}"/>
                </a:ext>
              </a:extLst>
            </p:cNvPr>
            <p:cNvSpPr/>
            <p:nvPr/>
          </p:nvSpPr>
          <p:spPr>
            <a:xfrm>
              <a:off x="0" y="0"/>
              <a:ext cx="8209447" cy="4807171"/>
            </a:xfrm>
            <a:custGeom>
              <a:avLst/>
              <a:gdLst/>
              <a:ahLst/>
              <a:cxnLst/>
              <a:rect l="l" t="t" r="r" b="b"/>
              <a:pathLst>
                <a:path w="8209447" h="4807171">
                  <a:moveTo>
                    <a:pt x="8209447" y="4807171"/>
                  </a:moveTo>
                  <a:lnTo>
                    <a:pt x="0" y="4807171"/>
                  </a:lnTo>
                  <a:lnTo>
                    <a:pt x="0" y="0"/>
                  </a:lnTo>
                  <a:lnTo>
                    <a:pt x="8209447" y="4807171"/>
                  </a:lnTo>
                  <a:close/>
                </a:path>
              </a:pathLst>
            </a:custGeom>
            <a:solidFill>
              <a:srgbClr val="08306B"/>
            </a:solid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38" name="Group 32">
            <a:extLst>
              <a:ext uri="{FF2B5EF4-FFF2-40B4-BE49-F238E27FC236}">
                <a16:creationId xmlns:a16="http://schemas.microsoft.com/office/drawing/2014/main" id="{E728CB19-C999-199E-B4C4-C79930F4C9AD}"/>
              </a:ext>
            </a:extLst>
          </p:cNvPr>
          <p:cNvGrpSpPr/>
          <p:nvPr userDrawn="1"/>
        </p:nvGrpSpPr>
        <p:grpSpPr>
          <a:xfrm>
            <a:off x="890468" y="337116"/>
            <a:ext cx="5305671" cy="4562877"/>
            <a:chOff x="0" y="0"/>
            <a:chExt cx="6350000" cy="5461000"/>
          </a:xfrm>
        </p:grpSpPr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F189BF9D-E1DD-9433-2A89-F84A57F2994E}"/>
                </a:ext>
              </a:extLst>
            </p:cNvPr>
            <p:cNvSpPr/>
            <p:nvPr/>
          </p:nvSpPr>
          <p:spPr>
            <a:xfrm>
              <a:off x="59563" y="32385"/>
              <a:ext cx="6230874" cy="5396230"/>
            </a:xfrm>
            <a:custGeom>
              <a:avLst/>
              <a:gdLst/>
              <a:ahLst/>
              <a:cxnLst/>
              <a:rect l="l" t="t" r="r" b="b"/>
              <a:pathLst>
                <a:path w="6230874" h="5396230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14872" r="-14872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40" name="Group 34">
            <a:extLst>
              <a:ext uri="{FF2B5EF4-FFF2-40B4-BE49-F238E27FC236}">
                <a16:creationId xmlns:a16="http://schemas.microsoft.com/office/drawing/2014/main" id="{5AC9B381-B3DA-CB47-F837-85137CBC4A4E}"/>
              </a:ext>
            </a:extLst>
          </p:cNvPr>
          <p:cNvGrpSpPr/>
          <p:nvPr userDrawn="1"/>
        </p:nvGrpSpPr>
        <p:grpSpPr>
          <a:xfrm>
            <a:off x="774088" y="5297865"/>
            <a:ext cx="5268911" cy="4562877"/>
            <a:chOff x="0" y="0"/>
            <a:chExt cx="6350000" cy="5499100"/>
          </a:xfrm>
        </p:grpSpPr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B775357B-2663-6A1C-B20B-12A567A078A6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3175000" y="0"/>
                  </a:moveTo>
                  <a:lnTo>
                    <a:pt x="0" y="0"/>
                  </a:lnTo>
                  <a:lnTo>
                    <a:pt x="1587500" y="2749550"/>
                  </a:lnTo>
                  <a:lnTo>
                    <a:pt x="3175000" y="5499100"/>
                  </a:lnTo>
                  <a:lnTo>
                    <a:pt x="4762500" y="274955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14990" r="-14990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sp>
        <p:nvSpPr>
          <p:cNvPr id="42" name="Freeform 36">
            <a:extLst>
              <a:ext uri="{FF2B5EF4-FFF2-40B4-BE49-F238E27FC236}">
                <a16:creationId xmlns:a16="http://schemas.microsoft.com/office/drawing/2014/main" id="{E0728A0B-4C6C-B335-171B-685DB9FAB69F}"/>
              </a:ext>
            </a:extLst>
          </p:cNvPr>
          <p:cNvSpPr/>
          <p:nvPr userDrawn="1"/>
        </p:nvSpPr>
        <p:spPr>
          <a:xfrm>
            <a:off x="17025084" y="9338764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7"/>
                </a:lnTo>
                <a:lnTo>
                  <a:pt x="0" y="411447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45" name="Content Placeholder 44">
            <a:extLst>
              <a:ext uri="{FF2B5EF4-FFF2-40B4-BE49-F238E27FC236}">
                <a16:creationId xmlns:a16="http://schemas.microsoft.com/office/drawing/2014/main" id="{2DDBDDA1-82F5-0448-EDB8-A2D0D0D229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543800" y="3543300"/>
            <a:ext cx="8915400" cy="55626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068054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5FE2C7C1-444C-0508-9B7F-C91DDD4D645F}"/>
              </a:ext>
            </a:extLst>
          </p:cNvPr>
          <p:cNvGrpSpPr/>
          <p:nvPr userDrawn="1"/>
        </p:nvGrpSpPr>
        <p:grpSpPr>
          <a:xfrm>
            <a:off x="0" y="0"/>
            <a:ext cx="18288000" cy="10287000"/>
            <a:chOff x="0" y="0"/>
            <a:chExt cx="3921433" cy="2205806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B944BC9-87B0-BC40-7E1E-CFAB40CF8250}"/>
                </a:ext>
              </a:extLst>
            </p:cNvPr>
            <p:cNvSpPr/>
            <p:nvPr/>
          </p:nvSpPr>
          <p:spPr>
            <a:xfrm>
              <a:off x="0" y="0"/>
              <a:ext cx="3921433" cy="2205806"/>
            </a:xfrm>
            <a:custGeom>
              <a:avLst/>
              <a:gdLst/>
              <a:ahLst/>
              <a:cxnLst/>
              <a:rect l="l" t="t" r="r" b="b"/>
              <a:pathLst>
                <a:path w="3921433" h="2205806">
                  <a:moveTo>
                    <a:pt x="0" y="0"/>
                  </a:moveTo>
                  <a:lnTo>
                    <a:pt x="3921433" y="0"/>
                  </a:lnTo>
                  <a:lnTo>
                    <a:pt x="3921433" y="2205806"/>
                  </a:lnTo>
                  <a:lnTo>
                    <a:pt x="0" y="2205806"/>
                  </a:lnTo>
                  <a:close/>
                </a:path>
              </a:pathLst>
            </a:custGeom>
            <a:blipFill>
              <a:blip r:embed="rId2" cstate="email">
                <a:alphaModFix amt="5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9333" b="-9333"/>
              </a:stretch>
            </a:blipFill>
          </p:spPr>
          <p:txBody>
            <a:bodyPr/>
            <a:lstStyle/>
            <a:p>
              <a:endParaRPr lang="LID4096" sz="900"/>
            </a:p>
          </p:txBody>
        </p:sp>
      </p:grpSp>
      <p:grpSp>
        <p:nvGrpSpPr>
          <p:cNvPr id="9" name="Group 4">
            <a:extLst>
              <a:ext uri="{FF2B5EF4-FFF2-40B4-BE49-F238E27FC236}">
                <a16:creationId xmlns:a16="http://schemas.microsoft.com/office/drawing/2014/main" id="{1EB0CCBD-06C6-4A98-2EC9-918AE905883A}"/>
              </a:ext>
            </a:extLst>
          </p:cNvPr>
          <p:cNvGrpSpPr/>
          <p:nvPr userDrawn="1"/>
        </p:nvGrpSpPr>
        <p:grpSpPr>
          <a:xfrm>
            <a:off x="0" y="4008620"/>
            <a:ext cx="18288000" cy="2487455"/>
            <a:chOff x="0" y="0"/>
            <a:chExt cx="4816593" cy="655132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FBC0DCF-541B-43B7-A10A-6072FD5DDF4C}"/>
                </a:ext>
              </a:extLst>
            </p:cNvPr>
            <p:cNvSpPr/>
            <p:nvPr/>
          </p:nvSpPr>
          <p:spPr>
            <a:xfrm>
              <a:off x="0" y="0"/>
              <a:ext cx="4816592" cy="655132"/>
            </a:xfrm>
            <a:custGeom>
              <a:avLst/>
              <a:gdLst/>
              <a:ahLst/>
              <a:cxnLst/>
              <a:rect l="l" t="t" r="r" b="b"/>
              <a:pathLst>
                <a:path w="4816592" h="655132">
                  <a:moveTo>
                    <a:pt x="0" y="0"/>
                  </a:moveTo>
                  <a:lnTo>
                    <a:pt x="4816592" y="0"/>
                  </a:lnTo>
                  <a:lnTo>
                    <a:pt x="4816592" y="655132"/>
                  </a:lnTo>
                  <a:lnTo>
                    <a:pt x="0" y="655132"/>
                  </a:lnTo>
                  <a:close/>
                </a:path>
              </a:pathLst>
            </a:custGeom>
            <a:solidFill>
              <a:srgbClr val="08306B">
                <a:alpha val="64706"/>
              </a:srgbClr>
            </a:solidFill>
          </p:spPr>
          <p:txBody>
            <a:bodyPr/>
            <a:lstStyle/>
            <a:p>
              <a:endParaRPr lang="LID4096" sz="1200"/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8832F13E-E64F-1761-CC77-812B8C447AA3}"/>
                </a:ext>
              </a:extLst>
            </p:cNvPr>
            <p:cNvSpPr txBox="1"/>
            <p:nvPr/>
          </p:nvSpPr>
          <p:spPr>
            <a:xfrm>
              <a:off x="0" y="-38100"/>
              <a:ext cx="4816593" cy="69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6"/>
                </a:lnSpc>
              </a:pPr>
              <a:endParaRPr sz="120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3BB651-3BC8-B614-165A-7C65F858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914" y="4728389"/>
            <a:ext cx="9296402" cy="1047911"/>
          </a:xfrm>
          <a:prstGeom prst="rect">
            <a:avLst/>
          </a:prstGeom>
        </p:spPr>
        <p:txBody>
          <a:bodyPr anchor="ctr"/>
          <a:lstStyle>
            <a:lvl1pPr>
              <a:defRPr sz="33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DADA4CC6-D4B3-A018-269E-E65535460BB2}"/>
              </a:ext>
            </a:extLst>
          </p:cNvPr>
          <p:cNvGrpSpPr/>
          <p:nvPr userDrawn="1"/>
        </p:nvGrpSpPr>
        <p:grpSpPr>
          <a:xfrm rot="-5400000">
            <a:off x="986804" y="4959077"/>
            <a:ext cx="670331" cy="586539"/>
            <a:chOff x="0" y="0"/>
            <a:chExt cx="812800" cy="711200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0BCF67E0-0EDD-6261-AE71-2CB233357A7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D7807581-0CCB-F9A9-CB93-921AE7221F39}"/>
                </a:ext>
              </a:extLst>
            </p:cNvPr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6"/>
                </a:lnSpc>
              </a:pPr>
              <a:endParaRPr sz="1350"/>
            </a:p>
          </p:txBody>
        </p:sp>
      </p:grpSp>
      <p:sp>
        <p:nvSpPr>
          <p:cNvPr id="15" name="Freeform 10">
            <a:extLst>
              <a:ext uri="{FF2B5EF4-FFF2-40B4-BE49-F238E27FC236}">
                <a16:creationId xmlns:a16="http://schemas.microsoft.com/office/drawing/2014/main" id="{E402FB02-367D-3C14-DA54-0AC10919E177}"/>
              </a:ext>
            </a:extLst>
          </p:cNvPr>
          <p:cNvSpPr/>
          <p:nvPr userDrawn="1"/>
        </p:nvSpPr>
        <p:spPr>
          <a:xfrm>
            <a:off x="17449802" y="9563103"/>
            <a:ext cx="423383" cy="371877"/>
          </a:xfrm>
          <a:custGeom>
            <a:avLst/>
            <a:gdLst/>
            <a:ahLst/>
            <a:cxnLst/>
            <a:rect l="l" t="t" r="r" b="b"/>
            <a:pathLst>
              <a:path w="618164" h="542963">
                <a:moveTo>
                  <a:pt x="0" y="0"/>
                </a:moveTo>
                <a:lnTo>
                  <a:pt x="618164" y="0"/>
                </a:lnTo>
                <a:lnTo>
                  <a:pt x="618164" y="542962"/>
                </a:lnTo>
                <a:lnTo>
                  <a:pt x="0" y="542962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</p:spTree>
    <p:extLst>
      <p:ext uri="{BB962C8B-B14F-4D97-AF65-F5344CB8AC3E}">
        <p14:creationId xmlns:p14="http://schemas.microsoft.com/office/powerpoint/2010/main" val="6676982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to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E6CE5B8-241C-AADE-9BEC-B600AA904C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prstGeom prst="rect">
            <a:avLst/>
          </a:prstGeom>
        </p:spPr>
        <p:txBody>
          <a:bodyPr/>
          <a:lstStyle/>
          <a:p>
            <a:endParaRPr lang="LID4096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1EB0CCBD-06C6-4A98-2EC9-918AE905883A}"/>
              </a:ext>
            </a:extLst>
          </p:cNvPr>
          <p:cNvGrpSpPr/>
          <p:nvPr userDrawn="1"/>
        </p:nvGrpSpPr>
        <p:grpSpPr>
          <a:xfrm>
            <a:off x="0" y="4008620"/>
            <a:ext cx="18288000" cy="2487455"/>
            <a:chOff x="0" y="0"/>
            <a:chExt cx="4816593" cy="655132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FBC0DCF-541B-43B7-A10A-6072FD5DDF4C}"/>
                </a:ext>
              </a:extLst>
            </p:cNvPr>
            <p:cNvSpPr/>
            <p:nvPr/>
          </p:nvSpPr>
          <p:spPr>
            <a:xfrm>
              <a:off x="0" y="0"/>
              <a:ext cx="4816592" cy="655132"/>
            </a:xfrm>
            <a:custGeom>
              <a:avLst/>
              <a:gdLst/>
              <a:ahLst/>
              <a:cxnLst/>
              <a:rect l="l" t="t" r="r" b="b"/>
              <a:pathLst>
                <a:path w="4816592" h="655132">
                  <a:moveTo>
                    <a:pt x="0" y="0"/>
                  </a:moveTo>
                  <a:lnTo>
                    <a:pt x="4816592" y="0"/>
                  </a:lnTo>
                  <a:lnTo>
                    <a:pt x="4816592" y="655132"/>
                  </a:lnTo>
                  <a:lnTo>
                    <a:pt x="0" y="655132"/>
                  </a:lnTo>
                  <a:close/>
                </a:path>
              </a:pathLst>
            </a:custGeom>
            <a:solidFill>
              <a:srgbClr val="08306B">
                <a:alpha val="64706"/>
              </a:srgbClr>
            </a:solidFill>
          </p:spPr>
          <p:txBody>
            <a:bodyPr/>
            <a:lstStyle/>
            <a:p>
              <a:endParaRPr lang="LID4096" sz="1200"/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8832F13E-E64F-1761-CC77-812B8C447AA3}"/>
                </a:ext>
              </a:extLst>
            </p:cNvPr>
            <p:cNvSpPr txBox="1"/>
            <p:nvPr/>
          </p:nvSpPr>
          <p:spPr>
            <a:xfrm>
              <a:off x="0" y="-38100"/>
              <a:ext cx="4816593" cy="69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6"/>
                </a:lnSpc>
              </a:pPr>
              <a:endParaRPr sz="120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3BB651-3BC8-B614-165A-7C65F858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914" y="4728389"/>
            <a:ext cx="9296402" cy="1047911"/>
          </a:xfrm>
          <a:prstGeom prst="rect">
            <a:avLst/>
          </a:prstGeom>
        </p:spPr>
        <p:txBody>
          <a:bodyPr anchor="ctr"/>
          <a:lstStyle>
            <a:lvl1pPr>
              <a:defRPr sz="33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DADA4CC6-D4B3-A018-269E-E65535460BB2}"/>
              </a:ext>
            </a:extLst>
          </p:cNvPr>
          <p:cNvGrpSpPr/>
          <p:nvPr userDrawn="1"/>
        </p:nvGrpSpPr>
        <p:grpSpPr>
          <a:xfrm rot="-5400000">
            <a:off x="986804" y="4959077"/>
            <a:ext cx="670331" cy="586539"/>
            <a:chOff x="0" y="0"/>
            <a:chExt cx="812800" cy="711200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0BCF67E0-0EDD-6261-AE71-2CB233357A7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D7807581-0CCB-F9A9-CB93-921AE7221F39}"/>
                </a:ext>
              </a:extLst>
            </p:cNvPr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6"/>
                </a:lnSpc>
              </a:pPr>
              <a:endParaRPr sz="1350"/>
            </a:p>
          </p:txBody>
        </p:sp>
      </p:grpSp>
      <p:sp>
        <p:nvSpPr>
          <p:cNvPr id="5" name="Freeform 10">
            <a:extLst>
              <a:ext uri="{FF2B5EF4-FFF2-40B4-BE49-F238E27FC236}">
                <a16:creationId xmlns:a16="http://schemas.microsoft.com/office/drawing/2014/main" id="{D6C979E0-70A6-055F-FA03-5488FD92BAC1}"/>
              </a:ext>
            </a:extLst>
          </p:cNvPr>
          <p:cNvSpPr/>
          <p:nvPr userDrawn="1"/>
        </p:nvSpPr>
        <p:spPr>
          <a:xfrm>
            <a:off x="17449802" y="9563103"/>
            <a:ext cx="423383" cy="371877"/>
          </a:xfrm>
          <a:custGeom>
            <a:avLst/>
            <a:gdLst/>
            <a:ahLst/>
            <a:cxnLst/>
            <a:rect l="l" t="t" r="r" b="b"/>
            <a:pathLst>
              <a:path w="618164" h="542963">
                <a:moveTo>
                  <a:pt x="0" y="0"/>
                </a:moveTo>
                <a:lnTo>
                  <a:pt x="618164" y="0"/>
                </a:lnTo>
                <a:lnTo>
                  <a:pt x="618164" y="542962"/>
                </a:lnTo>
                <a:lnTo>
                  <a:pt x="0" y="54296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1B892E-073E-5CAB-6B38-1C4D534A36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8288000" cy="10287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578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CEA0D12-D1B6-B443-1E06-DD2A4AA98AE8}"/>
              </a:ext>
            </a:extLst>
          </p:cNvPr>
          <p:cNvGrpSpPr/>
          <p:nvPr userDrawn="1"/>
        </p:nvGrpSpPr>
        <p:grpSpPr>
          <a:xfrm>
            <a:off x="0" y="0"/>
            <a:ext cx="18288000" cy="10287000"/>
            <a:chOff x="0" y="0"/>
            <a:chExt cx="3921433" cy="2205806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335620F-5EF1-4D57-8CE7-03EBCFFBEAF0}"/>
                </a:ext>
              </a:extLst>
            </p:cNvPr>
            <p:cNvSpPr/>
            <p:nvPr/>
          </p:nvSpPr>
          <p:spPr>
            <a:xfrm>
              <a:off x="0" y="0"/>
              <a:ext cx="3921433" cy="2205806"/>
            </a:xfrm>
            <a:custGeom>
              <a:avLst/>
              <a:gdLst/>
              <a:ahLst/>
              <a:cxnLst/>
              <a:rect l="l" t="t" r="r" b="b"/>
              <a:pathLst>
                <a:path w="3921433" h="2205806">
                  <a:moveTo>
                    <a:pt x="0" y="0"/>
                  </a:moveTo>
                  <a:lnTo>
                    <a:pt x="3921433" y="0"/>
                  </a:lnTo>
                  <a:lnTo>
                    <a:pt x="3921433" y="2205806"/>
                  </a:lnTo>
                  <a:lnTo>
                    <a:pt x="0" y="2205806"/>
                  </a:lnTo>
                  <a:close/>
                </a:path>
              </a:pathLst>
            </a:custGeom>
            <a:blipFill>
              <a:blip r:embed="rId2" cstate="email">
                <a:alphaModFix amt="5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9333" b="-9333"/>
              </a:stretch>
            </a:blip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16" name="Group 4">
            <a:extLst>
              <a:ext uri="{FF2B5EF4-FFF2-40B4-BE49-F238E27FC236}">
                <a16:creationId xmlns:a16="http://schemas.microsoft.com/office/drawing/2014/main" id="{A4A52BDF-6A9B-0AB9-4A8F-4415693F47FB}"/>
              </a:ext>
            </a:extLst>
          </p:cNvPr>
          <p:cNvGrpSpPr/>
          <p:nvPr userDrawn="1"/>
        </p:nvGrpSpPr>
        <p:grpSpPr>
          <a:xfrm>
            <a:off x="0" y="4008620"/>
            <a:ext cx="18288000" cy="2487455"/>
            <a:chOff x="0" y="0"/>
            <a:chExt cx="4816593" cy="655132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4226EC9-4212-94D7-4FF1-FE9479A0D6DD}"/>
                </a:ext>
              </a:extLst>
            </p:cNvPr>
            <p:cNvSpPr/>
            <p:nvPr/>
          </p:nvSpPr>
          <p:spPr>
            <a:xfrm>
              <a:off x="0" y="0"/>
              <a:ext cx="4816592" cy="655132"/>
            </a:xfrm>
            <a:custGeom>
              <a:avLst/>
              <a:gdLst/>
              <a:ahLst/>
              <a:cxnLst/>
              <a:rect l="l" t="t" r="r" b="b"/>
              <a:pathLst>
                <a:path w="4816592" h="655132">
                  <a:moveTo>
                    <a:pt x="0" y="0"/>
                  </a:moveTo>
                  <a:lnTo>
                    <a:pt x="4816592" y="0"/>
                  </a:lnTo>
                  <a:lnTo>
                    <a:pt x="4816592" y="655132"/>
                  </a:lnTo>
                  <a:lnTo>
                    <a:pt x="0" y="655132"/>
                  </a:lnTo>
                  <a:close/>
                </a:path>
              </a:pathLst>
            </a:custGeom>
            <a:solidFill>
              <a:srgbClr val="CD393B">
                <a:alpha val="64706"/>
              </a:srgbClr>
            </a:solidFill>
          </p:spPr>
          <p:txBody>
            <a:bodyPr/>
            <a:lstStyle/>
            <a:p>
              <a:endParaRPr lang="LID4096" sz="1350"/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C2F40A1E-EAEA-F855-9B10-280ADDBF42A8}"/>
                </a:ext>
              </a:extLst>
            </p:cNvPr>
            <p:cNvSpPr txBox="1"/>
            <p:nvPr/>
          </p:nvSpPr>
          <p:spPr>
            <a:xfrm>
              <a:off x="0" y="-38100"/>
              <a:ext cx="4816593" cy="69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6"/>
                </a:lnSpc>
              </a:pPr>
              <a:endParaRPr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3BB651-3BC8-B614-165A-7C65F858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914" y="4728389"/>
            <a:ext cx="9296402" cy="1047911"/>
          </a:xfrm>
          <a:prstGeom prst="rect">
            <a:avLst/>
          </a:prstGeom>
        </p:spPr>
        <p:txBody>
          <a:bodyPr anchor="ctr"/>
          <a:lstStyle>
            <a:lvl1pPr>
              <a:defRPr sz="33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0BCF67E0-0EDD-6261-AE71-2CB233357A7B}"/>
              </a:ext>
            </a:extLst>
          </p:cNvPr>
          <p:cNvSpPr/>
          <p:nvPr/>
        </p:nvSpPr>
        <p:spPr>
          <a:xfrm rot="16200000">
            <a:off x="986804" y="4959077"/>
            <a:ext cx="670331" cy="586539"/>
          </a:xfrm>
          <a:custGeom>
            <a:avLst/>
            <a:gdLst/>
            <a:ahLst/>
            <a:cxnLst/>
            <a:rect l="l" t="t" r="r" b="b"/>
            <a:pathLst>
              <a:path w="812800" h="711200">
                <a:moveTo>
                  <a:pt x="406400" y="711200"/>
                </a:moveTo>
                <a:lnTo>
                  <a:pt x="812800" y="0"/>
                </a:lnTo>
                <a:lnTo>
                  <a:pt x="0" y="0"/>
                </a:lnTo>
                <a:lnTo>
                  <a:pt x="406400" y="711200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 lang="LID4096" sz="1350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0DCF7B7D-6AB0-545C-2A86-77C56DD2BF6C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</p:spTree>
    <p:extLst>
      <p:ext uri="{BB962C8B-B14F-4D97-AF65-F5344CB8AC3E}">
        <p14:creationId xmlns:p14="http://schemas.microsoft.com/office/powerpoint/2010/main" val="1409013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2" y="457625"/>
            <a:ext cx="14231100" cy="723476"/>
          </a:xfrm>
          <a:prstGeom prst="rect">
            <a:avLst/>
          </a:prstGeom>
        </p:spPr>
        <p:txBody>
          <a:bodyPr anchor="ctr"/>
          <a:lstStyle/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38301"/>
            <a:ext cx="15773400" cy="8191076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3106201-DD67-E96D-0CCC-AD4B2DA29651}"/>
              </a:ext>
            </a:extLst>
          </p:cNvPr>
          <p:cNvSpPr/>
          <p:nvPr userDrawn="1"/>
        </p:nvSpPr>
        <p:spPr>
          <a:xfrm rot="5400000">
            <a:off x="381214" y="419315"/>
            <a:ext cx="799676" cy="723900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350"/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1C1F0BDE-B4C2-95B8-7DA9-A1301BEF5415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AB6ED849-F649-0FC7-D77D-31E0E0324B7C}"/>
              </a:ext>
            </a:extLst>
          </p:cNvPr>
          <p:cNvSpPr/>
          <p:nvPr userDrawn="1"/>
        </p:nvSpPr>
        <p:spPr>
          <a:xfrm rot="5400000" flipV="1">
            <a:off x="15568132" y="-108304"/>
            <a:ext cx="3706193" cy="3865652"/>
          </a:xfrm>
          <a:custGeom>
            <a:avLst/>
            <a:gdLst/>
            <a:ahLst/>
            <a:cxnLst/>
            <a:rect l="l" t="t" r="r" b="b"/>
            <a:pathLst>
              <a:path w="3706193" h="3865651">
                <a:moveTo>
                  <a:pt x="0" y="3865651"/>
                </a:moveTo>
                <a:lnTo>
                  <a:pt x="3706192" y="3865651"/>
                </a:lnTo>
                <a:lnTo>
                  <a:pt x="3706192" y="0"/>
                </a:lnTo>
                <a:lnTo>
                  <a:pt x="0" y="0"/>
                </a:lnTo>
                <a:lnTo>
                  <a:pt x="0" y="38656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6078268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457625"/>
            <a:ext cx="15773400" cy="723476"/>
          </a:xfrm>
          <a:prstGeom prst="rect">
            <a:avLst/>
          </a:prstGeom>
        </p:spPr>
        <p:txBody>
          <a:bodyPr anchor="ctr"/>
          <a:lstStyle/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38301"/>
            <a:ext cx="15773400" cy="8191076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3106201-DD67-E96D-0CCC-AD4B2DA29651}"/>
              </a:ext>
            </a:extLst>
          </p:cNvPr>
          <p:cNvSpPr/>
          <p:nvPr userDrawn="1"/>
        </p:nvSpPr>
        <p:spPr>
          <a:xfrm rot="5400000">
            <a:off x="381214" y="419315"/>
            <a:ext cx="799676" cy="723900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350"/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1C1F0BDE-B4C2-95B8-7DA9-A1301BEF5415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</p:spTree>
    <p:extLst>
      <p:ext uri="{BB962C8B-B14F-4D97-AF65-F5344CB8AC3E}">
        <p14:creationId xmlns:p14="http://schemas.microsoft.com/office/powerpoint/2010/main" val="31418463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90700"/>
            <a:ext cx="17373600" cy="76200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0" y="1028700"/>
            <a:ext cx="18288000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</p:spTree>
    <p:extLst>
      <p:ext uri="{BB962C8B-B14F-4D97-AF65-F5344CB8AC3E}">
        <p14:creationId xmlns:p14="http://schemas.microsoft.com/office/powerpoint/2010/main" val="21218992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5" y="1821873"/>
            <a:ext cx="17605613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1" y="1028700"/>
            <a:ext cx="18288000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A57699-8F66-E787-265F-5C6869E8CD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1195" y="5587617"/>
            <a:ext cx="17605613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038697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5" y="1821874"/>
            <a:ext cx="8193207" cy="7436429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3049" y="1028697"/>
            <a:ext cx="18284952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8CD55C-FE73-5E85-3387-5B94A1A645E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991604" y="1821876"/>
            <a:ext cx="8904959" cy="7436427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1032847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2" y="1790700"/>
            <a:ext cx="86868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1" y="1028700"/>
            <a:ext cx="18288000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A57699-8F66-E787-265F-5C6869E8CD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4802" y="5556444"/>
            <a:ext cx="17605613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CA60D7-1BA9-745E-7CC0-8D5AC3E3841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96402" y="1790700"/>
            <a:ext cx="86868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45211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36" y="5718464"/>
            <a:ext cx="86868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0" y="1028700"/>
            <a:ext cx="18288002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A57699-8F66-E787-265F-5C6869E8CD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3736" y="1911158"/>
            <a:ext cx="17605613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CA60D7-1BA9-745E-7CC0-8D5AC3E3841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355337" y="5718464"/>
            <a:ext cx="86868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7774631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in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523" y="1821873"/>
            <a:ext cx="83820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0" y="1028700"/>
            <a:ext cx="18288002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A57699-8F66-E787-265F-5C6869E8CD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4523" y="5587617"/>
            <a:ext cx="83820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CA60D7-1BA9-745E-7CC0-8D5AC3E3841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391783" y="1793204"/>
            <a:ext cx="83820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B6079EB-E2C2-182A-D70A-C4970E5BA70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403723" y="5586846"/>
            <a:ext cx="8382002" cy="3505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298849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90701"/>
            <a:ext cx="13030200" cy="8038676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C482A-15BA-18ED-1D38-DF528EA9DC30}"/>
              </a:ext>
            </a:extLst>
          </p:cNvPr>
          <p:cNvSpPr txBox="1">
            <a:spLocks/>
          </p:cNvSpPr>
          <p:nvPr userDrawn="1"/>
        </p:nvSpPr>
        <p:spPr>
          <a:xfrm>
            <a:off x="0" y="1028700"/>
            <a:ext cx="18288002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LID4096" sz="150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3AB8D68-E032-F534-2276-F9A0EAD86290}"/>
              </a:ext>
            </a:extLst>
          </p:cNvPr>
          <p:cNvSpPr/>
          <p:nvPr userDrawn="1"/>
        </p:nvSpPr>
        <p:spPr>
          <a:xfrm>
            <a:off x="13700198" y="2842202"/>
            <a:ext cx="4283003" cy="3139499"/>
          </a:xfrm>
          <a:custGeom>
            <a:avLst/>
            <a:gdLst/>
            <a:ahLst/>
            <a:cxnLst/>
            <a:rect l="l" t="t" r="r" b="b"/>
            <a:pathLst>
              <a:path w="4283002" h="2891636">
                <a:moveTo>
                  <a:pt x="0" y="0"/>
                </a:moveTo>
                <a:lnTo>
                  <a:pt x="4283002" y="0"/>
                </a:lnTo>
                <a:lnTo>
                  <a:pt x="4283002" y="2891636"/>
                </a:lnTo>
                <a:lnTo>
                  <a:pt x="0" y="289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3" r="-103"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52C3D513-5EC7-B698-5F73-E05168553B8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D1033E-29D1-F227-8920-856270A13DC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944600" y="3771900"/>
            <a:ext cx="3733800" cy="1676400"/>
          </a:xfrm>
          <a:prstGeom prst="rect">
            <a:avLst/>
          </a:prstGeom>
        </p:spPr>
        <p:txBody>
          <a:bodyPr/>
          <a:lstStyle>
            <a:lvl1pPr>
              <a:defRPr sz="1425"/>
            </a:lvl1pPr>
            <a:lvl2pPr>
              <a:defRPr sz="1425"/>
            </a:lvl2pPr>
            <a:lvl3pPr>
              <a:defRPr sz="1425"/>
            </a:lvl3pPr>
            <a:lvl4pPr>
              <a:defRPr sz="1425"/>
            </a:lvl4pPr>
            <a:lvl5pPr>
              <a:defRPr sz="142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367647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content 2 - withou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A3BD-3F27-502C-57DF-E6BF9559C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 rtl="0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90C6-D163-4903-88B4-47D76DB1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1100"/>
            <a:ext cx="17373600" cy="807720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02B1AF2-8F5B-F298-3BBF-C13D86D31B00}"/>
              </a:ext>
            </a:extLst>
          </p:cNvPr>
          <p:cNvSpPr/>
          <p:nvPr userDrawn="1"/>
        </p:nvSpPr>
        <p:spPr>
          <a:xfrm>
            <a:off x="17441981" y="951884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</p:spTree>
    <p:extLst>
      <p:ext uri="{BB962C8B-B14F-4D97-AF65-F5344CB8AC3E}">
        <p14:creationId xmlns:p14="http://schemas.microsoft.com/office/powerpoint/2010/main" val="41508155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600AD7B8-1008-44DF-8611-0B326913064C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9222" b="-9222"/>
            </a:stretch>
          </a:blipFill>
        </p:spPr>
        <p:txBody>
          <a:bodyPr/>
          <a:lstStyle/>
          <a:p>
            <a:endParaRPr lang="LID4096" sz="135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9FEB1C1D-EEE2-B6CE-42E3-31FE4F06BBF5}"/>
              </a:ext>
            </a:extLst>
          </p:cNvPr>
          <p:cNvGrpSpPr/>
          <p:nvPr userDrawn="1"/>
        </p:nvGrpSpPr>
        <p:grpSpPr>
          <a:xfrm rot="-10800000">
            <a:off x="1028701" y="7034067"/>
            <a:ext cx="4628072" cy="3348237"/>
            <a:chOff x="0" y="0"/>
            <a:chExt cx="983050" cy="711200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225440AD-9C10-43E7-23F6-5A2E4B936BB7}"/>
                </a:ext>
              </a:extLst>
            </p:cNvPr>
            <p:cNvSpPr/>
            <p:nvPr/>
          </p:nvSpPr>
          <p:spPr>
            <a:xfrm>
              <a:off x="0" y="0"/>
              <a:ext cx="983050" cy="711200"/>
            </a:xfrm>
            <a:custGeom>
              <a:avLst/>
              <a:gdLst/>
              <a:ahLst/>
              <a:cxnLst/>
              <a:rect l="l" t="t" r="r" b="b"/>
              <a:pathLst>
                <a:path w="983050" h="711200">
                  <a:moveTo>
                    <a:pt x="491525" y="711200"/>
                  </a:moveTo>
                  <a:lnTo>
                    <a:pt x="983050" y="0"/>
                  </a:lnTo>
                  <a:lnTo>
                    <a:pt x="0" y="0"/>
                  </a:lnTo>
                  <a:lnTo>
                    <a:pt x="491525" y="711200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9A9201D5-D0D1-40BD-A8F7-868C76D792C4}"/>
                </a:ext>
              </a:extLst>
            </p:cNvPr>
            <p:cNvSpPr txBox="1"/>
            <p:nvPr/>
          </p:nvSpPr>
          <p:spPr>
            <a:xfrm>
              <a:off x="153602" y="50800"/>
              <a:ext cx="675847" cy="330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5"/>
                </a:lnSpc>
              </a:pPr>
              <a:endParaRPr sz="1350"/>
            </a:p>
          </p:txBody>
        </p:sp>
      </p:grpSp>
      <p:grpSp>
        <p:nvGrpSpPr>
          <p:cNvPr id="9" name="Group 6">
            <a:extLst>
              <a:ext uri="{FF2B5EF4-FFF2-40B4-BE49-F238E27FC236}">
                <a16:creationId xmlns:a16="http://schemas.microsoft.com/office/drawing/2014/main" id="{6BA25E06-55A4-9962-6761-345B9654E2CE}"/>
              </a:ext>
            </a:extLst>
          </p:cNvPr>
          <p:cNvGrpSpPr/>
          <p:nvPr userDrawn="1"/>
        </p:nvGrpSpPr>
        <p:grpSpPr>
          <a:xfrm>
            <a:off x="-1890843" y="3493168"/>
            <a:ext cx="4943765" cy="6889136"/>
            <a:chOff x="0" y="0"/>
            <a:chExt cx="7917731" cy="11033356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7B7FB20E-17A6-6376-155C-895C20CDC41D}"/>
                </a:ext>
              </a:extLst>
            </p:cNvPr>
            <p:cNvSpPr/>
            <p:nvPr/>
          </p:nvSpPr>
          <p:spPr>
            <a:xfrm>
              <a:off x="0" y="0"/>
              <a:ext cx="7917731" cy="11033356"/>
            </a:xfrm>
            <a:custGeom>
              <a:avLst/>
              <a:gdLst/>
              <a:ahLst/>
              <a:cxnLst/>
              <a:rect l="l" t="t" r="r" b="b"/>
              <a:pathLst>
                <a:path w="7917731" h="11033356">
                  <a:moveTo>
                    <a:pt x="7917731" y="11033356"/>
                  </a:moveTo>
                  <a:lnTo>
                    <a:pt x="0" y="11033356"/>
                  </a:lnTo>
                  <a:lnTo>
                    <a:pt x="0" y="0"/>
                  </a:lnTo>
                  <a:lnTo>
                    <a:pt x="7917731" y="11033356"/>
                  </a:lnTo>
                  <a:close/>
                </a:path>
              </a:pathLst>
            </a:custGeom>
            <a:solidFill>
              <a:srgbClr val="08306B"/>
            </a:solidFill>
          </p:spPr>
          <p:txBody>
            <a:bodyPr/>
            <a:lstStyle/>
            <a:p>
              <a:endParaRPr lang="LID4096" sz="1350"/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BCA5F81B-C915-2CEC-03E3-D62F5A9A05C5}"/>
              </a:ext>
            </a:extLst>
          </p:cNvPr>
          <p:cNvGrpSpPr/>
          <p:nvPr userDrawn="1"/>
        </p:nvGrpSpPr>
        <p:grpSpPr>
          <a:xfrm rot="-10800000">
            <a:off x="14864156" y="-1283071"/>
            <a:ext cx="4943765" cy="6889136"/>
            <a:chOff x="0" y="0"/>
            <a:chExt cx="7917731" cy="11033356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B578446-35CF-A326-6CF0-7F39A2AB7ACB}"/>
                </a:ext>
              </a:extLst>
            </p:cNvPr>
            <p:cNvSpPr/>
            <p:nvPr/>
          </p:nvSpPr>
          <p:spPr>
            <a:xfrm>
              <a:off x="0" y="0"/>
              <a:ext cx="7917731" cy="11033356"/>
            </a:xfrm>
            <a:custGeom>
              <a:avLst/>
              <a:gdLst/>
              <a:ahLst/>
              <a:cxnLst/>
              <a:rect l="l" t="t" r="r" b="b"/>
              <a:pathLst>
                <a:path w="7917731" h="11033356">
                  <a:moveTo>
                    <a:pt x="7917731" y="11033356"/>
                  </a:moveTo>
                  <a:lnTo>
                    <a:pt x="0" y="11033356"/>
                  </a:lnTo>
                  <a:lnTo>
                    <a:pt x="0" y="0"/>
                  </a:lnTo>
                  <a:lnTo>
                    <a:pt x="7917731" y="11033356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LID4096" sz="1350"/>
            </a:p>
          </p:txBody>
        </p:sp>
      </p:grpSp>
      <p:sp>
        <p:nvSpPr>
          <p:cNvPr id="13" name="Freeform 10">
            <a:extLst>
              <a:ext uri="{FF2B5EF4-FFF2-40B4-BE49-F238E27FC236}">
                <a16:creationId xmlns:a16="http://schemas.microsoft.com/office/drawing/2014/main" id="{6550D53C-9DD2-9AD8-D23E-9AF37DC371B9}"/>
              </a:ext>
            </a:extLst>
          </p:cNvPr>
          <p:cNvSpPr/>
          <p:nvPr userDrawn="1"/>
        </p:nvSpPr>
        <p:spPr>
          <a:xfrm>
            <a:off x="1120582" y="1028700"/>
            <a:ext cx="2702609" cy="769356"/>
          </a:xfrm>
          <a:custGeom>
            <a:avLst/>
            <a:gdLst/>
            <a:ahLst/>
            <a:cxnLst/>
            <a:rect l="l" t="t" r="r" b="b"/>
            <a:pathLst>
              <a:path w="2702609" h="769356">
                <a:moveTo>
                  <a:pt x="0" y="0"/>
                </a:moveTo>
                <a:lnTo>
                  <a:pt x="2702609" y="0"/>
                </a:lnTo>
                <a:lnTo>
                  <a:pt x="2702609" y="769356"/>
                </a:lnTo>
                <a:lnTo>
                  <a:pt x="0" y="76935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sz="1350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BD648B8D-25A2-C9C6-5B9D-B81047447F37}"/>
              </a:ext>
            </a:extLst>
          </p:cNvPr>
          <p:cNvSpPr txBox="1"/>
          <p:nvPr userDrawn="1"/>
        </p:nvSpPr>
        <p:spPr>
          <a:xfrm>
            <a:off x="5221096" y="4605790"/>
            <a:ext cx="7845812" cy="85921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7200" b="1" spc="-605" dirty="0">
                <a:solidFill>
                  <a:srgbClr val="08306B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THANK </a:t>
            </a:r>
            <a:r>
              <a:rPr lang="en-US" sz="7200" b="1" spc="-605" dirty="0">
                <a:solidFill>
                  <a:srgbClr val="CD393B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YOU</a:t>
            </a:r>
            <a:r>
              <a:rPr lang="en-US" sz="7200" b="1" spc="-605" dirty="0">
                <a:solidFill>
                  <a:srgbClr val="08306B"/>
                </a:solidFill>
                <a:latin typeface="Pangram ExtraLight" panose="00000300000000000000" pitchFamily="50" charset="0"/>
                <a:ea typeface="Pangram Bold"/>
                <a:cs typeface="Pangram Bold"/>
                <a:sym typeface="Pangram Bold"/>
              </a:rPr>
              <a:t>!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F85AD437-D3A1-C3A2-B557-4F6C85E5D453}"/>
              </a:ext>
            </a:extLst>
          </p:cNvPr>
          <p:cNvSpPr txBox="1"/>
          <p:nvPr userDrawn="1"/>
        </p:nvSpPr>
        <p:spPr>
          <a:xfrm>
            <a:off x="17216880" y="9210679"/>
            <a:ext cx="237244" cy="25160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7104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vmlDrawing" Target="../drawings/vmlDrawing2.v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3" Type="http://schemas.openxmlformats.org/officeDocument/2006/relationships/slideLayout" Target="../slideLayouts/slideLayout3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32.xml"/><Relationship Id="rId10" Type="http://schemas.openxmlformats.org/officeDocument/2006/relationships/oleObject" Target="../embeddings/oleObject3.bin"/><Relationship Id="rId4" Type="http://schemas.openxmlformats.org/officeDocument/2006/relationships/slideLayout" Target="../slideLayouts/slideLayout31.xml"/><Relationship Id="rId9" Type="http://schemas.openxmlformats.org/officeDocument/2006/relationships/tags" Target="../tags/tag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3" Type="http://schemas.openxmlformats.org/officeDocument/2006/relationships/slideLayout" Target="../slideLayouts/slideLayout36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38.xml"/><Relationship Id="rId10" Type="http://schemas.openxmlformats.org/officeDocument/2006/relationships/oleObject" Target="../embeddings/oleObject4.bin"/><Relationship Id="rId4" Type="http://schemas.openxmlformats.org/officeDocument/2006/relationships/slideLayout" Target="../slideLayouts/slideLayout37.xml"/><Relationship Id="rId9" Type="http://schemas.openxmlformats.org/officeDocument/2006/relationships/tags" Target="../tags/tag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vmlDrawing" Target="../drawings/vmlDrawing5.vml"/><Relationship Id="rId3" Type="http://schemas.openxmlformats.org/officeDocument/2006/relationships/slideLayout" Target="../slideLayouts/slideLayout42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oleObject" Target="../embeddings/oleObject2.bin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tags" Target="../tags/tag5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EDD9628-88C3-4550-94F0-A96F1F6206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6267226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think-cell Slide" r:id="rId15" imgW="378" imgH="377" progId="TCLayout.ActiveDocument.1">
                  <p:embed/>
                </p:oleObj>
              </mc:Choice>
              <mc:Fallback>
                <p:oleObj name="think-cell Slide" r:id="rId15" imgW="378" imgH="37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ngram" panose="00000500000000000000" pitchFamily="50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ngram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ngram" panose="00000500000000000000" pitchFamily="50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angram" panose="00000500000000000000" pitchFamily="50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A251D20-C307-40A0-8C36-65DBE8FD6EFB}"/>
              </a:ext>
            </a:extLst>
          </p:cNvPr>
          <p:cNvGraphicFramePr>
            <a:graphicFrameLocks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974152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think-cell Slide" r:id="rId20" imgW="378" imgH="377" progId="TCLayout.ActiveDocument.1">
                  <p:embed/>
                </p:oleObj>
              </mc:Choice>
              <mc:Fallback>
                <p:oleObj name="think-cell Slide" r:id="rId20" imgW="378" imgH="37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9535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txStyles>
    <p:titleStyle>
      <a:lvl1pPr algn="l" defTabSz="685835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9" indent="-171459" algn="l" defTabSz="68583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76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94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10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127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045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61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79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96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7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35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51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86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504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420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337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571E38B-F61F-438A-B6D4-81A53E681B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093095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think-cell Slide" r:id="rId10" imgW="378" imgH="377" progId="TCLayout.ActiveDocument.1">
                  <p:embed/>
                </p:oleObj>
              </mc:Choice>
              <mc:Fallback>
                <p:oleObj name="think-cell Slide" r:id="rId10" imgW="378" imgH="37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937C26-83C1-F143-A063-FF8000DD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BC2E6-26DD-F3FC-D444-E73399F05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316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angram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1C50DBD-A13D-4F2D-813D-1FF358FE10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864587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3" name="think-cell Slide" r:id="rId10" imgW="378" imgH="377" progId="TCLayout.ActiveDocument.1">
                  <p:embed/>
                </p:oleObj>
              </mc:Choice>
              <mc:Fallback>
                <p:oleObj name="think-cell Slide" r:id="rId10" imgW="378" imgH="37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937C26-83C1-F143-A063-FF8000DD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BC2E6-26DD-F3FC-D444-E73399F05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872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angram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A251D20-C307-40A0-8C36-65DBE8FD6EFB}"/>
              </a:ext>
            </a:extLst>
          </p:cNvPr>
          <p:cNvGraphicFramePr>
            <a:graphicFrameLocks/>
          </p:cNvGraphicFramePr>
          <p:nvPr userDrawn="1">
            <p:custDataLst>
              <p:tags r:id="rId19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name="think-cell Slide" r:id="rId20" imgW="378" imgH="377" progId="TCLayout.ActiveDocument.1">
                  <p:embed/>
                </p:oleObj>
              </mc:Choice>
              <mc:Fallback>
                <p:oleObj name="think-cell Slide" r:id="rId20" imgW="378" imgH="377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251D20-C307-40A0-8C36-65DBE8FD6E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209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</p:sldLayoutIdLst>
  <p:txStyles>
    <p:titleStyle>
      <a:lvl1pPr algn="l" defTabSz="685835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9" indent="-171459" algn="l" defTabSz="68583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76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94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10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127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045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61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79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96" indent="-171459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7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35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51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86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504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420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337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4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4" Type="http://schemas.openxmlformats.org/officeDocument/2006/relationships/chart" Target="../charts/char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4" Type="http://schemas.openxmlformats.org/officeDocument/2006/relationships/chart" Target="../charts/char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2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4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4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Relationship Id="rId5" Type="http://schemas.openxmlformats.org/officeDocument/2006/relationships/chart" Target="../charts/chart45.xml"/><Relationship Id="rId4" Type="http://schemas.openxmlformats.org/officeDocument/2006/relationships/chart" Target="../charts/chart4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6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Relationship Id="rId6" Type="http://schemas.openxmlformats.org/officeDocument/2006/relationships/chart" Target="../charts/chart49.xml"/><Relationship Id="rId5" Type="http://schemas.openxmlformats.org/officeDocument/2006/relationships/chart" Target="../charts/chart48.xml"/><Relationship Id="rId4" Type="http://schemas.openxmlformats.org/officeDocument/2006/relationships/chart" Target="../charts/chart4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7" Type="http://schemas.openxmlformats.org/officeDocument/2006/relationships/chart" Target="../charts/chart5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Relationship Id="rId6" Type="http://schemas.openxmlformats.org/officeDocument/2006/relationships/chart" Target="../charts/chart53.xml"/><Relationship Id="rId5" Type="http://schemas.openxmlformats.org/officeDocument/2006/relationships/chart" Target="../charts/chart52.xml"/><Relationship Id="rId4" Type="http://schemas.openxmlformats.org/officeDocument/2006/relationships/chart" Target="../charts/chart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5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5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7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Relationship Id="rId5" Type="http://schemas.openxmlformats.org/officeDocument/2006/relationships/chart" Target="../charts/chart59.xml"/><Relationship Id="rId4" Type="http://schemas.openxmlformats.org/officeDocument/2006/relationships/chart" Target="../charts/chart5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0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Relationship Id="rId6" Type="http://schemas.openxmlformats.org/officeDocument/2006/relationships/chart" Target="../charts/chart63.xml"/><Relationship Id="rId5" Type="http://schemas.openxmlformats.org/officeDocument/2006/relationships/chart" Target="../charts/chart62.xml"/><Relationship Id="rId4" Type="http://schemas.openxmlformats.org/officeDocument/2006/relationships/chart" Target="../charts/chart6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5.xml"/><Relationship Id="rId2" Type="http://schemas.openxmlformats.org/officeDocument/2006/relationships/chart" Target="../charts/chart64.xml"/><Relationship Id="rId1" Type="http://schemas.openxmlformats.org/officeDocument/2006/relationships/slideLayout" Target="../slideLayouts/slideLayout47.xml"/><Relationship Id="rId6" Type="http://schemas.openxmlformats.org/officeDocument/2006/relationships/chart" Target="../charts/chart68.xml"/><Relationship Id="rId5" Type="http://schemas.openxmlformats.org/officeDocument/2006/relationships/chart" Target="../charts/chart67.xml"/><Relationship Id="rId4" Type="http://schemas.openxmlformats.org/officeDocument/2006/relationships/chart" Target="../charts/chart66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4.xml"/><Relationship Id="rId3" Type="http://schemas.openxmlformats.org/officeDocument/2006/relationships/chart" Target="../charts/chart69.xml"/><Relationship Id="rId7" Type="http://schemas.openxmlformats.org/officeDocument/2006/relationships/chart" Target="../charts/chart7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7.xml"/><Relationship Id="rId6" Type="http://schemas.openxmlformats.org/officeDocument/2006/relationships/chart" Target="../charts/chart72.xml"/><Relationship Id="rId5" Type="http://schemas.openxmlformats.org/officeDocument/2006/relationships/chart" Target="../charts/chart71.xml"/><Relationship Id="rId4" Type="http://schemas.openxmlformats.org/officeDocument/2006/relationships/chart" Target="../charts/chart7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7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7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7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084" y="4185348"/>
            <a:ext cx="3484925" cy="6101652"/>
            <a:chOff x="0" y="0"/>
            <a:chExt cx="8605596" cy="150672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05647" cy="15067280"/>
            </a:xfrm>
            <a:custGeom>
              <a:avLst/>
              <a:gdLst/>
              <a:ahLst/>
              <a:cxnLst/>
              <a:rect l="l" t="t" r="r" b="b"/>
              <a:pathLst>
                <a:path w="8605647" h="15067280">
                  <a:moveTo>
                    <a:pt x="8605647" y="15067280"/>
                  </a:moveTo>
                  <a:lnTo>
                    <a:pt x="0" y="15067280"/>
                  </a:lnTo>
                  <a:lnTo>
                    <a:pt x="0" y="0"/>
                  </a:lnTo>
                  <a:lnTo>
                    <a:pt x="8605647" y="15067280"/>
                  </a:lnTo>
                  <a:close/>
                </a:path>
              </a:pathLst>
            </a:custGeom>
            <a:solidFill>
              <a:srgbClr val="CD393B"/>
            </a:solidFill>
          </p:spPr>
          <p:txBody>
            <a:bodyPr/>
            <a:lstStyle/>
            <a:p>
              <a:endParaRPr lang="en-GB" dirty="0">
                <a:latin typeface="Pangram" panose="00000500000000000000" pitchFamily="50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5400000">
            <a:off x="-1286535" y="1082292"/>
            <a:ext cx="5792084" cy="3235185"/>
            <a:chOff x="0" y="0"/>
            <a:chExt cx="10536916" cy="61700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536936" cy="6170041"/>
            </a:xfrm>
            <a:custGeom>
              <a:avLst/>
              <a:gdLst/>
              <a:ahLst/>
              <a:cxnLst/>
              <a:rect l="l" t="t" r="r" b="b"/>
              <a:pathLst>
                <a:path w="10536936" h="6170041">
                  <a:moveTo>
                    <a:pt x="10536936" y="6170041"/>
                  </a:moveTo>
                  <a:lnTo>
                    <a:pt x="0" y="6170041"/>
                  </a:lnTo>
                  <a:lnTo>
                    <a:pt x="0" y="0"/>
                  </a:lnTo>
                  <a:lnTo>
                    <a:pt x="10536936" y="6170041"/>
                  </a:lnTo>
                  <a:close/>
                </a:path>
              </a:pathLst>
            </a:custGeom>
            <a:solidFill>
              <a:srgbClr val="08306B"/>
            </a:solidFill>
          </p:spPr>
          <p:txBody>
            <a:bodyPr/>
            <a:lstStyle/>
            <a:p>
              <a:endParaRPr lang="en-GB" dirty="0">
                <a:latin typeface="Pangram" panose="00000500000000000000" pitchFamily="50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264767" y="5171078"/>
            <a:ext cx="5669037" cy="4594687"/>
            <a:chOff x="0" y="0"/>
            <a:chExt cx="7558716" cy="6126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558659" cy="6126226"/>
            </a:xfrm>
            <a:custGeom>
              <a:avLst/>
              <a:gdLst/>
              <a:ahLst/>
              <a:cxnLst/>
              <a:rect l="l" t="t" r="r" b="b"/>
              <a:pathLst>
                <a:path w="7558659" h="6126226">
                  <a:moveTo>
                    <a:pt x="3779393" y="0"/>
                  </a:moveTo>
                  <a:lnTo>
                    <a:pt x="0" y="6126226"/>
                  </a:lnTo>
                  <a:lnTo>
                    <a:pt x="7558659" y="6126226"/>
                  </a:lnTo>
                  <a:close/>
                </a:path>
              </a:pathLst>
            </a:custGeom>
            <a:blipFill>
              <a:blip r:embed="rId2"/>
              <a:stretch>
                <a:fillRect l="-10786" r="-10787"/>
              </a:stretch>
            </a:blipFill>
          </p:spPr>
          <p:txBody>
            <a:bodyPr/>
            <a:lstStyle/>
            <a:p>
              <a:endParaRPr lang="en-GB" dirty="0">
                <a:latin typeface="Pangram" panose="00000500000000000000" pitchFamily="50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5396" y="100952"/>
            <a:ext cx="5206137" cy="4508759"/>
            <a:chOff x="0" y="0"/>
            <a:chExt cx="6941515" cy="60116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41566" cy="6011672"/>
            </a:xfrm>
            <a:custGeom>
              <a:avLst/>
              <a:gdLst/>
              <a:ahLst/>
              <a:cxnLst/>
              <a:rect l="l" t="t" r="r" b="b"/>
              <a:pathLst>
                <a:path w="6941566" h="6011672">
                  <a:moveTo>
                    <a:pt x="3470783" y="0"/>
                  </a:moveTo>
                  <a:lnTo>
                    <a:pt x="0" y="6011672"/>
                  </a:lnTo>
                  <a:lnTo>
                    <a:pt x="6941566" y="6011672"/>
                  </a:lnTo>
                  <a:close/>
                </a:path>
              </a:pathLst>
            </a:custGeom>
            <a:blipFill>
              <a:blip r:embed="rId3"/>
              <a:stretch>
                <a:fillRect l="-15320" r="-15319"/>
              </a:stretch>
            </a:blipFill>
          </p:spPr>
          <p:txBody>
            <a:bodyPr/>
            <a:lstStyle/>
            <a:p>
              <a:endParaRPr lang="en-GB" dirty="0">
                <a:latin typeface="Pangram" panose="00000500000000000000" pitchFamily="50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2390" y="4846238"/>
            <a:ext cx="5268910" cy="4562877"/>
            <a:chOff x="0" y="0"/>
            <a:chExt cx="7025214" cy="60838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25259" cy="6083808"/>
            </a:xfrm>
            <a:custGeom>
              <a:avLst/>
              <a:gdLst/>
              <a:ahLst/>
              <a:cxnLst/>
              <a:rect l="l" t="t" r="r" b="b"/>
              <a:pathLst>
                <a:path w="7025259" h="6083808">
                  <a:moveTo>
                    <a:pt x="3512566" y="0"/>
                  </a:moveTo>
                  <a:lnTo>
                    <a:pt x="0" y="0"/>
                  </a:lnTo>
                  <a:lnTo>
                    <a:pt x="1756283" y="3041904"/>
                  </a:lnTo>
                  <a:lnTo>
                    <a:pt x="3512566" y="6083808"/>
                  </a:lnTo>
                  <a:lnTo>
                    <a:pt x="5268849" y="3041904"/>
                  </a:lnTo>
                  <a:lnTo>
                    <a:pt x="7025259" y="0"/>
                  </a:lnTo>
                  <a:close/>
                </a:path>
              </a:pathLst>
            </a:custGeom>
            <a:blipFill>
              <a:blip r:embed="rId4"/>
              <a:stretch>
                <a:fillRect l="-14949" r="-14949"/>
              </a:stretch>
            </a:blipFill>
          </p:spPr>
          <p:txBody>
            <a:bodyPr/>
            <a:lstStyle/>
            <a:p>
              <a:endParaRPr lang="en-GB" dirty="0">
                <a:latin typeface="Pangram" panose="00000500000000000000" pitchFamily="50" charset="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69033" y="644022"/>
            <a:ext cx="2702608" cy="769356"/>
            <a:chOff x="0" y="0"/>
            <a:chExt cx="3603478" cy="1025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03498" cy="1025779"/>
            </a:xfrm>
            <a:custGeom>
              <a:avLst/>
              <a:gdLst/>
              <a:ahLst/>
              <a:cxnLst/>
              <a:rect l="l" t="t" r="r" b="b"/>
              <a:pathLst>
                <a:path w="3603498" h="1025779">
                  <a:moveTo>
                    <a:pt x="0" y="0"/>
                  </a:moveTo>
                  <a:lnTo>
                    <a:pt x="3603498" y="0"/>
                  </a:lnTo>
                  <a:lnTo>
                    <a:pt x="3603498" y="1025779"/>
                  </a:lnTo>
                  <a:lnTo>
                    <a:pt x="0" y="1025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4" b="-97"/>
              </a:stretch>
            </a:blipFill>
          </p:spPr>
          <p:txBody>
            <a:bodyPr/>
            <a:lstStyle/>
            <a:p>
              <a:endParaRPr lang="en-GB" dirty="0">
                <a:latin typeface="Pangram" panose="00000500000000000000" pitchFamily="50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91102" y="5624378"/>
            <a:ext cx="9189403" cy="533400"/>
            <a:chOff x="0" y="0"/>
            <a:chExt cx="12252538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252538" cy="711200"/>
            </a:xfrm>
            <a:custGeom>
              <a:avLst/>
              <a:gdLst/>
              <a:ahLst/>
              <a:cxnLst/>
              <a:rect l="l" t="t" r="r" b="b"/>
              <a:pathLst>
                <a:path w="12252538" h="711200">
                  <a:moveTo>
                    <a:pt x="0" y="0"/>
                  </a:moveTo>
                  <a:lnTo>
                    <a:pt x="12252538" y="0"/>
                  </a:lnTo>
                  <a:lnTo>
                    <a:pt x="12252538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GB" dirty="0">
                <a:latin typeface="Pangram" panose="00000500000000000000" pitchFamily="50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12252538" cy="692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44"/>
                </a:lnSpc>
              </a:pPr>
              <a:r>
                <a:rPr lang="en-US" sz="1800" b="1" dirty="0">
                  <a:solidFill>
                    <a:srgbClr val="08306B"/>
                  </a:solidFill>
                  <a:latin typeface="Pangram ExtraLight" panose="00000300000000000000" pitchFamily="50" charset="0"/>
                  <a:ea typeface="Pangram Bold"/>
                  <a:cs typeface="Pangram Bold"/>
                  <a:sym typeface="Pangram Bold"/>
                </a:rPr>
                <a:t>Date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91102" y="4185348"/>
            <a:ext cx="9189403" cy="848725"/>
            <a:chOff x="0" y="0"/>
            <a:chExt cx="12252538" cy="113163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252538" cy="1131634"/>
            </a:xfrm>
            <a:custGeom>
              <a:avLst/>
              <a:gdLst/>
              <a:ahLst/>
              <a:cxnLst/>
              <a:rect l="l" t="t" r="r" b="b"/>
              <a:pathLst>
                <a:path w="12252538" h="1131634">
                  <a:moveTo>
                    <a:pt x="0" y="0"/>
                  </a:moveTo>
                  <a:lnTo>
                    <a:pt x="12252538" y="0"/>
                  </a:lnTo>
                  <a:lnTo>
                    <a:pt x="12252538" y="1131634"/>
                  </a:lnTo>
                  <a:lnTo>
                    <a:pt x="0" y="1131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GB" dirty="0">
                <a:latin typeface="Pangram" panose="00000500000000000000" pitchFamily="50" charset="0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7625"/>
              <a:ext cx="12252538" cy="10840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88"/>
                </a:lnSpc>
              </a:pPr>
              <a:r>
                <a:rPr lang="en-US" sz="3600" b="1" dirty="0">
                  <a:solidFill>
                    <a:srgbClr val="08306B"/>
                  </a:solidFill>
                  <a:latin typeface="Pangram" panose="00000500000000000000" pitchFamily="50" charset="0"/>
                  <a:ea typeface="Open Sans Bold"/>
                  <a:cs typeface="Open Sans Bold"/>
                  <a:sym typeface="Open Sans Bold"/>
                </a:rPr>
                <a:t>Report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91102" y="5062524"/>
            <a:ext cx="9189403" cy="533400"/>
            <a:chOff x="0" y="0"/>
            <a:chExt cx="12252538" cy="711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252538" cy="711200"/>
            </a:xfrm>
            <a:custGeom>
              <a:avLst/>
              <a:gdLst/>
              <a:ahLst/>
              <a:cxnLst/>
              <a:rect l="l" t="t" r="r" b="b"/>
              <a:pathLst>
                <a:path w="12252538" h="711200">
                  <a:moveTo>
                    <a:pt x="0" y="0"/>
                  </a:moveTo>
                  <a:lnTo>
                    <a:pt x="12252538" y="0"/>
                  </a:lnTo>
                  <a:lnTo>
                    <a:pt x="12252538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GB" dirty="0">
                <a:latin typeface="Pangram" panose="00000500000000000000" pitchFamily="50" charset="0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2252538" cy="682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92"/>
                </a:lnSpc>
              </a:pPr>
              <a:r>
                <a:rPr lang="en-US" sz="2400" b="1" dirty="0">
                  <a:solidFill>
                    <a:srgbClr val="CD393B"/>
                  </a:solidFill>
                  <a:latin typeface="Pangram ExtraLight" panose="00000300000000000000" pitchFamily="50" charset="0"/>
                  <a:ea typeface="Pangram Bold"/>
                  <a:cs typeface="Pangram Bold"/>
                  <a:sym typeface="Pangram Bold"/>
                </a:rPr>
                <a:t>Presented to: ‘Client’ 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D3707C3E-5357-C59B-3D4C-EF5B3C75A0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611561" y="2919512"/>
            <a:ext cx="3611561" cy="82437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8405-0C49-4F47-98E8-BC28BB32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Awareness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378DD-9870-4EDD-9510-40A91C269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6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2F5C-0305-607B-3E0F-226DD0F0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E7F7603E-6019-8006-1B11-D7AD159DD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Brand Awareness</a:t>
            </a:r>
          </a:p>
        </p:txBody>
      </p:sp>
      <p:graphicFrame>
        <p:nvGraphicFramePr>
          <p:cNvPr id="6" name="C1">
            <a:extLst>
              <a:ext uri="{FF2B5EF4-FFF2-40B4-BE49-F238E27FC236}">
                <a16:creationId xmlns:a16="http://schemas.microsoft.com/office/drawing/2014/main" id="{E299E885-9B6D-A51B-F80C-3A5660E6A8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7055708"/>
              </p:ext>
            </p:extLst>
          </p:nvPr>
        </p:nvGraphicFramePr>
        <p:xfrm>
          <a:off x="0" y="2237811"/>
          <a:ext cx="18105863" cy="7992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9BBFF65-5414-4346-B345-DB5BA5D9959D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1CE1B-6518-4C42-874C-BBA3BED76903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71931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C911-C25F-4275-B51E-CECBF41E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Source of Awareness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761817F-73FC-42A6-B6B7-3098DD418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1357937"/>
              </p:ext>
            </p:extLst>
          </p:nvPr>
        </p:nvGraphicFramePr>
        <p:xfrm>
          <a:off x="304799" y="1790700"/>
          <a:ext cx="10968347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166E7B-C015-479B-92D8-7E98D6798250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198675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0B00-1C4B-4D34-A257-E6B951D4E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Purchase Funnel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80-866B-458B-8800-AC3541DBE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52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D6C94-0925-FDEF-F9CE-D74AFE0D4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C29069C5-47C6-D165-F39A-5B2B6F4C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Purchase Funnel</a:t>
            </a:r>
          </a:p>
        </p:txBody>
      </p:sp>
      <p:graphicFrame>
        <p:nvGraphicFramePr>
          <p:cNvPr id="3" name="C1">
            <a:extLst>
              <a:ext uri="{FF2B5EF4-FFF2-40B4-BE49-F238E27FC236}">
                <a16:creationId xmlns:a16="http://schemas.microsoft.com/office/drawing/2014/main" id="{0094FCB9-C885-F0B6-51E6-4E678E1E0F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1583616"/>
              </p:ext>
            </p:extLst>
          </p:nvPr>
        </p:nvGraphicFramePr>
        <p:xfrm>
          <a:off x="334613" y="1809896"/>
          <a:ext cx="17618774" cy="7974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8A2339-07FA-44C9-8959-D6046652BBBF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46179E-4E59-4868-A879-1476696BF95C}"/>
              </a:ext>
            </a:extLst>
          </p:cNvPr>
          <p:cNvSpPr txBox="1"/>
          <p:nvPr/>
        </p:nvSpPr>
        <p:spPr>
          <a:xfrm>
            <a:off x="29737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71707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554CBA-9EEF-4BF2-9F8A-861EBCCB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781438"/>
              </p:ext>
            </p:extLst>
          </p:nvPr>
        </p:nvGraphicFramePr>
        <p:xfrm>
          <a:off x="4568285" y="8923669"/>
          <a:ext cx="2362200" cy="1296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3802406368"/>
                    </a:ext>
                  </a:extLst>
                </a:gridCol>
              </a:tblGrid>
              <a:tr h="741182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Attractiveness Ratio Average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831640"/>
                  </a:ext>
                </a:extLst>
              </a:tr>
              <a:tr h="55511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40316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526413-0D4C-4E37-8C4C-56721C234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88382"/>
              </p:ext>
            </p:extLst>
          </p:nvPr>
        </p:nvGraphicFramePr>
        <p:xfrm>
          <a:off x="13749451" y="8856187"/>
          <a:ext cx="2362200" cy="138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3802406368"/>
                    </a:ext>
                  </a:extLst>
                </a:gridCol>
              </a:tblGrid>
              <a:tr h="662869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Loyalty Ratio Average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831640"/>
                  </a:ext>
                </a:extLst>
              </a:tr>
              <a:tr h="62339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40316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65525CD-8892-44D1-A703-D827E4A91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522432"/>
              </p:ext>
            </p:extLst>
          </p:nvPr>
        </p:nvGraphicFramePr>
        <p:xfrm>
          <a:off x="8977658" y="8923669"/>
          <a:ext cx="2595445" cy="131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445">
                  <a:extLst>
                    <a:ext uri="{9D8B030D-6E8A-4147-A177-3AD203B41FA5}">
                      <a16:colId xmlns:a16="http://schemas.microsoft.com/office/drawing/2014/main" val="3802406368"/>
                    </a:ext>
                  </a:extLst>
                </a:gridCol>
              </a:tblGrid>
              <a:tr h="67951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Conversion Ratio Average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831640"/>
                  </a:ext>
                </a:extLst>
              </a:tr>
              <a:tr h="55591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40316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5785B7C-BEF3-41C9-9D64-5F23BD9A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Purchase Funnel Table</a:t>
            </a:r>
            <a:endParaRPr lang="en-US" sz="2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766245-E3EF-47CA-BF59-012B76AA16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543276"/>
              </p:ext>
            </p:extLst>
          </p:nvPr>
        </p:nvGraphicFramePr>
        <p:xfrm>
          <a:off x="29736" y="1714500"/>
          <a:ext cx="18258263" cy="7209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283">
                  <a:extLst>
                    <a:ext uri="{9D8B030D-6E8A-4147-A177-3AD203B41FA5}">
                      <a16:colId xmlns:a16="http://schemas.microsoft.com/office/drawing/2014/main" val="2169483415"/>
                    </a:ext>
                  </a:extLst>
                </a:gridCol>
                <a:gridCol w="2301707">
                  <a:extLst>
                    <a:ext uri="{9D8B030D-6E8A-4147-A177-3AD203B41FA5}">
                      <a16:colId xmlns:a16="http://schemas.microsoft.com/office/drawing/2014/main" val="818377177"/>
                    </a:ext>
                  </a:extLst>
                </a:gridCol>
                <a:gridCol w="2486231">
                  <a:extLst>
                    <a:ext uri="{9D8B030D-6E8A-4147-A177-3AD203B41FA5}">
                      <a16:colId xmlns:a16="http://schemas.microsoft.com/office/drawing/2014/main" val="3643566507"/>
                    </a:ext>
                  </a:extLst>
                </a:gridCol>
                <a:gridCol w="2058910">
                  <a:extLst>
                    <a:ext uri="{9D8B030D-6E8A-4147-A177-3AD203B41FA5}">
                      <a16:colId xmlns:a16="http://schemas.microsoft.com/office/drawing/2014/main" val="949455137"/>
                    </a:ext>
                  </a:extLst>
                </a:gridCol>
                <a:gridCol w="2282283">
                  <a:extLst>
                    <a:ext uri="{9D8B030D-6E8A-4147-A177-3AD203B41FA5}">
                      <a16:colId xmlns:a16="http://schemas.microsoft.com/office/drawing/2014/main" val="2028004720"/>
                    </a:ext>
                  </a:extLst>
                </a:gridCol>
                <a:gridCol w="2282283">
                  <a:extLst>
                    <a:ext uri="{9D8B030D-6E8A-4147-A177-3AD203B41FA5}">
                      <a16:colId xmlns:a16="http://schemas.microsoft.com/office/drawing/2014/main" val="2677158364"/>
                    </a:ext>
                  </a:extLst>
                </a:gridCol>
                <a:gridCol w="2282283">
                  <a:extLst>
                    <a:ext uri="{9D8B030D-6E8A-4147-A177-3AD203B41FA5}">
                      <a16:colId xmlns:a16="http://schemas.microsoft.com/office/drawing/2014/main" val="1336322232"/>
                    </a:ext>
                  </a:extLst>
                </a:gridCol>
                <a:gridCol w="2282283">
                  <a:extLst>
                    <a:ext uri="{9D8B030D-6E8A-4147-A177-3AD203B41FA5}">
                      <a16:colId xmlns:a16="http://schemas.microsoft.com/office/drawing/2014/main" val="3008700425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pf_table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Total Awareness</a:t>
                      </a:r>
                    </a:p>
                  </a:txBody>
                  <a:tcPr marL="88716" marR="88716"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73D75"/>
                          </a:solidFill>
                        </a:rPr>
                        <a:t>Attractiveness Ratio</a:t>
                      </a:r>
                    </a:p>
                  </a:txBody>
                  <a:tcPr marL="88716" marR="88716"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Trial</a:t>
                      </a:r>
                    </a:p>
                  </a:txBody>
                  <a:tcPr marL="88716" marR="88716"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73D75"/>
                          </a:solidFill>
                        </a:rPr>
                        <a:t>Conversion Ratio</a:t>
                      </a:r>
                    </a:p>
                  </a:txBody>
                  <a:tcPr marL="88716" marR="88716"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Repurchase</a:t>
                      </a:r>
                    </a:p>
                  </a:txBody>
                  <a:tcPr marL="88716" marR="88716"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173D75"/>
                          </a:solidFill>
                        </a:rPr>
                        <a:t>Loyalty Ratio</a:t>
                      </a:r>
                    </a:p>
                  </a:txBody>
                  <a:tcPr marL="88716" marR="88716"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MOU</a:t>
                      </a:r>
                    </a:p>
                  </a:txBody>
                  <a:tcPr marL="88716" marR="88716"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180523"/>
                  </a:ext>
                </a:extLst>
              </a:tr>
              <a:tr h="621857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Brand1</a:t>
                      </a:r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0%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rgbClr val="002060"/>
                          </a:solidFill>
                        </a:rPr>
                        <a:t>0%</a:t>
                      </a:r>
                      <a:endParaRPr sz="1700" dirty="0">
                        <a:solidFill>
                          <a:srgbClr val="002060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/>
                        <a:t>93%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/>
                        <a:t>86%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100</a:t>
                      </a:r>
                      <a:r>
                        <a:rPr sz="170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987432"/>
                  </a:ext>
                </a:extLst>
              </a:tr>
              <a:tr h="621857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Brand2</a:t>
                      </a:r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0%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0%</a:t>
                      </a:r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/>
                        <a:t>63%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/>
                        <a:t>31%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100</a:t>
                      </a:r>
                      <a:r>
                        <a:rPr sz="170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022508"/>
                  </a:ext>
                </a:extLst>
              </a:tr>
              <a:tr h="621857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Brand3</a:t>
                      </a:r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0%</a:t>
                      </a:r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0%</a:t>
                      </a:r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/>
                        <a:t>75%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/>
                        <a:t>44%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100</a:t>
                      </a:r>
                      <a:r>
                        <a:rPr sz="170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925637"/>
                  </a:ext>
                </a:extLst>
              </a:tr>
              <a:tr h="621857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Brand4</a:t>
                      </a:r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0%</a:t>
                      </a:r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0%</a:t>
                      </a:r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/>
                        <a:t>62%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/>
                        <a:t>35%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100</a:t>
                      </a:r>
                      <a:r>
                        <a:rPr sz="170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29269"/>
                  </a:ext>
                </a:extLst>
              </a:tr>
              <a:tr h="621857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Brand5</a:t>
                      </a:r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0%</a:t>
                      </a:r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0%</a:t>
                      </a:r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/>
                        <a:t>58%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sz="1700" b="1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/>
                        <a:t>16%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00</a:t>
                      </a:r>
                      <a:r>
                        <a:rPr sz="170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331022"/>
                  </a:ext>
                </a:extLst>
              </a:tr>
              <a:tr h="621857"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114562"/>
                  </a:ext>
                </a:extLst>
              </a:tr>
              <a:tr h="621857"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958028"/>
                  </a:ext>
                </a:extLst>
              </a:tr>
              <a:tr h="621857"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844785"/>
                  </a:ext>
                </a:extLst>
              </a:tr>
              <a:tr h="621857"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888196"/>
                  </a:ext>
                </a:extLst>
              </a:tr>
              <a:tr h="621857"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/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700" dirty="0">
                        <a:solidFill>
                          <a:schemeClr val="bg1"/>
                        </a:solidFill>
                      </a:endParaRPr>
                    </a:p>
                  </a:txBody>
                  <a:tcPr marL="88716" marR="88716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181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C180ABE-BC89-4873-B0D8-FAAF036E8CBB}"/>
              </a:ext>
            </a:extLst>
          </p:cNvPr>
          <p:cNvSpPr txBox="1"/>
          <p:nvPr/>
        </p:nvSpPr>
        <p:spPr>
          <a:xfrm>
            <a:off x="29737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9AEF5-D6EC-4035-ADBB-2B1FDD52ED42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82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EC3E-CF2B-4E9C-B361-5D76C16E4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Habits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90499-DAC7-48FB-A0FB-7EE9972B0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66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9795-4093-276D-05D1-E87C6CCDC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9695-EAFA-F155-694B-0B43C285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Category entry point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DF7880D-0E16-4BD8-9EEA-46BF4DE4C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2349146"/>
              </p:ext>
            </p:extLst>
          </p:nvPr>
        </p:nvGraphicFramePr>
        <p:xfrm>
          <a:off x="0" y="2052935"/>
          <a:ext cx="18288000" cy="716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3165FF4-6C75-4B72-AC45-EAB6012A5197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A8D68-4919-47D4-B19D-64CEA42275A5}"/>
              </a:ext>
            </a:extLst>
          </p:cNvPr>
          <p:cNvSpPr txBox="1"/>
          <p:nvPr/>
        </p:nvSpPr>
        <p:spPr>
          <a:xfrm>
            <a:off x="29737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1273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367F8-AAED-9BFC-61B4-48B5C6A4C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929-E45B-6433-554B-FBC29C96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Usage time and occasions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87821-3548-1308-0114-D27BA208B204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subtitle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BEF73B-3A79-E125-D32A-680AD3534A4F}"/>
              </a:ext>
            </a:extLst>
          </p:cNvPr>
          <p:cNvCxnSpPr>
            <a:cxnSpLocks/>
          </p:cNvCxnSpPr>
          <p:nvPr/>
        </p:nvCxnSpPr>
        <p:spPr>
          <a:xfrm>
            <a:off x="9144000" y="2781300"/>
            <a:ext cx="0" cy="60198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8C71B2E-7FE5-36DA-9472-02A91949A7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2654994"/>
              </p:ext>
            </p:extLst>
          </p:nvPr>
        </p:nvGraphicFramePr>
        <p:xfrm>
          <a:off x="0" y="1605782"/>
          <a:ext cx="8915393" cy="7880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EB8C9EF-3DAF-7764-B4B3-C01877E336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5253237"/>
              </p:ext>
            </p:extLst>
          </p:nvPr>
        </p:nvGraphicFramePr>
        <p:xfrm>
          <a:off x="9372608" y="1605781"/>
          <a:ext cx="8991592" cy="806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6F690B5-4189-4DD6-8C08-9A236D7F58DC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324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A0D5D-2EDD-B0C2-FABA-55E93437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Usage frequency and places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6A6C6-64AC-4C84-79A1-89FD79A310A8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subtitle</a:t>
            </a:r>
          </a:p>
        </p:txBody>
      </p:sp>
      <p:graphicFrame>
        <p:nvGraphicFramePr>
          <p:cNvPr id="13" name="C2">
            <a:extLst>
              <a:ext uri="{FF2B5EF4-FFF2-40B4-BE49-F238E27FC236}">
                <a16:creationId xmlns:a16="http://schemas.microsoft.com/office/drawing/2014/main" id="{83258894-04DB-26E3-8C8F-045FD3E031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607053"/>
              </p:ext>
            </p:extLst>
          </p:nvPr>
        </p:nvGraphicFramePr>
        <p:xfrm>
          <a:off x="9525000" y="1806754"/>
          <a:ext cx="8267140" cy="7451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0A58080-116C-41BE-9B9F-DFD406CBEF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1884194"/>
              </p:ext>
            </p:extLst>
          </p:nvPr>
        </p:nvGraphicFramePr>
        <p:xfrm>
          <a:off x="1" y="1806753"/>
          <a:ext cx="9829790" cy="7451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67E4DA-EFDD-456B-A704-4878266FD242}"/>
              </a:ext>
            </a:extLst>
          </p:cNvPr>
          <p:cNvCxnSpPr>
            <a:cxnSpLocks/>
          </p:cNvCxnSpPr>
          <p:nvPr/>
        </p:nvCxnSpPr>
        <p:spPr>
          <a:xfrm>
            <a:off x="9829800" y="2781300"/>
            <a:ext cx="0" cy="60198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0E25046-E498-4833-A44A-E23BDD462CAE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70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84A4-4905-46BF-99FD-EFD3DA761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Purchase Habits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915A8-49BF-4E3A-B7AE-7E1DB8F20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4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367F8-AAED-9BFC-61B4-48B5C6A4C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929-E45B-6433-554B-FBC29C96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Purchase frequency and places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87821-3548-1308-0114-D27BA208B204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angram"/>
                <a:ea typeface="+mn-ea"/>
                <a:cs typeface="+mn-cs"/>
              </a:rPr>
              <a:t>subtitle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BEF73B-3A79-E125-D32A-680AD3534A4F}"/>
              </a:ext>
            </a:extLst>
          </p:cNvPr>
          <p:cNvCxnSpPr>
            <a:cxnSpLocks/>
          </p:cNvCxnSpPr>
          <p:nvPr/>
        </p:nvCxnSpPr>
        <p:spPr>
          <a:xfrm>
            <a:off x="9144000" y="2139963"/>
            <a:ext cx="0" cy="7118337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EB8C9EF-3DAF-7764-B4B3-C01877E336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5941755"/>
              </p:ext>
            </p:extLst>
          </p:nvPr>
        </p:nvGraphicFramePr>
        <p:xfrm>
          <a:off x="9495276" y="1678707"/>
          <a:ext cx="8762987" cy="8105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61EF54F-D9B7-4430-A833-7C218450CF18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  <p:graphicFrame>
        <p:nvGraphicFramePr>
          <p:cNvPr id="8" name="C2">
            <a:extLst>
              <a:ext uri="{FF2B5EF4-FFF2-40B4-BE49-F238E27FC236}">
                <a16:creationId xmlns:a16="http://schemas.microsoft.com/office/drawing/2014/main" id="{C51CC3E7-7AD8-499B-8BBB-0142BE06E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824776"/>
              </p:ext>
            </p:extLst>
          </p:nvPr>
        </p:nvGraphicFramePr>
        <p:xfrm>
          <a:off x="314834" y="1678707"/>
          <a:ext cx="8267140" cy="7648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775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7B3D7-E280-23B6-0D4C-6B82048A1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A73A-77FB-F500-59AE-D3B3EE00E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Stocking behavior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1429F-F0F6-D722-072E-8799203DDC3F}"/>
              </a:ext>
            </a:extLst>
          </p:cNvPr>
          <p:cNvSpPr txBox="1"/>
          <p:nvPr/>
        </p:nvSpPr>
        <p:spPr>
          <a:xfrm>
            <a:off x="0" y="1028701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subtitle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1E981-547C-4D02-946E-EB7863C110EC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042DFD1-CBD6-439F-8309-DCF7BD5FD9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0325611"/>
              </p:ext>
            </p:extLst>
          </p:nvPr>
        </p:nvGraphicFramePr>
        <p:xfrm>
          <a:off x="9160727" y="1709373"/>
          <a:ext cx="8762987" cy="8105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80BB0F9-B06D-4C96-91DD-9BFC2420A2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0662079"/>
              </p:ext>
            </p:extLst>
          </p:nvPr>
        </p:nvGraphicFramePr>
        <p:xfrm>
          <a:off x="397740" y="1709373"/>
          <a:ext cx="8762987" cy="8105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1F07AC-B123-4BAC-9F3F-21AC96842F3B}"/>
              </a:ext>
            </a:extLst>
          </p:cNvPr>
          <p:cNvCxnSpPr>
            <a:cxnSpLocks/>
          </p:cNvCxnSpPr>
          <p:nvPr/>
        </p:nvCxnSpPr>
        <p:spPr>
          <a:xfrm>
            <a:off x="9144000" y="2139963"/>
            <a:ext cx="0" cy="7118337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331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7FC6-CAB4-4FC9-B483-8B85524B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Drivers and Barriers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A970FD9-3A2A-480B-BDAB-5D345C7C0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593001"/>
              </p:ext>
            </p:extLst>
          </p:nvPr>
        </p:nvGraphicFramePr>
        <p:xfrm>
          <a:off x="341313" y="1822450"/>
          <a:ext cx="8751888" cy="743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E17B77D-8C40-4F18-BAF3-601324641212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1818509249"/>
              </p:ext>
            </p:extLst>
          </p:nvPr>
        </p:nvGraphicFramePr>
        <p:xfrm>
          <a:off x="9144000" y="1822450"/>
          <a:ext cx="8751888" cy="743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32354A-863C-4352-835F-A2EB0F1C8185}"/>
              </a:ext>
            </a:extLst>
          </p:cNvPr>
          <p:cNvCxnSpPr>
            <a:cxnSpLocks/>
          </p:cNvCxnSpPr>
          <p:nvPr/>
        </p:nvCxnSpPr>
        <p:spPr>
          <a:xfrm>
            <a:off x="9144000" y="2139963"/>
            <a:ext cx="0" cy="7118337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93D0C6-C92F-41CE-9F1B-76BDB381D5BE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92127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DADB6-570A-45DD-8298-7A16E82A6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Habits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6EAAA-2351-45FB-B61B-27C55EF31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9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scsc</a:t>
            </a:r>
            <a:endParaRPr lang="en-US" sz="2800" dirty="0"/>
          </a:p>
        </p:txBody>
      </p: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366B90B5-19AF-4D29-8455-6A96FAE2EA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8174041"/>
              </p:ext>
            </p:extLst>
          </p:nvPr>
        </p:nvGraphicFramePr>
        <p:xfrm>
          <a:off x="9144000" y="2057400"/>
          <a:ext cx="8229600" cy="7089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AA59F8D-28F0-4914-A885-323400046B00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D754313-C8E6-4FCA-8878-D748F78712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257144"/>
              </p:ext>
            </p:extLst>
          </p:nvPr>
        </p:nvGraphicFramePr>
        <p:xfrm>
          <a:off x="1066800" y="2057400"/>
          <a:ext cx="8077200" cy="7089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782ED2B-B434-4F78-80F5-9FC3FA151AA0}"/>
              </a:ext>
            </a:extLst>
          </p:cNvPr>
          <p:cNvSpPr txBox="1"/>
          <p:nvPr/>
        </p:nvSpPr>
        <p:spPr>
          <a:xfrm>
            <a:off x="30666" y="9781529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3D75"/>
                </a:solidFill>
                <a:effectLst/>
                <a:uLnTx/>
                <a:uFillTx/>
                <a:latin typeface="Pangram"/>
                <a:ea typeface="+mn-ea"/>
                <a:cs typeface="+mn-cs"/>
              </a:rPr>
              <a:t>Base: 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73D75"/>
              </a:solidFill>
              <a:effectLst/>
              <a:uLnTx/>
              <a:uFillTx/>
              <a:latin typeface="Pangra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43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mcmc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59F8D-28F0-4914-A885-323400046B00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2ED2B-B434-4F78-80F5-9FC3FA151AA0}"/>
              </a:ext>
            </a:extLst>
          </p:cNvPr>
          <p:cNvSpPr txBox="1"/>
          <p:nvPr/>
        </p:nvSpPr>
        <p:spPr>
          <a:xfrm>
            <a:off x="30666" y="9781529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3D75"/>
                </a:solidFill>
                <a:effectLst/>
                <a:uLnTx/>
                <a:uFillTx/>
                <a:latin typeface="Pangram"/>
                <a:ea typeface="+mn-ea"/>
                <a:cs typeface="+mn-cs"/>
              </a:rPr>
              <a:t>Base: 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73D75"/>
              </a:solidFill>
              <a:effectLst/>
              <a:uLnTx/>
              <a:uFillTx/>
              <a:latin typeface="Pangram"/>
              <a:ea typeface="+mn-ea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FB02A34-5326-4ABB-BC29-A566A4117829}"/>
              </a:ext>
            </a:extLst>
          </p:cNvPr>
          <p:cNvGraphicFramePr/>
          <p:nvPr/>
        </p:nvGraphicFramePr>
        <p:xfrm>
          <a:off x="9144000" y="2057399"/>
          <a:ext cx="8763000" cy="7089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D2568F3-86BA-4D4B-86F2-CAD7BB3305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6900793"/>
              </p:ext>
            </p:extLst>
          </p:nvPr>
        </p:nvGraphicFramePr>
        <p:xfrm>
          <a:off x="381000" y="2057398"/>
          <a:ext cx="8763000" cy="7089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16161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scmc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59F8D-28F0-4914-A885-323400046B00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D754313-C8E6-4FCA-8878-D748F78712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227127"/>
              </p:ext>
            </p:extLst>
          </p:nvPr>
        </p:nvGraphicFramePr>
        <p:xfrm>
          <a:off x="1066800" y="2057400"/>
          <a:ext cx="8077200" cy="7089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782ED2B-B434-4F78-80F5-9FC3FA151AA0}"/>
              </a:ext>
            </a:extLst>
          </p:cNvPr>
          <p:cNvSpPr txBox="1"/>
          <p:nvPr/>
        </p:nvSpPr>
        <p:spPr>
          <a:xfrm>
            <a:off x="30666" y="9781529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3D75"/>
                </a:solidFill>
                <a:effectLst/>
                <a:uLnTx/>
                <a:uFillTx/>
                <a:latin typeface="Pangram"/>
                <a:ea typeface="+mn-ea"/>
                <a:cs typeface="+mn-cs"/>
              </a:rPr>
              <a:t>Base: 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73D75"/>
              </a:solidFill>
              <a:effectLst/>
              <a:uLnTx/>
              <a:uFillTx/>
              <a:latin typeface="Pangram"/>
              <a:ea typeface="+mn-ea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FB02A34-5326-4ABB-BC29-A566A41178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518610"/>
              </p:ext>
            </p:extLst>
          </p:nvPr>
        </p:nvGraphicFramePr>
        <p:xfrm>
          <a:off x="9144000" y="2057399"/>
          <a:ext cx="8763000" cy="7089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2629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mcsc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59F8D-28F0-4914-A885-323400046B00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2ED2B-B434-4F78-80F5-9FC3FA151AA0}"/>
              </a:ext>
            </a:extLst>
          </p:cNvPr>
          <p:cNvSpPr txBox="1"/>
          <p:nvPr/>
        </p:nvSpPr>
        <p:spPr>
          <a:xfrm>
            <a:off x="30666" y="9781529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3D75"/>
                </a:solidFill>
                <a:effectLst/>
                <a:uLnTx/>
                <a:uFillTx/>
                <a:latin typeface="Pangram"/>
                <a:ea typeface="+mn-ea"/>
                <a:cs typeface="+mn-cs"/>
              </a:rPr>
              <a:t>Base: 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73D75"/>
              </a:solidFill>
              <a:effectLst/>
              <a:uLnTx/>
              <a:uFillTx/>
              <a:latin typeface="Pangram"/>
              <a:ea typeface="+mn-ea"/>
              <a:cs typeface="+mn-cs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D2568F3-86BA-4D4B-86F2-CAD7BB330591}"/>
              </a:ext>
            </a:extLst>
          </p:cNvPr>
          <p:cNvGraphicFramePr/>
          <p:nvPr/>
        </p:nvGraphicFramePr>
        <p:xfrm>
          <a:off x="381000" y="2057398"/>
          <a:ext cx="8763000" cy="7089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ontent Placeholder 10">
            <a:extLst>
              <a:ext uri="{FF2B5EF4-FFF2-40B4-BE49-F238E27FC236}">
                <a16:creationId xmlns:a16="http://schemas.microsoft.com/office/drawing/2014/main" id="{213B4E7A-C62E-419A-BD34-49AF01BF53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949155"/>
              </p:ext>
            </p:extLst>
          </p:nvPr>
        </p:nvGraphicFramePr>
        <p:xfrm>
          <a:off x="9144000" y="2057400"/>
          <a:ext cx="8229600" cy="7089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59030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sc</a:t>
            </a:r>
            <a:endParaRPr lang="en-US" sz="2800" dirty="0"/>
          </a:p>
        </p:txBody>
      </p: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366B90B5-19AF-4D29-8455-6A96FAE2EA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323033"/>
              </p:ext>
            </p:extLst>
          </p:nvPr>
        </p:nvGraphicFramePr>
        <p:xfrm>
          <a:off x="5029200" y="1598612"/>
          <a:ext cx="8229600" cy="7659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AA59F8D-28F0-4914-A885-323400046B00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A0BC9-85DF-47BE-9B4E-B273A3F5F9A8}"/>
              </a:ext>
            </a:extLst>
          </p:cNvPr>
          <p:cNvSpPr txBox="1"/>
          <p:nvPr/>
        </p:nvSpPr>
        <p:spPr>
          <a:xfrm>
            <a:off x="30666" y="9781529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3D75"/>
                </a:solidFill>
                <a:effectLst/>
                <a:uLnTx/>
                <a:uFillTx/>
                <a:latin typeface="Pangram"/>
                <a:ea typeface="+mn-ea"/>
                <a:cs typeface="+mn-cs"/>
              </a:rPr>
              <a:t>Base: 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73D75"/>
              </a:solidFill>
              <a:effectLst/>
              <a:uLnTx/>
              <a:uFillTx/>
              <a:latin typeface="Pangra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0402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59F8D-28F0-4914-A885-323400046B00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A0BC9-85DF-47BE-9B4E-B273A3F5F9A8}"/>
              </a:ext>
            </a:extLst>
          </p:cNvPr>
          <p:cNvSpPr txBox="1"/>
          <p:nvPr/>
        </p:nvSpPr>
        <p:spPr>
          <a:xfrm>
            <a:off x="30666" y="9781529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3D75"/>
                </a:solidFill>
                <a:effectLst/>
                <a:uLnTx/>
                <a:uFillTx/>
                <a:latin typeface="Pangram"/>
                <a:ea typeface="+mn-ea"/>
                <a:cs typeface="+mn-cs"/>
              </a:rPr>
              <a:t>Base: 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73D75"/>
              </a:solidFill>
              <a:effectLst/>
              <a:uLnTx/>
              <a:uFillTx/>
              <a:latin typeface="Pangram"/>
              <a:ea typeface="+mn-ea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1CA2F76-1749-49D8-A296-FA445076F2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7919645"/>
              </p:ext>
            </p:extLst>
          </p:nvPr>
        </p:nvGraphicFramePr>
        <p:xfrm>
          <a:off x="3048000" y="1790700"/>
          <a:ext cx="12192000" cy="741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49440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2744C-EC32-4186-A5DC-C353840C4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Rank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0AC193-CF20-41CB-8C09-39F3AF84DC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1795660"/>
              </p:ext>
            </p:extLst>
          </p:nvPr>
        </p:nvGraphicFramePr>
        <p:xfrm>
          <a:off x="304800" y="1790701"/>
          <a:ext cx="10363200" cy="7619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313940034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3746829391"/>
                    </a:ext>
                  </a:extLst>
                </a:gridCol>
              </a:tblGrid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Rank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584933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9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113285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9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512659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9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00312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9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475168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9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49620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9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775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562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FC36-D40B-46F3-B90C-5FFB5CAC1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Analyzer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C599B-9B3F-4760-9BDD-A0E6A9D56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836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 Main Insight</a:t>
            </a:r>
            <a:endParaRPr sz="2800" dirty="0"/>
          </a:p>
        </p:txBody>
      </p:sp>
      <p:graphicFrame>
        <p:nvGraphicFramePr>
          <p:cNvPr id="5" name="Table 17">
            <a:extLst>
              <a:ext uri="{FF2B5EF4-FFF2-40B4-BE49-F238E27FC236}">
                <a16:creationId xmlns:a16="http://schemas.microsoft.com/office/drawing/2014/main" id="{035357E6-C28F-CF90-5E0D-5D83628C9F2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42900" y="1866900"/>
          <a:ext cx="17602199" cy="761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8362">
                  <a:extLst>
                    <a:ext uri="{9D8B030D-6E8A-4147-A177-3AD203B41FA5}">
                      <a16:colId xmlns:a16="http://schemas.microsoft.com/office/drawing/2014/main" val="867715904"/>
                    </a:ext>
                  </a:extLst>
                </a:gridCol>
                <a:gridCol w="3569530">
                  <a:extLst>
                    <a:ext uri="{9D8B030D-6E8A-4147-A177-3AD203B41FA5}">
                      <a16:colId xmlns:a16="http://schemas.microsoft.com/office/drawing/2014/main" val="2897681749"/>
                    </a:ext>
                  </a:extLst>
                </a:gridCol>
                <a:gridCol w="1823850">
                  <a:extLst>
                    <a:ext uri="{9D8B030D-6E8A-4147-A177-3AD203B41FA5}">
                      <a16:colId xmlns:a16="http://schemas.microsoft.com/office/drawing/2014/main" val="1504231521"/>
                    </a:ext>
                  </a:extLst>
                </a:gridCol>
                <a:gridCol w="1823850">
                  <a:extLst>
                    <a:ext uri="{9D8B030D-6E8A-4147-A177-3AD203B41FA5}">
                      <a16:colId xmlns:a16="http://schemas.microsoft.com/office/drawing/2014/main" val="2293697786"/>
                    </a:ext>
                  </a:extLst>
                </a:gridCol>
                <a:gridCol w="1488907">
                  <a:extLst>
                    <a:ext uri="{9D8B030D-6E8A-4147-A177-3AD203B41FA5}">
                      <a16:colId xmlns:a16="http://schemas.microsoft.com/office/drawing/2014/main" val="2584249558"/>
                    </a:ext>
                  </a:extLst>
                </a:gridCol>
                <a:gridCol w="1823850">
                  <a:extLst>
                    <a:ext uri="{9D8B030D-6E8A-4147-A177-3AD203B41FA5}">
                      <a16:colId xmlns:a16="http://schemas.microsoft.com/office/drawing/2014/main" val="2450653943"/>
                    </a:ext>
                  </a:extLst>
                </a:gridCol>
                <a:gridCol w="1823850">
                  <a:extLst>
                    <a:ext uri="{9D8B030D-6E8A-4147-A177-3AD203B41FA5}">
                      <a16:colId xmlns:a16="http://schemas.microsoft.com/office/drawing/2014/main" val="785160276"/>
                    </a:ext>
                  </a:extLst>
                </a:gridCol>
              </a:tblGrid>
              <a:tr h="734664">
                <a:tc>
                  <a:txBody>
                    <a:bodyPr/>
                    <a:lstStyle/>
                    <a:p>
                      <a:pPr algn="ctr"/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+mj-lt"/>
                        </a:rPr>
                        <a:t>Brand Power Index (BPI)</a:t>
                      </a:r>
                    </a:p>
                  </a:txBody>
                  <a:tcPr marL="137160" marR="137160" marT="68580" marB="6858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</a:p>
                  </a:txBody>
                  <a:tcPr marL="137160" marR="137160" marT="68580" marB="6858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</a:p>
                  </a:txBody>
                  <a:tcPr marL="137160" marR="137160" marT="68580" marB="6858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</a:p>
                  </a:txBody>
                  <a:tcPr marL="137160" marR="137160" marT="68580" marB="6858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</a:p>
                  </a:txBody>
                  <a:tcPr marL="137160" marR="137160" marT="68580" marB="6858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</a:p>
                  </a:txBody>
                  <a:tcPr marL="137160" marR="137160" marT="68580" marB="6858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+mj-lt"/>
                        </a:rPr>
                        <a:t>0</a:t>
                      </a:r>
                    </a:p>
                  </a:txBody>
                  <a:tcPr marL="137160" marR="137160" marT="68580" marB="6858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545962"/>
                  </a:ext>
                </a:extLst>
              </a:tr>
              <a:tr h="517627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 Raw African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Eva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Clary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700" b="0" kern="1200" dirty="0" err="1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BoBana</a:t>
                      </a:r>
                      <a:endParaRPr lang="en-US" sz="27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BLESS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700" b="0" kern="1200" dirty="0" err="1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Nefertari</a:t>
                      </a:r>
                      <a:endParaRPr lang="en-US" sz="27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975637"/>
                  </a:ext>
                </a:extLst>
              </a:tr>
              <a:tr h="5144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High quality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269013"/>
                  </a:ext>
                </a:extLst>
              </a:tr>
              <a:tr h="5144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Treatment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922016"/>
                  </a:ext>
                </a:extLst>
              </a:tr>
              <a:tr h="5144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Economical brand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rgbClr val="53B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616472"/>
                  </a:ext>
                </a:extLst>
              </a:tr>
              <a:tr h="5144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Reduce split Ends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51834"/>
                  </a:ext>
                </a:extLst>
              </a:tr>
              <a:tr h="5144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Shiny hair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388584"/>
                  </a:ext>
                </a:extLst>
              </a:tr>
              <a:tr h="5144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High Hydration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rgbClr val="53B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587182"/>
                  </a:ext>
                </a:extLst>
              </a:tr>
              <a:tr h="5958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Youthful and Fun Brand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37160" marR="137160" marT="68580" marB="68580" anchor="ctr">
                    <a:solidFill>
                      <a:srgbClr val="D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37160" marR="137160" marT="68580" marB="68580" anchor="ctr">
                    <a:solidFill>
                      <a:srgbClr val="DE7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96478"/>
                  </a:ext>
                </a:extLst>
              </a:tr>
              <a:tr h="8973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Brand that uses natural ingredients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37160" marR="137160" marT="68580" marB="68580" anchor="ctr">
                    <a:solidFill>
                      <a:srgbClr val="D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37160" marR="137160" marT="68580" marB="68580" anchor="ctr">
                    <a:solidFill>
                      <a:srgbClr val="DE7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37160" marR="137160" marT="68580" marB="68580" anchor="ctr">
                    <a:solidFill>
                      <a:srgbClr val="DE7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189826"/>
                  </a:ext>
                </a:extLst>
              </a:tr>
              <a:tr h="5958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Reduce tangles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rgbClr val="DE7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68300"/>
                  </a:ext>
                </a:extLst>
              </a:tr>
              <a:tr h="5958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Innovative Brand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2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107077"/>
                  </a:ext>
                </a:extLst>
              </a:tr>
              <a:tr h="5958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Reduce hair loss</a:t>
                      </a:r>
                    </a:p>
                  </a:txBody>
                  <a:tcPr marL="14288" marR="14288" marT="14288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37160" marR="137160" marT="68580" marB="6858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4723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8A0CE15-741D-44A3-99CC-593A39A96609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3D75"/>
                </a:solidFill>
                <a:effectLst/>
                <a:uLnTx/>
                <a:uFillTx/>
                <a:latin typeface="Pangram"/>
                <a:ea typeface="+mn-ea"/>
                <a:cs typeface="+mn-cs"/>
              </a:rPr>
              <a:t>Base: 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73D75"/>
              </a:solidFill>
              <a:effectLst/>
              <a:uLnTx/>
              <a:uFillTx/>
              <a:latin typeface="Pangram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66CCE-2937-49A8-97DE-48C1A472C3BB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D8BA7F-AF2F-4B48-BA80-6BCD1F483890}"/>
              </a:ext>
            </a:extLst>
          </p:cNvPr>
          <p:cNvSpPr txBox="1"/>
          <p:nvPr/>
        </p:nvSpPr>
        <p:spPr>
          <a:xfrm>
            <a:off x="30666" y="9781529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3D75"/>
                </a:solidFill>
                <a:effectLst/>
                <a:uLnTx/>
                <a:uFillTx/>
                <a:latin typeface="Pangram"/>
                <a:ea typeface="+mn-ea"/>
                <a:cs typeface="+mn-cs"/>
              </a:rPr>
              <a:t>Base: 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73D75"/>
              </a:solidFill>
              <a:effectLst/>
              <a:uLnTx/>
              <a:uFillTx/>
              <a:latin typeface="Pangra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51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DE76-2EC8-3FAB-554E-BC0116DC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3BE0-31BA-2672-3564-C0FFEF6C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Main Insight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6D15566-BA9A-4556-9C26-B223A5FF64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0625977"/>
              </p:ext>
            </p:extLst>
          </p:nvPr>
        </p:nvGraphicFramePr>
        <p:xfrm>
          <a:off x="304800" y="1790700"/>
          <a:ext cx="17373600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EAC92-7834-89E9-1EEA-CA961D8F2AD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1028700"/>
            <a:ext cx="18288000" cy="600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932295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DE76-2EC8-3FAB-554E-BC0116DC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3BE0-31BA-2672-3564-C0FFEF6C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Main Insight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6D15566-BA9A-4556-9C26-B223A5FF64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3101145"/>
              </p:ext>
            </p:extLst>
          </p:nvPr>
        </p:nvGraphicFramePr>
        <p:xfrm>
          <a:off x="304800" y="1790700"/>
          <a:ext cx="17373600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EAC92-7834-89E9-1EEA-CA961D8F2AD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1028700"/>
            <a:ext cx="18288000" cy="600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29775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DE76-2EC8-3FAB-554E-BC0116DC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3BE0-31BA-2672-3564-C0FFEF6C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Main Insight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6D15566-BA9A-4556-9C26-B223A5FF64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092250"/>
              </p:ext>
            </p:extLst>
          </p:nvPr>
        </p:nvGraphicFramePr>
        <p:xfrm>
          <a:off x="304800" y="1790700"/>
          <a:ext cx="17373600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EAC92-7834-89E9-1EEA-CA961D8F2AD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1028700"/>
            <a:ext cx="18288000" cy="600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77383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8C5E4A-09B4-45EB-B5C4-FC38DF62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Test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03F2B-91CE-4728-99C5-F8FE0C165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248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5A0BADB-7BDA-4C52-8641-81289979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/>
              <a:t>Main Insight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8498D96-5A15-432F-AB67-52AEC90753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7232028"/>
              </p:ext>
            </p:extLst>
          </p:nvPr>
        </p:nvGraphicFramePr>
        <p:xfrm>
          <a:off x="1295400" y="1854636"/>
          <a:ext cx="8458200" cy="70103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2735134455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088847422"/>
                    </a:ext>
                  </a:extLst>
                </a:gridCol>
              </a:tblGrid>
              <a:tr h="147150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angram" panose="00000500000000000000" pitchFamily="50" charset="0"/>
                        </a:rPr>
                        <a:t>Attribute</a:t>
                      </a:r>
                      <a:endParaRPr lang="en-US" sz="22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Pangram" panose="00000500000000000000" pitchFamily="50" charset="0"/>
                      </a:endParaRPr>
                    </a:p>
                  </a:txBody>
                  <a:tcPr marL="104765" marR="10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Pangram" panose="00000500000000000000" pitchFamily="50" charset="0"/>
                        </a:rPr>
                        <a:t>Average Rate</a:t>
                      </a:r>
                      <a:endParaRPr lang="en-US" sz="22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Pangram" panose="00000500000000000000" pitchFamily="50" charset="0"/>
                      </a:endParaRPr>
                    </a:p>
                  </a:txBody>
                  <a:tcPr marL="104765" marR="104765" anchor="ctr"/>
                </a:tc>
                <a:extLst>
                  <a:ext uri="{0D108BD9-81ED-4DB2-BD59-A6C34878D82A}">
                    <a16:rowId xmlns:a16="http://schemas.microsoft.com/office/drawing/2014/main" val="267996383"/>
                  </a:ext>
                </a:extLst>
              </a:tr>
              <a:tr h="692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angram" panose="00000500000000000000" pitchFamily="50" charset="0"/>
                        </a:rPr>
                        <a:t>Effective time</a:t>
                      </a:r>
                      <a:endParaRPr lang="en-US" sz="22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Pangram" panose="00000500000000000000" pitchFamily="50" charset="0"/>
                      </a:endParaRPr>
                    </a:p>
                  </a:txBody>
                  <a:tcPr marL="104765" marR="10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Pangram" panose="00000500000000000000" pitchFamily="50" charset="0"/>
                        </a:rPr>
                        <a:t>3.5</a:t>
                      </a:r>
                    </a:p>
                  </a:txBody>
                  <a:tcPr marL="104765" marR="104765" anchor="ctr"/>
                </a:tc>
                <a:extLst>
                  <a:ext uri="{0D108BD9-81ED-4DB2-BD59-A6C34878D82A}">
                    <a16:rowId xmlns:a16="http://schemas.microsoft.com/office/drawing/2014/main" val="1553572805"/>
                  </a:ext>
                </a:extLst>
              </a:tr>
              <a:tr h="692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angram" panose="00000500000000000000" pitchFamily="50" charset="0"/>
                        </a:rPr>
                        <a:t>Shiny</a:t>
                      </a:r>
                      <a:endParaRPr lang="en-US" sz="22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Pangram" panose="00000500000000000000" pitchFamily="50" charset="0"/>
                      </a:endParaRPr>
                    </a:p>
                  </a:txBody>
                  <a:tcPr marL="104765" marR="10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Pangram" panose="00000500000000000000" pitchFamily="50" charset="0"/>
                        </a:rPr>
                        <a:t>3.5</a:t>
                      </a:r>
                    </a:p>
                  </a:txBody>
                  <a:tcPr marL="104765" marR="104765" anchor="ctr"/>
                </a:tc>
                <a:extLst>
                  <a:ext uri="{0D108BD9-81ED-4DB2-BD59-A6C34878D82A}">
                    <a16:rowId xmlns:a16="http://schemas.microsoft.com/office/drawing/2014/main" val="636109619"/>
                  </a:ext>
                </a:extLst>
              </a:tr>
              <a:tr h="692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angram" panose="00000500000000000000" pitchFamily="50" charset="0"/>
                        </a:rPr>
                        <a:t>Effect after usage</a:t>
                      </a:r>
                      <a:endParaRPr lang="en-US" sz="22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Pangram" panose="00000500000000000000" pitchFamily="50" charset="0"/>
                      </a:endParaRPr>
                    </a:p>
                  </a:txBody>
                  <a:tcPr marL="104765" marR="10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65E"/>
                          </a:solidFill>
                          <a:latin typeface="Pangram" panose="00000500000000000000" pitchFamily="50" charset="0"/>
                        </a:rPr>
                        <a:t>3.5</a:t>
                      </a:r>
                    </a:p>
                  </a:txBody>
                  <a:tcPr marL="104765" marR="104765" anchor="ctr"/>
                </a:tc>
                <a:extLst>
                  <a:ext uri="{0D108BD9-81ED-4DB2-BD59-A6C34878D82A}">
                    <a16:rowId xmlns:a16="http://schemas.microsoft.com/office/drawing/2014/main" val="981890593"/>
                  </a:ext>
                </a:extLst>
              </a:tr>
              <a:tr h="692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angram" panose="00000500000000000000" pitchFamily="50" charset="0"/>
                        </a:rPr>
                        <a:t>Odor</a:t>
                      </a:r>
                      <a:endParaRPr lang="en-US" sz="22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Pangram" panose="00000500000000000000" pitchFamily="50" charset="0"/>
                      </a:endParaRPr>
                    </a:p>
                  </a:txBody>
                  <a:tcPr marL="104765" marR="10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65E"/>
                          </a:solidFill>
                          <a:latin typeface="Pangram" panose="00000500000000000000" pitchFamily="50" charset="0"/>
                        </a:rPr>
                        <a:t>3.5</a:t>
                      </a:r>
                    </a:p>
                  </a:txBody>
                  <a:tcPr marL="104765" marR="104765" anchor="ctr"/>
                </a:tc>
                <a:extLst>
                  <a:ext uri="{0D108BD9-81ED-4DB2-BD59-A6C34878D82A}">
                    <a16:rowId xmlns:a16="http://schemas.microsoft.com/office/drawing/2014/main" val="432257647"/>
                  </a:ext>
                </a:extLst>
              </a:tr>
              <a:tr h="692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angram" panose="00000500000000000000" pitchFamily="50" charset="0"/>
                        </a:rPr>
                        <a:t>Hair texture</a:t>
                      </a:r>
                      <a:endParaRPr lang="en-US" sz="22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Pangram" panose="00000500000000000000" pitchFamily="50" charset="0"/>
                      </a:endParaRPr>
                    </a:p>
                  </a:txBody>
                  <a:tcPr marL="104765" marR="10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65E"/>
                          </a:solidFill>
                          <a:latin typeface="Pangram" panose="00000500000000000000" pitchFamily="50" charset="0"/>
                        </a:rPr>
                        <a:t>3.5</a:t>
                      </a:r>
                    </a:p>
                  </a:txBody>
                  <a:tcPr marL="104765" marR="104765" anchor="ctr"/>
                </a:tc>
                <a:extLst>
                  <a:ext uri="{0D108BD9-81ED-4DB2-BD59-A6C34878D82A}">
                    <a16:rowId xmlns:a16="http://schemas.microsoft.com/office/drawing/2014/main" val="3117365207"/>
                  </a:ext>
                </a:extLst>
              </a:tr>
              <a:tr h="692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angram" panose="00000500000000000000" pitchFamily="50" charset="0"/>
                        </a:rPr>
                        <a:t>Hair Smoothness</a:t>
                      </a:r>
                      <a:endParaRPr lang="en-US" sz="22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Pangram" panose="00000500000000000000" pitchFamily="50" charset="0"/>
                      </a:endParaRPr>
                    </a:p>
                  </a:txBody>
                  <a:tcPr marL="104765" marR="10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65E"/>
                          </a:solidFill>
                          <a:latin typeface="Pangram" panose="00000500000000000000" pitchFamily="50" charset="0"/>
                        </a:rPr>
                        <a:t>3.5</a:t>
                      </a:r>
                    </a:p>
                  </a:txBody>
                  <a:tcPr marL="104765" marR="104765" anchor="ctr"/>
                </a:tc>
                <a:extLst>
                  <a:ext uri="{0D108BD9-81ED-4DB2-BD59-A6C34878D82A}">
                    <a16:rowId xmlns:a16="http://schemas.microsoft.com/office/drawing/2014/main" val="1635192966"/>
                  </a:ext>
                </a:extLst>
              </a:tr>
              <a:tr h="692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angram" panose="00000500000000000000" pitchFamily="50" charset="0"/>
                        </a:rPr>
                        <a:t>Constancy</a:t>
                      </a:r>
                      <a:endParaRPr lang="en-US" sz="22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Pangram" panose="00000500000000000000" pitchFamily="50" charset="0"/>
                      </a:endParaRPr>
                    </a:p>
                  </a:txBody>
                  <a:tcPr marL="104765" marR="10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65E"/>
                          </a:solidFill>
                          <a:latin typeface="Pangram" panose="00000500000000000000" pitchFamily="50" charset="0"/>
                        </a:rPr>
                        <a:t>3.5</a:t>
                      </a:r>
                    </a:p>
                  </a:txBody>
                  <a:tcPr marL="104765" marR="104765" anchor="ctr"/>
                </a:tc>
                <a:extLst>
                  <a:ext uri="{0D108BD9-81ED-4DB2-BD59-A6C34878D82A}">
                    <a16:rowId xmlns:a16="http://schemas.microsoft.com/office/drawing/2014/main" val="4247895726"/>
                  </a:ext>
                </a:extLst>
              </a:tr>
              <a:tr h="692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angram" panose="00000500000000000000" pitchFamily="50" charset="0"/>
                        </a:rPr>
                        <a:t>Ease of Wash</a:t>
                      </a:r>
                      <a:endParaRPr lang="en-US" sz="22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Pangram" panose="00000500000000000000" pitchFamily="50" charset="0"/>
                      </a:endParaRPr>
                    </a:p>
                  </a:txBody>
                  <a:tcPr marL="104765" marR="1047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00265E"/>
                          </a:solidFill>
                          <a:latin typeface="Pangram" panose="00000500000000000000" pitchFamily="50" charset="0"/>
                        </a:rPr>
                        <a:t>3.5</a:t>
                      </a:r>
                    </a:p>
                  </a:txBody>
                  <a:tcPr marL="104765" marR="104765" anchor="ctr"/>
                </a:tc>
                <a:extLst>
                  <a:ext uri="{0D108BD9-81ED-4DB2-BD59-A6C34878D82A}">
                    <a16:rowId xmlns:a16="http://schemas.microsoft.com/office/drawing/2014/main" val="2516840624"/>
                  </a:ext>
                </a:extLst>
              </a:tr>
            </a:tbl>
          </a:graphicData>
        </a:graphic>
      </p:graphicFrame>
      <p:sp>
        <p:nvSpPr>
          <p:cNvPr id="9" name="Arrow: Down 8">
            <a:extLst>
              <a:ext uri="{FF2B5EF4-FFF2-40B4-BE49-F238E27FC236}">
                <a16:creationId xmlns:a16="http://schemas.microsoft.com/office/drawing/2014/main" id="{C0B5A86D-1BCF-413A-8433-2668846D47E4}"/>
              </a:ext>
            </a:extLst>
          </p:cNvPr>
          <p:cNvSpPr/>
          <p:nvPr/>
        </p:nvSpPr>
        <p:spPr>
          <a:xfrm>
            <a:off x="266700" y="1854636"/>
            <a:ext cx="685800" cy="6981592"/>
          </a:xfrm>
          <a:prstGeom prst="downArrow">
            <a:avLst/>
          </a:prstGeom>
          <a:solidFill>
            <a:srgbClr val="DE7C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ED7856-6598-4673-AABD-4618BB0E4F5B}"/>
              </a:ext>
            </a:extLst>
          </p:cNvPr>
          <p:cNvSpPr txBox="1"/>
          <p:nvPr/>
        </p:nvSpPr>
        <p:spPr>
          <a:xfrm>
            <a:off x="29737" y="1028700"/>
            <a:ext cx="18258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40908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451CC-0005-071F-E433-31812BD35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880A5204-8665-8B08-3636-12D098D0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Pangram"/>
              </a:rPr>
              <a:t> Main Insight</a:t>
            </a:r>
            <a:endParaRPr sz="2800" dirty="0">
              <a:latin typeface="Pangram"/>
            </a:endParaRPr>
          </a:p>
        </p:txBody>
      </p:sp>
      <p:graphicFrame>
        <p:nvGraphicFramePr>
          <p:cNvPr id="23" name="C2">
            <a:extLst>
              <a:ext uri="{FF2B5EF4-FFF2-40B4-BE49-F238E27FC236}">
                <a16:creationId xmlns:a16="http://schemas.microsoft.com/office/drawing/2014/main" id="{D23BDE15-17B0-F509-25A8-0285321719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8424892"/>
              </p:ext>
            </p:extLst>
          </p:nvPr>
        </p:nvGraphicFramePr>
        <p:xfrm>
          <a:off x="9448801" y="1866899"/>
          <a:ext cx="8070442" cy="7590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89EAF61-3324-494E-ACBE-B637CAAD7694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0AE8880-0981-4F47-90D2-7B2CC60693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8684822"/>
              </p:ext>
            </p:extLst>
          </p:nvPr>
        </p:nvGraphicFramePr>
        <p:xfrm>
          <a:off x="768759" y="1866899"/>
          <a:ext cx="8070441" cy="7590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1401CF-7312-4285-A039-0B89E23B9766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619754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5DF7A8E-7346-4F79-951A-27112F3B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/>
              <a:t>Main Insight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5FC916-D579-4CD7-9A8E-C99F981D1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algn="ctr" fontAlgn="b">
              <a:spcBef>
                <a:spcPts val="0"/>
              </a:spcBef>
            </a:pPr>
            <a:r>
              <a:rPr lang="en-US" sz="1400" b="1" dirty="0">
                <a:solidFill>
                  <a:srgbClr val="FFFFFF"/>
                </a:solidFill>
                <a:latin typeface="Pangram" panose="00000500000000000000" pitchFamily="50" charset="0"/>
              </a:rPr>
              <a:t>Improvements1</a:t>
            </a:r>
            <a:endParaRPr lang="en-US" sz="1100" dirty="0">
              <a:latin typeface="Arial" panose="020B0604020202020204" pitchFamily="34" charset="0"/>
            </a:endParaRPr>
          </a:p>
          <a:p>
            <a:pPr marL="0" indent="0" algn="ctr" fontAlgn="ctr">
              <a:spcBef>
                <a:spcPts val="0"/>
              </a:spcBef>
            </a:pPr>
            <a:r>
              <a:rPr lang="en-US" sz="1400" b="1" dirty="0">
                <a:solidFill>
                  <a:srgbClr val="FFFFFF"/>
                </a:solidFill>
                <a:latin typeface="Pangram" panose="00000500000000000000" pitchFamily="50" charset="0"/>
              </a:rPr>
              <a:t>Percentage</a:t>
            </a:r>
            <a:endParaRPr lang="en-US" sz="11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FDA53-9892-47BC-8347-67E3D2CAD194}"/>
              </a:ext>
            </a:extLst>
          </p:cNvPr>
          <p:cNvSpPr txBox="1"/>
          <p:nvPr/>
        </p:nvSpPr>
        <p:spPr>
          <a:xfrm>
            <a:off x="29737" y="1028700"/>
            <a:ext cx="18258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42F6ADE-523E-4417-AEDB-72A536C21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487899"/>
              </p:ext>
            </p:extLst>
          </p:nvPr>
        </p:nvGraphicFramePr>
        <p:xfrm>
          <a:off x="391437" y="1821871"/>
          <a:ext cx="8193207" cy="8198432"/>
        </p:xfrm>
        <a:graphic>
          <a:graphicData uri="http://schemas.openxmlformats.org/drawingml/2006/table">
            <a:tbl>
              <a:tblPr firstRow="1" firstCol="1" lastRow="1">
                <a:tableStyleId>{793D81CF-94F2-401A-BA57-92F5A7B2D0C5}</a:tableStyleId>
              </a:tblPr>
              <a:tblGrid>
                <a:gridCol w="5296618">
                  <a:extLst>
                    <a:ext uri="{9D8B030D-6E8A-4147-A177-3AD203B41FA5}">
                      <a16:colId xmlns:a16="http://schemas.microsoft.com/office/drawing/2014/main" val="1810647779"/>
                    </a:ext>
                  </a:extLst>
                </a:gridCol>
                <a:gridCol w="2896589">
                  <a:extLst>
                    <a:ext uri="{9D8B030D-6E8A-4147-A177-3AD203B41FA5}">
                      <a16:colId xmlns:a16="http://schemas.microsoft.com/office/drawing/2014/main" val="2311068149"/>
                    </a:ext>
                  </a:extLst>
                </a:gridCol>
              </a:tblGrid>
              <a:tr h="7453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Pangram" panose="00000500000000000000" pitchFamily="50" charset="0"/>
                        </a:rPr>
                        <a:t>Pt-Likes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1" u="none" strike="noStrike" dirty="0">
                          <a:effectLst/>
                          <a:latin typeface="Pangram" panose="00000500000000000000" pitchFamily="50" charset="0"/>
                        </a:rPr>
                        <a:t>Percentage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39081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125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330711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461562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5167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43175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004595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138666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47592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48354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5833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E1CD7FB-07E2-4227-9EE7-AD079C39B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477712"/>
              </p:ext>
            </p:extLst>
          </p:nvPr>
        </p:nvGraphicFramePr>
        <p:xfrm>
          <a:off x="9703356" y="1790700"/>
          <a:ext cx="8193207" cy="8198432"/>
        </p:xfrm>
        <a:graphic>
          <a:graphicData uri="http://schemas.openxmlformats.org/drawingml/2006/table">
            <a:tbl>
              <a:tblPr firstRow="1" firstCol="1" lastRow="1">
                <a:tableStyleId>{793D81CF-94F2-401A-BA57-92F5A7B2D0C5}</a:tableStyleId>
              </a:tblPr>
              <a:tblGrid>
                <a:gridCol w="5296618">
                  <a:extLst>
                    <a:ext uri="{9D8B030D-6E8A-4147-A177-3AD203B41FA5}">
                      <a16:colId xmlns:a16="http://schemas.microsoft.com/office/drawing/2014/main" val="1810647779"/>
                    </a:ext>
                  </a:extLst>
                </a:gridCol>
                <a:gridCol w="2896589">
                  <a:extLst>
                    <a:ext uri="{9D8B030D-6E8A-4147-A177-3AD203B41FA5}">
                      <a16:colId xmlns:a16="http://schemas.microsoft.com/office/drawing/2014/main" val="2311068149"/>
                    </a:ext>
                  </a:extLst>
                </a:gridCol>
              </a:tblGrid>
              <a:tr h="7453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Pangram" panose="00000500000000000000" pitchFamily="50" charset="0"/>
                        </a:rPr>
                        <a:t>Pt-Dislikes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1" u="none" strike="noStrike" dirty="0">
                          <a:effectLst/>
                          <a:latin typeface="Pangram" panose="00000500000000000000" pitchFamily="50" charset="0"/>
                        </a:rPr>
                        <a:t>Percentage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39081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125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330711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461562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5167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43175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004595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138666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47592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48354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583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9215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5DF7A8E-7346-4F79-951A-27112F3B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Insight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5FC916-D579-4CD7-9A8E-C99F981D1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algn="ctr" fontAlgn="b">
              <a:spcBef>
                <a:spcPts val="0"/>
              </a:spcBef>
            </a:pPr>
            <a:r>
              <a:rPr lang="en-US" sz="1400" b="1" dirty="0">
                <a:solidFill>
                  <a:srgbClr val="FFFFFF"/>
                </a:solidFill>
                <a:latin typeface="Pangram" panose="00000500000000000000" pitchFamily="50" charset="0"/>
              </a:rPr>
              <a:t>Improvements1</a:t>
            </a:r>
            <a:endParaRPr lang="en-US" sz="1100" dirty="0">
              <a:latin typeface="Arial" panose="020B0604020202020204" pitchFamily="34" charset="0"/>
            </a:endParaRPr>
          </a:p>
          <a:p>
            <a:pPr marL="0" indent="0" algn="ctr" fontAlgn="ctr">
              <a:spcBef>
                <a:spcPts val="0"/>
              </a:spcBef>
            </a:pPr>
            <a:r>
              <a:rPr lang="en-US" sz="1400" b="1" dirty="0">
                <a:solidFill>
                  <a:srgbClr val="FFFFFF"/>
                </a:solidFill>
                <a:latin typeface="Pangram" panose="00000500000000000000" pitchFamily="50" charset="0"/>
              </a:rPr>
              <a:t>Percentage</a:t>
            </a:r>
            <a:endParaRPr lang="en-US" sz="11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FDA53-9892-47BC-8347-67E3D2CAD194}"/>
              </a:ext>
            </a:extLst>
          </p:cNvPr>
          <p:cNvSpPr txBox="1"/>
          <p:nvPr/>
        </p:nvSpPr>
        <p:spPr>
          <a:xfrm>
            <a:off x="29737" y="1028700"/>
            <a:ext cx="18258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42F6ADE-523E-4417-AEDB-72A536C21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416246"/>
              </p:ext>
            </p:extLst>
          </p:nvPr>
        </p:nvGraphicFramePr>
        <p:xfrm>
          <a:off x="5062264" y="1790700"/>
          <a:ext cx="8193207" cy="8198432"/>
        </p:xfrm>
        <a:graphic>
          <a:graphicData uri="http://schemas.openxmlformats.org/drawingml/2006/table">
            <a:tbl>
              <a:tblPr firstRow="1" firstCol="1" lastRow="1">
                <a:tableStyleId>{793D81CF-94F2-401A-BA57-92F5A7B2D0C5}</a:tableStyleId>
              </a:tblPr>
              <a:tblGrid>
                <a:gridCol w="5296618">
                  <a:extLst>
                    <a:ext uri="{9D8B030D-6E8A-4147-A177-3AD203B41FA5}">
                      <a16:colId xmlns:a16="http://schemas.microsoft.com/office/drawing/2014/main" val="1810647779"/>
                    </a:ext>
                  </a:extLst>
                </a:gridCol>
                <a:gridCol w="2896589">
                  <a:extLst>
                    <a:ext uri="{9D8B030D-6E8A-4147-A177-3AD203B41FA5}">
                      <a16:colId xmlns:a16="http://schemas.microsoft.com/office/drawing/2014/main" val="2311068149"/>
                    </a:ext>
                  </a:extLst>
                </a:gridCol>
              </a:tblGrid>
              <a:tr h="7453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Pangram" panose="00000500000000000000" pitchFamily="50" charset="0"/>
                        </a:rPr>
                        <a:t>Improvement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1" u="none" strike="noStrike" dirty="0">
                          <a:effectLst/>
                          <a:latin typeface="Pangram" panose="00000500000000000000" pitchFamily="50" charset="0"/>
                        </a:rPr>
                        <a:t>Percentage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39081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125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330711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461562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5167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43175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004595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138666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47592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48354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583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78435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72079-87EF-42A8-BE47-4B3CAE56B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406900"/>
            <a:ext cx="8726487" cy="1362075"/>
          </a:xfrm>
        </p:spPr>
        <p:txBody>
          <a:bodyPr/>
          <a:lstStyle/>
          <a:p>
            <a:r>
              <a:rPr lang="en-US" dirty="0"/>
              <a:t>Taste Test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4F0E4-A8FC-41CB-B262-2ABA8B7E1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37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AEA28DF-3393-4DA6-8C9D-A06381CCE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344471"/>
              </p:ext>
            </p:extLst>
          </p:nvPr>
        </p:nvGraphicFramePr>
        <p:xfrm>
          <a:off x="9753600" y="1907564"/>
          <a:ext cx="7848600" cy="7252442"/>
        </p:xfrm>
        <a:graphic>
          <a:graphicData uri="http://schemas.openxmlformats.org/drawingml/2006/table">
            <a:tbl>
              <a:tblPr bandRow="1">
                <a:tableStyleId>{E8034E78-7F5D-4C2E-B375-FC64B27BC917}</a:tableStyleId>
              </a:tblPr>
              <a:tblGrid>
                <a:gridCol w="3105308">
                  <a:extLst>
                    <a:ext uri="{9D8B030D-6E8A-4147-A177-3AD203B41FA5}">
                      <a16:colId xmlns:a16="http://schemas.microsoft.com/office/drawing/2014/main" val="3012991311"/>
                    </a:ext>
                  </a:extLst>
                </a:gridCol>
                <a:gridCol w="4743292">
                  <a:extLst>
                    <a:ext uri="{9D8B030D-6E8A-4147-A177-3AD203B41FA5}">
                      <a16:colId xmlns:a16="http://schemas.microsoft.com/office/drawing/2014/main" val="1568651461"/>
                    </a:ext>
                  </a:extLst>
                </a:gridCol>
              </a:tblGrid>
              <a:tr h="1407136"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DE7C7E"/>
                          </a:solidFill>
                        </a:rPr>
                        <a:t>Criteria-overall</a:t>
                      </a:r>
                      <a:endParaRPr lang="en-US" sz="28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485327"/>
                  </a:ext>
                </a:extLst>
              </a:tr>
              <a:tr h="657954"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3709231881"/>
                  </a:ext>
                </a:extLst>
              </a:tr>
              <a:tr h="648419"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775998396"/>
                  </a:ext>
                </a:extLst>
              </a:tr>
              <a:tr h="648419"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3666983788"/>
                  </a:ext>
                </a:extLst>
              </a:tr>
              <a:tr h="648419"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3433404725"/>
                  </a:ext>
                </a:extLst>
              </a:tr>
              <a:tr h="648419"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03013431"/>
                  </a:ext>
                </a:extLst>
              </a:tr>
              <a:tr h="648419"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80526728"/>
                  </a:ext>
                </a:extLst>
              </a:tr>
              <a:tr h="648419"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554381991"/>
                  </a:ext>
                </a:extLst>
              </a:tr>
              <a:tr h="648419"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>
                      <a:lvl1pPr marL="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4291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685835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028751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371669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714586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057504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400420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2743337" algn="l" defTabSz="685835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503060245"/>
                  </a:ext>
                </a:extLst>
              </a:tr>
              <a:tr h="64841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DE7C7E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718765970"/>
                  </a:ext>
                </a:extLst>
              </a:tr>
            </a:tbl>
          </a:graphicData>
        </a:graphic>
      </p:graphicFrame>
      <p:sp>
        <p:nvSpPr>
          <p:cNvPr id="19" name="Title 18">
            <a:extLst>
              <a:ext uri="{FF2B5EF4-FFF2-40B4-BE49-F238E27FC236}">
                <a16:creationId xmlns:a16="http://schemas.microsoft.com/office/drawing/2014/main" id="{B853E663-E7B6-5DD9-7BE0-A5B2E534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dirty="0"/>
              <a:t>Product Preference</a:t>
            </a:r>
          </a:p>
        </p:txBody>
      </p:sp>
      <p:graphicFrame>
        <p:nvGraphicFramePr>
          <p:cNvPr id="12" name="C1">
            <a:extLst>
              <a:ext uri="{FF2B5EF4-FFF2-40B4-BE49-F238E27FC236}">
                <a16:creationId xmlns:a16="http://schemas.microsoft.com/office/drawing/2014/main" id="{722A2309-0A47-4A62-AC7C-6683FEF09BF5}"/>
              </a:ext>
            </a:extLst>
          </p:cNvPr>
          <p:cNvGraphicFramePr>
            <a:graphicFrameLocks noGrp="1" noChangeAspect="1"/>
          </p:cNvGraphicFramePr>
          <p:nvPr>
            <p:ph idx="10"/>
            <p:extLst>
              <p:ext uri="{D42A27DB-BD31-4B8C-83A1-F6EECF244321}">
                <p14:modId xmlns:p14="http://schemas.microsoft.com/office/powerpoint/2010/main" val="3551860929"/>
              </p:ext>
            </p:extLst>
          </p:nvPr>
        </p:nvGraphicFramePr>
        <p:xfrm>
          <a:off x="341313" y="1943100"/>
          <a:ext cx="8802688" cy="7499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A879B9-3CF8-4DD7-A14A-846F63F69828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  <p:graphicFrame>
        <p:nvGraphicFramePr>
          <p:cNvPr id="7" name="C1">
            <a:extLst>
              <a:ext uri="{FF2B5EF4-FFF2-40B4-BE49-F238E27FC236}">
                <a16:creationId xmlns:a16="http://schemas.microsoft.com/office/drawing/2014/main" id="{07AC6755-7483-4218-A6B6-333B9067FC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733195"/>
              </p:ext>
            </p:extLst>
          </p:nvPr>
        </p:nvGraphicFramePr>
        <p:xfrm>
          <a:off x="9753600" y="1943100"/>
          <a:ext cx="7848600" cy="7499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4B6DFD8-5A30-4E95-9317-D42B5A227E33}"/>
              </a:ext>
            </a:extLst>
          </p:cNvPr>
          <p:cNvSpPr txBox="1"/>
          <p:nvPr/>
        </p:nvSpPr>
        <p:spPr>
          <a:xfrm>
            <a:off x="29737" y="1028700"/>
            <a:ext cx="18258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67977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724E-1574-FB2A-3E2F-BD4FC4BE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0957E4B-D3D5-F4AF-4806-ED664EBA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dirty="0"/>
              <a:t>Importance</a:t>
            </a:r>
          </a:p>
        </p:txBody>
      </p:sp>
      <p:graphicFrame>
        <p:nvGraphicFramePr>
          <p:cNvPr id="20" name="C1">
            <a:extLst>
              <a:ext uri="{FF2B5EF4-FFF2-40B4-BE49-F238E27FC236}">
                <a16:creationId xmlns:a16="http://schemas.microsoft.com/office/drawing/2014/main" id="{3B04734C-DA40-48EE-8CD6-77A4A58F76E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486575"/>
              </p:ext>
            </p:extLst>
          </p:nvPr>
        </p:nvGraphicFramePr>
        <p:xfrm>
          <a:off x="304800" y="1790700"/>
          <a:ext cx="8458200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2">
            <a:extLst>
              <a:ext uri="{FF2B5EF4-FFF2-40B4-BE49-F238E27FC236}">
                <a16:creationId xmlns:a16="http://schemas.microsoft.com/office/drawing/2014/main" id="{DE32ED0E-A10A-4784-B8A9-4CB752AC7DB6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12532168"/>
              </p:ext>
            </p:extLst>
          </p:nvPr>
        </p:nvGraphicFramePr>
        <p:xfrm>
          <a:off x="9144000" y="1937024"/>
          <a:ext cx="8077200" cy="743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Text Box 40">
            <a:extLst>
              <a:ext uri="{FF2B5EF4-FFF2-40B4-BE49-F238E27FC236}">
                <a16:creationId xmlns:a16="http://schemas.microsoft.com/office/drawing/2014/main" id="{DF114B9F-5A09-5432-0843-CC5C357C1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2846" y="9776787"/>
            <a:ext cx="4602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defTabSz="1371600" rtl="1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Tahoma" pitchFamily="34" charset="0"/>
                <a:ea typeface="SimHei" pitchFamily="2" charset="-122"/>
                <a:cs typeface="Arial"/>
              </a:rPr>
              <a:t>* Importance was derived using correlation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5F0271-9541-4083-9979-4A803135AD6A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736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451CC-0005-071F-E433-31812BD35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880A5204-8665-8B08-3636-12D098D0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Purchase Intent</a:t>
            </a:r>
            <a:endParaRPr sz="2800" dirty="0">
              <a:latin typeface="Pangram"/>
            </a:endParaRPr>
          </a:p>
        </p:txBody>
      </p:sp>
      <p:graphicFrame>
        <p:nvGraphicFramePr>
          <p:cNvPr id="23" name="C2">
            <a:extLst>
              <a:ext uri="{FF2B5EF4-FFF2-40B4-BE49-F238E27FC236}">
                <a16:creationId xmlns:a16="http://schemas.microsoft.com/office/drawing/2014/main" id="{D23BDE15-17B0-F509-25A8-0285321719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6122933"/>
              </p:ext>
            </p:extLst>
          </p:nvPr>
        </p:nvGraphicFramePr>
        <p:xfrm>
          <a:off x="9448802" y="1866900"/>
          <a:ext cx="8070442" cy="7590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89EAF61-3324-494E-ACBE-B637CAAD7694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0AE8880-0981-4F47-90D2-7B2CC60693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167169"/>
              </p:ext>
            </p:extLst>
          </p:nvPr>
        </p:nvGraphicFramePr>
        <p:xfrm>
          <a:off x="768759" y="1866900"/>
          <a:ext cx="8070441" cy="8378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1401CF-7312-4285-A039-0B89E23B9766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825526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9636-9ABC-6BD5-32FD-FFA80CCFE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A113F-F445-FDB5-C80F-E4C9E456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Pangram Body"/>
              </a:rPr>
              <a:t>NPS</a:t>
            </a:r>
            <a:endParaRPr lang="en-US" sz="2800" b="0" dirty="0">
              <a:latin typeface="Pangram Body"/>
            </a:endParaRPr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4A226E1B-25BE-14ED-92D1-F99F223C4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779186"/>
              </p:ext>
            </p:extLst>
          </p:nvPr>
        </p:nvGraphicFramePr>
        <p:xfrm>
          <a:off x="4724400" y="1790700"/>
          <a:ext cx="12953999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9">
            <a:extLst>
              <a:ext uri="{FF2B5EF4-FFF2-40B4-BE49-F238E27FC236}">
                <a16:creationId xmlns:a16="http://schemas.microsoft.com/office/drawing/2014/main" id="{74C8DE32-7B56-480B-126B-912F8F36B1A3}"/>
              </a:ext>
            </a:extLst>
          </p:cNvPr>
          <p:cNvSpPr txBox="1"/>
          <p:nvPr/>
        </p:nvSpPr>
        <p:spPr>
          <a:xfrm>
            <a:off x="0" y="1734545"/>
            <a:ext cx="4471639" cy="1077218"/>
          </a:xfrm>
          <a:prstGeom prst="rect">
            <a:avLst/>
          </a:prstGeom>
          <a:noFill/>
          <a:ln>
            <a:solidFill>
              <a:srgbClr val="61616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Pangram" panose="00000500000000000000" pitchFamily="50" charset="0"/>
                <a:ea typeface="+mn-ea"/>
                <a:cs typeface="+mn-cs"/>
                <a:sym typeface="Arial"/>
              </a:rPr>
              <a:t>NPS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Pangram" panose="00000500000000000000" pitchFamily="50" charset="0"/>
                <a:ea typeface="+mn-ea"/>
                <a:cs typeface="+mn-cs"/>
                <a:sym typeface="Arial"/>
              </a:rPr>
              <a:t> = Promoters – Rejectors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Pangram" panose="00000500000000000000" pitchFamily="50" charset="0"/>
                <a:ea typeface="+mn-ea"/>
                <a:cs typeface="+mn-cs"/>
                <a:sym typeface="Arial"/>
              </a:rPr>
              <a:t>Promoters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Pangram" panose="00000500000000000000" pitchFamily="50" charset="0"/>
                <a:ea typeface="+mn-ea"/>
                <a:cs typeface="+mn-cs"/>
                <a:sym typeface="Arial"/>
              </a:rPr>
              <a:t> : People who voted 9 or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Pangram" panose="00000500000000000000" pitchFamily="50" charset="0"/>
                <a:ea typeface="+mn-ea"/>
                <a:cs typeface="+mn-cs"/>
                <a:sym typeface="Arial"/>
              </a:rPr>
              <a:t>Neutral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Pangram" panose="00000500000000000000" pitchFamily="50" charset="0"/>
                <a:ea typeface="+mn-ea"/>
                <a:cs typeface="+mn-cs"/>
                <a:sym typeface="Arial"/>
              </a:rPr>
              <a:t> : People who vote from 7 to 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Pangram" panose="00000500000000000000" pitchFamily="50" charset="0"/>
                <a:ea typeface="+mn-ea"/>
                <a:cs typeface="+mn-cs"/>
                <a:sym typeface="Arial"/>
              </a:rPr>
              <a:t>Rejectors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Pangram" panose="00000500000000000000" pitchFamily="50" charset="0"/>
                <a:ea typeface="+mn-ea"/>
                <a:cs typeface="+mn-cs"/>
                <a:sym typeface="Arial"/>
              </a:rPr>
              <a:t> : People who voted from 1 – 6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100987-2CB7-4FCF-9C9D-4E68379FE387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  <a:latin typeface="Pangram"/>
              </a:rPr>
              <a:t>Base: 00</a:t>
            </a:r>
            <a:endParaRPr lang="en-US" dirty="0">
              <a:solidFill>
                <a:srgbClr val="173D75"/>
              </a:solidFill>
              <a:latin typeface="Pangra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DD9B4-7DFB-4A3F-AC03-D9BD361110F4}"/>
              </a:ext>
            </a:extLst>
          </p:cNvPr>
          <p:cNvSpPr txBox="1"/>
          <p:nvPr/>
        </p:nvSpPr>
        <p:spPr>
          <a:xfrm>
            <a:off x="7391400" y="2519065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NPS: ??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E86B69-6186-431D-A097-BA099B4541E5}"/>
              </a:ext>
            </a:extLst>
          </p:cNvPr>
          <p:cNvSpPr txBox="1"/>
          <p:nvPr/>
        </p:nvSpPr>
        <p:spPr>
          <a:xfrm>
            <a:off x="13030200" y="2550153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NPS: ??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6ABEE6-9245-4537-AB6E-C6C848FCB1D2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53246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062AE1-9C42-4E9F-AF6B-3EB01DF44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555037"/>
              </p:ext>
            </p:extLst>
          </p:nvPr>
        </p:nvGraphicFramePr>
        <p:xfrm>
          <a:off x="1036071" y="1790700"/>
          <a:ext cx="16215858" cy="7801591"/>
        </p:xfrm>
        <a:graphic>
          <a:graphicData uri="http://schemas.openxmlformats.org/drawingml/2006/table">
            <a:tbl>
              <a:tblPr/>
              <a:tblGrid>
                <a:gridCol w="3618732">
                  <a:extLst>
                    <a:ext uri="{9D8B030D-6E8A-4147-A177-3AD203B41FA5}">
                      <a16:colId xmlns:a16="http://schemas.microsoft.com/office/drawing/2014/main" val="1527183849"/>
                    </a:ext>
                  </a:extLst>
                </a:gridCol>
                <a:gridCol w="5527539">
                  <a:extLst>
                    <a:ext uri="{9D8B030D-6E8A-4147-A177-3AD203B41FA5}">
                      <a16:colId xmlns:a16="http://schemas.microsoft.com/office/drawing/2014/main" val="3149269341"/>
                    </a:ext>
                  </a:extLst>
                </a:gridCol>
                <a:gridCol w="2356529">
                  <a:extLst>
                    <a:ext uri="{9D8B030D-6E8A-4147-A177-3AD203B41FA5}">
                      <a16:colId xmlns:a16="http://schemas.microsoft.com/office/drawing/2014/main" val="2460928039"/>
                    </a:ext>
                  </a:extLst>
                </a:gridCol>
                <a:gridCol w="2356529">
                  <a:extLst>
                    <a:ext uri="{9D8B030D-6E8A-4147-A177-3AD203B41FA5}">
                      <a16:colId xmlns:a16="http://schemas.microsoft.com/office/drawing/2014/main" val="3720180568"/>
                    </a:ext>
                  </a:extLst>
                </a:gridCol>
                <a:gridCol w="2356529">
                  <a:extLst>
                    <a:ext uri="{9D8B030D-6E8A-4147-A177-3AD203B41FA5}">
                      <a16:colId xmlns:a16="http://schemas.microsoft.com/office/drawing/2014/main" val="3062808964"/>
                    </a:ext>
                  </a:extLst>
                </a:gridCol>
              </a:tblGrid>
              <a:tr h="13114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02060"/>
                          </a:solidFill>
                          <a:latin typeface="Pangram" panose="00000500000000000000" pitchFamily="50" charset="0"/>
                        </a:rPr>
                        <a:t>Criteria-Overall-1</a:t>
                      </a:r>
                      <a:endParaRPr lang="en-US" sz="2200" b="1" dirty="0">
                        <a:solidFill>
                          <a:srgbClr val="002060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2700"/>
                        </a:lnSpc>
                        <a:defRPr/>
                      </a:pPr>
                      <a:endParaRPr lang="en-US" sz="2200" dirty="0">
                        <a:solidFill>
                          <a:srgbClr val="002060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 b="1" dirty="0">
                          <a:solidFill>
                            <a:srgbClr val="002060"/>
                          </a:solidFill>
                          <a:latin typeface="Pangram" panose="00000500000000000000" pitchFamily="50" charset="0"/>
                          <a:cs typeface="Pangram Bold"/>
                          <a:sym typeface="Pangram Bold"/>
                        </a:rPr>
                        <a:t>significance</a:t>
                      </a:r>
                      <a:endParaRPr lang="en-US" sz="2200" dirty="0">
                        <a:solidFill>
                          <a:srgbClr val="002060"/>
                        </a:solidFill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 b="1" dirty="0">
                          <a:solidFill>
                            <a:srgbClr val="002060"/>
                          </a:solidFill>
                          <a:latin typeface="Pangram" panose="00000500000000000000" pitchFamily="50" charset="0"/>
                        </a:rPr>
                        <a:t>My brand Top 2 Boxes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00" b="1" dirty="0">
                          <a:solidFill>
                            <a:srgbClr val="002060"/>
                          </a:solidFill>
                          <a:latin typeface="Pangram" panose="00000500000000000000" pitchFamily="50" charset="0"/>
                        </a:rPr>
                        <a:t>Other Top 2 Boxes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153240"/>
                  </a:ext>
                </a:extLst>
              </a:tr>
              <a:tr h="7211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612735"/>
                  </a:ext>
                </a:extLst>
              </a:tr>
              <a:tr h="7211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492729"/>
                  </a:ext>
                </a:extLst>
              </a:tr>
              <a:tr h="7211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98947"/>
                  </a:ext>
                </a:extLst>
              </a:tr>
              <a:tr h="721122"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907305"/>
                  </a:ext>
                </a:extLst>
              </a:tr>
              <a:tr h="721122"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08975"/>
                  </a:ext>
                </a:extLst>
              </a:tr>
              <a:tr h="721122"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198036"/>
                  </a:ext>
                </a:extLst>
              </a:tr>
              <a:tr h="721122"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548268"/>
                  </a:ext>
                </a:extLst>
              </a:tr>
              <a:tr h="721122"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49071"/>
                  </a:ext>
                </a:extLst>
              </a:tr>
              <a:tr h="721122"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Pangram" panose="00000500000000000000" pitchFamily="50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602159"/>
                  </a:ext>
                </a:extLst>
              </a:tr>
            </a:tbl>
          </a:graphicData>
        </a:graphic>
      </p:graphicFrame>
      <p:graphicFrame>
        <p:nvGraphicFramePr>
          <p:cNvPr id="9" name="C1">
            <a:extLst>
              <a:ext uri="{FF2B5EF4-FFF2-40B4-BE49-F238E27FC236}">
                <a16:creationId xmlns:a16="http://schemas.microsoft.com/office/drawing/2014/main" id="{46428088-C7E8-4E70-AFA8-4E7F3804AB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1723474"/>
              </p:ext>
            </p:extLst>
          </p:nvPr>
        </p:nvGraphicFramePr>
        <p:xfrm>
          <a:off x="4876800" y="1790700"/>
          <a:ext cx="5029200" cy="8454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880EBC9-BC23-4E75-A253-9828E070AD27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  <a:latin typeface="Pangram"/>
              </a:rPr>
              <a:t>Base: 00</a:t>
            </a:r>
            <a:endParaRPr lang="en-US" dirty="0">
              <a:solidFill>
                <a:srgbClr val="173D75"/>
              </a:solidFill>
              <a:latin typeface="Pangram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A12303-5C77-4E1B-8932-438CB021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Overall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9AA43-62D5-423A-993B-9AA295DE41E0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80313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B3A87-BE1B-C59C-54CD-067096397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3772BA12-92C5-F314-5F15-C5843C4C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Sub Features</a:t>
            </a:r>
            <a:endParaRPr sz="2800" dirty="0">
              <a:latin typeface="Pangram"/>
            </a:endParaRPr>
          </a:p>
        </p:txBody>
      </p:sp>
      <p:graphicFrame>
        <p:nvGraphicFramePr>
          <p:cNvPr id="4" name="T1">
            <a:extLst>
              <a:ext uri="{FF2B5EF4-FFF2-40B4-BE49-F238E27FC236}">
                <a16:creationId xmlns:a16="http://schemas.microsoft.com/office/drawing/2014/main" id="{063E8DE7-F0CF-490A-9B0E-ADC9E096B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797622"/>
              </p:ext>
            </p:extLst>
          </p:nvPr>
        </p:nvGraphicFramePr>
        <p:xfrm>
          <a:off x="1210837" y="1790700"/>
          <a:ext cx="15697201" cy="8301022"/>
        </p:xfrm>
        <a:graphic>
          <a:graphicData uri="http://schemas.openxmlformats.org/drawingml/2006/table">
            <a:tbl>
              <a:tblPr/>
              <a:tblGrid>
                <a:gridCol w="3153929">
                  <a:extLst>
                    <a:ext uri="{9D8B030D-6E8A-4147-A177-3AD203B41FA5}">
                      <a16:colId xmlns:a16="http://schemas.microsoft.com/office/drawing/2014/main" val="2851615600"/>
                    </a:ext>
                  </a:extLst>
                </a:gridCol>
                <a:gridCol w="3153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1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1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Hei" pitchFamily="2" charset="-122"/>
                          <a:cs typeface="Tahoma" pitchFamily="34" charset="0"/>
                        </a:rPr>
                        <a:t>Criteria-Sub</a:t>
                      </a:r>
                    </a:p>
                  </a:txBody>
                  <a:tcPr marL="137160" marR="137160" marT="68580" marB="6858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Hei" pitchFamily="2" charset="-122"/>
                          <a:cs typeface="Tahoma" pitchFamily="34" charset="0"/>
                        </a:rPr>
                        <a:t>scale1</a:t>
                      </a:r>
                    </a:p>
                  </a:txBody>
                  <a:tcPr marL="137160" marR="137160" marT="68580" marB="6858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Hei" pitchFamily="2" charset="-122"/>
                          <a:cs typeface="Tahoma" pitchFamily="34" charset="0"/>
                        </a:rPr>
                        <a:t>scale5</a:t>
                      </a: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Hei" pitchFamily="2" charset="-122"/>
                          <a:cs typeface="Tahoma" pitchFamily="34" charset="0"/>
                        </a:rPr>
                        <a:t>significance</a:t>
                      </a: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0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0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Tahoma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0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9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0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0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Tahoma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0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0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6085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0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SimHei" pitchFamily="2" charset="-122"/>
                        <a:cs typeface="Tahoma" pitchFamily="34" charset="0"/>
                      </a:endParaRPr>
                    </a:p>
                  </a:txBody>
                  <a:tcPr marL="137160" marR="137160" marT="68580" marB="6858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1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1pPr>
                      <a:lvl2pPr marL="22861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2pPr>
                      <a:lvl3pPr marL="457223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3pPr>
                      <a:lvl4pPr marL="685834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4pPr>
                      <a:lvl5pPr marL="914446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5pPr>
                      <a:lvl6pPr marL="1143057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6pPr>
                      <a:lvl7pPr marL="1371669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7pPr>
                      <a:lvl8pPr marL="1600280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8pPr>
                      <a:lvl9pPr marL="1828891" algn="l" defTabSz="457223" rtl="0" eaLnBrk="1" latinLnBrk="0" hangingPunct="1">
                        <a:defRPr sz="900" kern="1200">
                          <a:solidFill>
                            <a:schemeClr val="tx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sz="1800" b="0" dirty="0">
                        <a:solidFill>
                          <a:srgbClr val="575555"/>
                        </a:solidFill>
                        <a:latin typeface="Pangram"/>
                      </a:endParaRPr>
                    </a:p>
                  </a:txBody>
                  <a:tcPr marL="137160" marR="137160" marT="68580" marB="685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graphicFrame>
        <p:nvGraphicFramePr>
          <p:cNvPr id="5" name="C1">
            <a:extLst>
              <a:ext uri="{FF2B5EF4-FFF2-40B4-BE49-F238E27FC236}">
                <a16:creationId xmlns:a16="http://schemas.microsoft.com/office/drawing/2014/main" id="{57726339-7E51-44EF-BE36-3D9F342E7A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625202"/>
              </p:ext>
            </p:extLst>
          </p:nvPr>
        </p:nvGraphicFramePr>
        <p:xfrm>
          <a:off x="7072312" y="1790700"/>
          <a:ext cx="4143375" cy="8496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872181-4C53-4170-9656-C0AC01BC1314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A1F9D-9427-46B9-A3ED-89FD30DD8353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34792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7E385-97C1-458C-AD13-6B45B6882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8288000" cy="1028700"/>
          </a:xfrm>
        </p:spPr>
        <p:txBody>
          <a:bodyPr/>
          <a:lstStyle/>
          <a:p>
            <a:r>
              <a:rPr lang="en-US" sz="2800" dirty="0"/>
              <a:t>Areas To Maintain</a:t>
            </a:r>
          </a:p>
        </p:txBody>
      </p:sp>
      <p:graphicFrame>
        <p:nvGraphicFramePr>
          <p:cNvPr id="4" name="T1">
            <a:extLst>
              <a:ext uri="{FF2B5EF4-FFF2-40B4-BE49-F238E27FC236}">
                <a16:creationId xmlns:a16="http://schemas.microsoft.com/office/drawing/2014/main" id="{9081233B-10C8-4105-B5F6-73D95C515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012048"/>
              </p:ext>
            </p:extLst>
          </p:nvPr>
        </p:nvGraphicFramePr>
        <p:xfrm>
          <a:off x="609600" y="1821874"/>
          <a:ext cx="7543799" cy="7180191"/>
        </p:xfrm>
        <a:graphic>
          <a:graphicData uri="http://schemas.openxmlformats.org/drawingml/2006/table">
            <a:tbl>
              <a:tblPr/>
              <a:tblGrid>
                <a:gridCol w="7543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3200" dirty="0"/>
                        <a:t>Areas To Maintain</a:t>
                      </a:r>
                    </a:p>
                  </a:txBody>
                  <a:tcPr marT="91440" marB="9144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92151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1">
            <a:extLst>
              <a:ext uri="{FF2B5EF4-FFF2-40B4-BE49-F238E27FC236}">
                <a16:creationId xmlns:a16="http://schemas.microsoft.com/office/drawing/2014/main" id="{D2E7B609-2F95-421B-A67F-E7902B6B4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63204"/>
              </p:ext>
            </p:extLst>
          </p:nvPr>
        </p:nvGraphicFramePr>
        <p:xfrm>
          <a:off x="10125308" y="1821874"/>
          <a:ext cx="7543799" cy="7180191"/>
        </p:xfrm>
        <a:graphic>
          <a:graphicData uri="http://schemas.openxmlformats.org/drawingml/2006/table">
            <a:tbl>
              <a:tblPr/>
              <a:tblGrid>
                <a:gridCol w="7543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3200" dirty="0"/>
                        <a:t>Areas To Improve</a:t>
                      </a:r>
                    </a:p>
                  </a:txBody>
                  <a:tcPr marT="91440" marB="9144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92151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779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84DD014-9D7E-4C48-9EF2-B5EF4F00B8D4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9944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41980" y="9518844"/>
            <a:ext cx="468432" cy="411446"/>
            <a:chOff x="0" y="0"/>
            <a:chExt cx="624576" cy="5485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4586" cy="548640"/>
            </a:xfrm>
            <a:custGeom>
              <a:avLst/>
              <a:gdLst/>
              <a:ahLst/>
              <a:cxnLst/>
              <a:rect l="l" t="t" r="r" b="b"/>
              <a:pathLst>
                <a:path w="624586" h="548640">
                  <a:moveTo>
                    <a:pt x="0" y="0"/>
                  </a:moveTo>
                  <a:lnTo>
                    <a:pt x="624586" y="0"/>
                  </a:lnTo>
                  <a:lnTo>
                    <a:pt x="624586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5" r="-43" b="8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15" name="T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438801"/>
              </p:ext>
            </p:extLst>
          </p:nvPr>
        </p:nvGraphicFramePr>
        <p:xfrm>
          <a:off x="685800" y="1801710"/>
          <a:ext cx="7543799" cy="7717131"/>
        </p:xfrm>
        <a:graphic>
          <a:graphicData uri="http://schemas.openxmlformats.org/drawingml/2006/table">
            <a:tbl>
              <a:tblPr/>
              <a:tblGrid>
                <a:gridCol w="5689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3600" dirty="0"/>
                        <a:t>Likes1</a:t>
                      </a:r>
                      <a:endParaRPr lang="en-US" sz="3200" dirty="0"/>
                    </a:p>
                  </a:txBody>
                  <a:tcPr marT="91440" marB="9144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Percentage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92151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66653E1-3B7E-47C1-AB0C-02F77DFE984D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7010400" y="1800568"/>
            <a:ext cx="567238" cy="598589"/>
          </a:xfrm>
          <a:custGeom>
            <a:avLst/>
            <a:gdLst/>
            <a:ahLst/>
            <a:cxnLst/>
            <a:rect l="l" t="t" r="r" b="b"/>
            <a:pathLst>
              <a:path w="872038" h="834976">
                <a:moveTo>
                  <a:pt x="0" y="0"/>
                </a:moveTo>
                <a:lnTo>
                  <a:pt x="872038" y="0"/>
                </a:lnTo>
                <a:lnTo>
                  <a:pt x="872038" y="834976"/>
                </a:lnTo>
                <a:lnTo>
                  <a:pt x="0" y="8349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aphicFrame>
        <p:nvGraphicFramePr>
          <p:cNvPr id="17" name="T1">
            <a:extLst>
              <a:ext uri="{FF2B5EF4-FFF2-40B4-BE49-F238E27FC236}">
                <a16:creationId xmlns:a16="http://schemas.microsoft.com/office/drawing/2014/main" id="{C4C199E6-CD78-4369-A194-F2F0207DE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830535"/>
              </p:ext>
            </p:extLst>
          </p:nvPr>
        </p:nvGraphicFramePr>
        <p:xfrm>
          <a:off x="10058401" y="1943100"/>
          <a:ext cx="7543799" cy="7717131"/>
        </p:xfrm>
        <a:graphic>
          <a:graphicData uri="http://schemas.openxmlformats.org/drawingml/2006/table">
            <a:tbl>
              <a:tblPr/>
              <a:tblGrid>
                <a:gridCol w="5689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3600" dirty="0"/>
                        <a:t>Likes2</a:t>
                      </a:r>
                      <a:endParaRPr lang="en-US" sz="3200" dirty="0"/>
                    </a:p>
                  </a:txBody>
                  <a:tcPr marT="91440" marB="9144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100" dirty="0"/>
                        <a:t>Percentage</a:t>
                      </a:r>
                    </a:p>
                  </a:txBody>
                  <a:tcPr marT="91440" marB="9144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92151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745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Freeform 10">
            <a:extLst>
              <a:ext uri="{FF2B5EF4-FFF2-40B4-BE49-F238E27FC236}">
                <a16:creationId xmlns:a16="http://schemas.microsoft.com/office/drawing/2014/main" id="{53089831-DF1C-4885-89F0-6602C36CA060}"/>
              </a:ext>
            </a:extLst>
          </p:cNvPr>
          <p:cNvSpPr/>
          <p:nvPr/>
        </p:nvSpPr>
        <p:spPr>
          <a:xfrm>
            <a:off x="16383000" y="1941958"/>
            <a:ext cx="567238" cy="598589"/>
          </a:xfrm>
          <a:custGeom>
            <a:avLst/>
            <a:gdLst/>
            <a:ahLst/>
            <a:cxnLst/>
            <a:rect l="l" t="t" r="r" b="b"/>
            <a:pathLst>
              <a:path w="872038" h="834976">
                <a:moveTo>
                  <a:pt x="0" y="0"/>
                </a:moveTo>
                <a:lnTo>
                  <a:pt x="872038" y="0"/>
                </a:lnTo>
                <a:lnTo>
                  <a:pt x="872038" y="834976"/>
                </a:lnTo>
                <a:lnTo>
                  <a:pt x="0" y="8349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65A591-CF01-4ED5-907E-2967DCA0967A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84982B7-CD25-46B5-A69B-3A05FD069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505"/>
            <a:ext cx="18288000" cy="1028700"/>
          </a:xfrm>
        </p:spPr>
        <p:txBody>
          <a:bodyPr/>
          <a:lstStyle/>
          <a:p>
            <a:r>
              <a:rPr lang="en-US" sz="2800" dirty="0"/>
              <a:t>Likes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41980" y="9518844"/>
            <a:ext cx="468432" cy="411446"/>
            <a:chOff x="0" y="0"/>
            <a:chExt cx="624576" cy="5485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4586" cy="548640"/>
            </a:xfrm>
            <a:custGeom>
              <a:avLst/>
              <a:gdLst/>
              <a:ahLst/>
              <a:cxnLst/>
              <a:rect l="l" t="t" r="r" b="b"/>
              <a:pathLst>
                <a:path w="624586" h="548640">
                  <a:moveTo>
                    <a:pt x="0" y="0"/>
                  </a:moveTo>
                  <a:lnTo>
                    <a:pt x="624586" y="0"/>
                  </a:lnTo>
                  <a:lnTo>
                    <a:pt x="624586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5" r="-43" b="8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14" name="T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521607"/>
              </p:ext>
            </p:extLst>
          </p:nvPr>
        </p:nvGraphicFramePr>
        <p:xfrm>
          <a:off x="9906000" y="1562099"/>
          <a:ext cx="7848600" cy="7955604"/>
        </p:xfrm>
        <a:graphic>
          <a:graphicData uri="http://schemas.openxmlformats.org/drawingml/2006/table">
            <a:tbl>
              <a:tblPr/>
              <a:tblGrid>
                <a:gridCol w="586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092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CD393B"/>
                          </a:solidFill>
                        </a:rPr>
                        <a:t>Dislikes2</a:t>
                      </a:r>
                    </a:p>
                  </a:txBody>
                  <a:tcPr marT="91440" marB="9144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CD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100" dirty="0"/>
                        <a:t>Percentage</a:t>
                      </a:r>
                    </a:p>
                  </a:txBody>
                  <a:tcPr marT="91440" marB="9144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CD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674126"/>
                  </a:ext>
                </a:extLst>
              </a:tr>
              <a:tr h="88987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CD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CD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782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782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82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782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82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782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782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" name="T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829792"/>
              </p:ext>
            </p:extLst>
          </p:nvPr>
        </p:nvGraphicFramePr>
        <p:xfrm>
          <a:off x="533400" y="1562098"/>
          <a:ext cx="7848600" cy="7956749"/>
        </p:xfrm>
        <a:graphic>
          <a:graphicData uri="http://schemas.openxmlformats.org/drawingml/2006/table">
            <a:tbl>
              <a:tblPr/>
              <a:tblGrid>
                <a:gridCol w="5919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5701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CD393B"/>
                          </a:solidFill>
                          <a:latin typeface="Pangram (Body)"/>
                        </a:rPr>
                        <a:t>Dislikes1</a:t>
                      </a:r>
                    </a:p>
                  </a:txBody>
                  <a:tcPr marT="91440" marB="9144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CD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100" dirty="0">
                          <a:solidFill>
                            <a:srgbClr val="CD393B"/>
                          </a:solidFill>
                          <a:latin typeface="Pangram (Body)"/>
                        </a:rPr>
                        <a:t>Percentage</a:t>
                      </a:r>
                    </a:p>
                  </a:txBody>
                  <a:tcPr marT="91440" marB="9144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CD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599748"/>
                  </a:ext>
                </a:extLst>
              </a:tr>
              <a:tr h="84388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CD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CD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88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88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388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388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388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388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388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 dirty="0">
                        <a:solidFill>
                          <a:srgbClr val="CD393B"/>
                        </a:solidFill>
                        <a:latin typeface="Pangram (Body)"/>
                      </a:endParaRPr>
                    </a:p>
                  </a:txBody>
                  <a:tcPr marT="91440" marB="91440" anchor="ctr">
                    <a:lnL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66653E1-3B7E-47C1-AB0C-02F77DFE984D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73D75"/>
                </a:solidFill>
              </a:rPr>
              <a:t>Base: 00</a:t>
            </a:r>
            <a:endParaRPr lang="en-US" dirty="0">
              <a:solidFill>
                <a:srgbClr val="173D75"/>
              </a:solidFill>
            </a:endParaRP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25E9B850-2232-48CA-871D-C560181D0187}"/>
              </a:ext>
            </a:extLst>
          </p:cNvPr>
          <p:cNvSpPr/>
          <p:nvPr/>
        </p:nvSpPr>
        <p:spPr>
          <a:xfrm>
            <a:off x="7239000" y="1919701"/>
            <a:ext cx="533400" cy="556799"/>
          </a:xfrm>
          <a:custGeom>
            <a:avLst/>
            <a:gdLst/>
            <a:ahLst/>
            <a:cxnLst/>
            <a:rect l="l" t="t" r="r" b="b"/>
            <a:pathLst>
              <a:path w="829642" h="794382">
                <a:moveTo>
                  <a:pt x="0" y="0"/>
                </a:moveTo>
                <a:lnTo>
                  <a:pt x="829642" y="0"/>
                </a:lnTo>
                <a:lnTo>
                  <a:pt x="829642" y="794382"/>
                </a:lnTo>
                <a:lnTo>
                  <a:pt x="0" y="794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06E73852-2DF4-48DC-AB3B-ADD4FF4B74D7}"/>
              </a:ext>
            </a:extLst>
          </p:cNvPr>
          <p:cNvSpPr/>
          <p:nvPr/>
        </p:nvSpPr>
        <p:spPr>
          <a:xfrm>
            <a:off x="16459200" y="1919701"/>
            <a:ext cx="533400" cy="556799"/>
          </a:xfrm>
          <a:custGeom>
            <a:avLst/>
            <a:gdLst/>
            <a:ahLst/>
            <a:cxnLst/>
            <a:rect l="l" t="t" r="r" b="b"/>
            <a:pathLst>
              <a:path w="829642" h="794382">
                <a:moveTo>
                  <a:pt x="0" y="0"/>
                </a:moveTo>
                <a:lnTo>
                  <a:pt x="829642" y="0"/>
                </a:lnTo>
                <a:lnTo>
                  <a:pt x="829642" y="794382"/>
                </a:lnTo>
                <a:lnTo>
                  <a:pt x="0" y="794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E29F2E-56E4-4C30-A67A-0A4BB99EE475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DF7DAB1-4C0D-4266-A29C-273FB0015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956"/>
            <a:ext cx="18288000" cy="1028700"/>
          </a:xfrm>
        </p:spPr>
        <p:txBody>
          <a:bodyPr/>
          <a:lstStyle/>
          <a:p>
            <a:r>
              <a:rPr lang="en-US" sz="2800" dirty="0"/>
              <a:t>Dislikes</a:t>
            </a:r>
          </a:p>
        </p:txBody>
      </p:sp>
    </p:spTree>
    <p:extLst>
      <p:ext uri="{BB962C8B-B14F-4D97-AF65-F5344CB8AC3E}">
        <p14:creationId xmlns:p14="http://schemas.microsoft.com/office/powerpoint/2010/main" val="13928512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C0A5-1535-4ABF-A5D8-CFD3441E0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8288000" cy="1028700"/>
          </a:xfrm>
        </p:spPr>
        <p:txBody>
          <a:bodyPr/>
          <a:lstStyle/>
          <a:p>
            <a:r>
              <a:rPr lang="en-US" sz="2800" dirty="0">
                <a:latin typeface="Pangram Headings"/>
              </a:rPr>
              <a:t>Improvements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047CA5C-2F9B-4D12-B41D-6F405F46D72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F8B6F6-7DAC-4305-9573-2191A6F97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466596"/>
              </p:ext>
            </p:extLst>
          </p:nvPr>
        </p:nvGraphicFramePr>
        <p:xfrm>
          <a:off x="391437" y="1821871"/>
          <a:ext cx="8193207" cy="8198432"/>
        </p:xfrm>
        <a:graphic>
          <a:graphicData uri="http://schemas.openxmlformats.org/drawingml/2006/table">
            <a:tbl>
              <a:tblPr firstRow="1" firstCol="1" lastRow="1">
                <a:tableStyleId>{793D81CF-94F2-401A-BA57-92F5A7B2D0C5}</a:tableStyleId>
              </a:tblPr>
              <a:tblGrid>
                <a:gridCol w="5296618">
                  <a:extLst>
                    <a:ext uri="{9D8B030D-6E8A-4147-A177-3AD203B41FA5}">
                      <a16:colId xmlns:a16="http://schemas.microsoft.com/office/drawing/2014/main" val="1810647779"/>
                    </a:ext>
                  </a:extLst>
                </a:gridCol>
                <a:gridCol w="2896589">
                  <a:extLst>
                    <a:ext uri="{9D8B030D-6E8A-4147-A177-3AD203B41FA5}">
                      <a16:colId xmlns:a16="http://schemas.microsoft.com/office/drawing/2014/main" val="2311068149"/>
                    </a:ext>
                  </a:extLst>
                </a:gridCol>
              </a:tblGrid>
              <a:tr h="7453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Pangram" panose="00000500000000000000" pitchFamily="50" charset="0"/>
                        </a:rPr>
                        <a:t>Improvements1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1" u="none" strike="noStrike" dirty="0">
                          <a:effectLst/>
                          <a:latin typeface="Pangram" panose="00000500000000000000" pitchFamily="50" charset="0"/>
                        </a:rPr>
                        <a:t>Percentage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39081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125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330711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461562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5167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43175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004595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138666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47592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48354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5833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F0614B-3432-4F8E-9B33-6E66D3553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04797"/>
              </p:ext>
            </p:extLst>
          </p:nvPr>
        </p:nvGraphicFramePr>
        <p:xfrm>
          <a:off x="8991601" y="1821871"/>
          <a:ext cx="8904958" cy="8198432"/>
        </p:xfrm>
        <a:graphic>
          <a:graphicData uri="http://schemas.openxmlformats.org/drawingml/2006/table">
            <a:tbl>
              <a:tblPr firstRow="1" lastRow="1">
                <a:tableStyleId>{793D81CF-94F2-401A-BA57-92F5A7B2D0C5}</a:tableStyleId>
              </a:tblPr>
              <a:tblGrid>
                <a:gridCol w="5756739">
                  <a:extLst>
                    <a:ext uri="{9D8B030D-6E8A-4147-A177-3AD203B41FA5}">
                      <a16:colId xmlns:a16="http://schemas.microsoft.com/office/drawing/2014/main" val="2095457185"/>
                    </a:ext>
                  </a:extLst>
                </a:gridCol>
                <a:gridCol w="3148219">
                  <a:extLst>
                    <a:ext uri="{9D8B030D-6E8A-4147-A177-3AD203B41FA5}">
                      <a16:colId xmlns:a16="http://schemas.microsoft.com/office/drawing/2014/main" val="666033597"/>
                    </a:ext>
                  </a:extLst>
                </a:gridCol>
              </a:tblGrid>
              <a:tr h="7453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Pangram" panose="00000500000000000000" pitchFamily="50" charset="0"/>
                        </a:rPr>
                        <a:t>Improvements2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u="none" strike="noStrike" dirty="0">
                          <a:effectLst/>
                          <a:latin typeface="Pangram" panose="00000500000000000000" pitchFamily="50" charset="0"/>
                        </a:rPr>
                        <a:t>Percentage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6456885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59601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2429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511045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025793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31990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910726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800" b="1" i="0" u="none" strike="noStrike" cap="none" dirty="0">
                        <a:solidFill>
                          <a:schemeClr val="dk1"/>
                        </a:solidFill>
                        <a:effectLst/>
                        <a:latin typeface="Pangram" panose="00000500000000000000" pitchFamily="50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800" b="1" i="0" u="none" strike="noStrike" cap="none" dirty="0">
                        <a:solidFill>
                          <a:schemeClr val="dk1"/>
                        </a:solidFill>
                        <a:effectLst/>
                        <a:latin typeface="Pangram" panose="00000500000000000000" pitchFamily="50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414097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866810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225998"/>
                  </a:ext>
                </a:extLst>
              </a:tr>
              <a:tr h="745312"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angram" panose="00000500000000000000" pitchFamily="50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67415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D559C17-ED1C-4C3E-8A34-822B6BA37DF8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198489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483DC-B114-4EAB-AD3C-9D1700008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Switching Behavior Per Brand</a:t>
            </a:r>
          </a:p>
        </p:txBody>
      </p:sp>
      <p:graphicFrame>
        <p:nvGraphicFramePr>
          <p:cNvPr id="4" name="C1">
            <a:extLst>
              <a:ext uri="{FF2B5EF4-FFF2-40B4-BE49-F238E27FC236}">
                <a16:creationId xmlns:a16="http://schemas.microsoft.com/office/drawing/2014/main" id="{3649E404-2C76-4260-BD7D-29572BF8C73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7780869"/>
              </p:ext>
            </p:extLst>
          </p:nvPr>
        </p:nvGraphicFramePr>
        <p:xfrm>
          <a:off x="304800" y="1790700"/>
          <a:ext cx="7467600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1">
            <a:extLst>
              <a:ext uri="{FF2B5EF4-FFF2-40B4-BE49-F238E27FC236}">
                <a16:creationId xmlns:a16="http://schemas.microsoft.com/office/drawing/2014/main" id="{B02DF5B1-75B1-4B78-9423-A2BADEB09B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540787"/>
              </p:ext>
            </p:extLst>
          </p:nvPr>
        </p:nvGraphicFramePr>
        <p:xfrm>
          <a:off x="7772400" y="1790700"/>
          <a:ext cx="9906000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C014A3-7CEA-48FE-B74C-F73BB621503F}"/>
              </a:ext>
            </a:extLst>
          </p:cNvPr>
          <p:cNvCxnSpPr>
            <a:cxnSpLocks/>
          </p:cNvCxnSpPr>
          <p:nvPr/>
        </p:nvCxnSpPr>
        <p:spPr>
          <a:xfrm>
            <a:off x="7750098" y="2292363"/>
            <a:ext cx="0" cy="7118337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E56BBD-AF18-4657-B68D-C9B66E123458}"/>
              </a:ext>
            </a:extLst>
          </p:cNvPr>
          <p:cNvSpPr txBox="1"/>
          <p:nvPr/>
        </p:nvSpPr>
        <p:spPr>
          <a:xfrm>
            <a:off x="29737" y="1028700"/>
            <a:ext cx="18258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5792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2630-302C-4A00-8F56-628980AFE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1BA63-A3FE-4963-8BC0-16F834DBD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686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8405-0C49-4F47-98E8-BC28BB32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Tabs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378DD-9870-4EDD-9510-40A91C269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758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2-sc-charts. What’s The Main Insight Here?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ACC92-F170-441C-9570-A3E77F495C10}"/>
              </a:ext>
            </a:extLst>
          </p:cNvPr>
          <p:cNvSpPr txBox="1"/>
          <p:nvPr/>
        </p:nvSpPr>
        <p:spPr>
          <a:xfrm>
            <a:off x="3429000" y="9308802"/>
            <a:ext cx="2286000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Base1: 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B3DA2-8496-47B6-9B18-763009AE2C74}"/>
              </a:ext>
            </a:extLst>
          </p:cNvPr>
          <p:cNvSpPr txBox="1"/>
          <p:nvPr/>
        </p:nvSpPr>
        <p:spPr>
          <a:xfrm>
            <a:off x="12801600" y="9308802"/>
            <a:ext cx="2057400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Base2: 00</a:t>
            </a:r>
          </a:p>
        </p:txBody>
      </p: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366B90B5-19AF-4D29-8455-6A96FAE2EA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4943577"/>
              </p:ext>
            </p:extLst>
          </p:nvPr>
        </p:nvGraphicFramePr>
        <p:xfrm>
          <a:off x="10287000" y="2057400"/>
          <a:ext cx="7086600" cy="7089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AA59F8D-28F0-4914-A885-323400046B00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D754313-C8E6-4FCA-8878-D748F78712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5709714"/>
              </p:ext>
            </p:extLst>
          </p:nvPr>
        </p:nvGraphicFramePr>
        <p:xfrm>
          <a:off x="1066800" y="2057400"/>
          <a:ext cx="8686800" cy="7089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68274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3-sc-charts. What’s The Main Insight Here?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83FD4E7-4D0A-4394-9497-DD3F03DB3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8780647"/>
              </p:ext>
            </p:extLst>
          </p:nvPr>
        </p:nvGraphicFramePr>
        <p:xfrm>
          <a:off x="304800" y="1790699"/>
          <a:ext cx="6705599" cy="7620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55ACC92-F170-441C-9570-A3E77F495C10}"/>
              </a:ext>
            </a:extLst>
          </p:cNvPr>
          <p:cNvSpPr txBox="1"/>
          <p:nvPr/>
        </p:nvSpPr>
        <p:spPr>
          <a:xfrm>
            <a:off x="2840308" y="9556122"/>
            <a:ext cx="2207937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Base1: 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B3DA2-8496-47B6-9B18-763009AE2C74}"/>
              </a:ext>
            </a:extLst>
          </p:cNvPr>
          <p:cNvSpPr txBox="1"/>
          <p:nvPr/>
        </p:nvSpPr>
        <p:spPr>
          <a:xfrm>
            <a:off x="8630577" y="9556123"/>
            <a:ext cx="1943102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Base2: 00</a:t>
            </a:r>
          </a:p>
        </p:txBody>
      </p: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366B90B5-19AF-4D29-8455-6A96FAE2EA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2743610"/>
              </p:ext>
            </p:extLst>
          </p:nvPr>
        </p:nvGraphicFramePr>
        <p:xfrm>
          <a:off x="12193858" y="1790700"/>
          <a:ext cx="4876800" cy="7765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ontent Placeholder 10">
            <a:extLst>
              <a:ext uri="{FF2B5EF4-FFF2-40B4-BE49-F238E27FC236}">
                <a16:creationId xmlns:a16="http://schemas.microsoft.com/office/drawing/2014/main" id="{D827DC41-8AD0-4381-BF0F-CB9B5E4C66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0315020"/>
              </p:ext>
            </p:extLst>
          </p:nvPr>
        </p:nvGraphicFramePr>
        <p:xfrm>
          <a:off x="7163729" y="1790699"/>
          <a:ext cx="4876799" cy="7619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7F29E4A-EA05-45BC-8147-B85C149CC7D1}"/>
              </a:ext>
            </a:extLst>
          </p:cNvPr>
          <p:cNvSpPr txBox="1"/>
          <p:nvPr/>
        </p:nvSpPr>
        <p:spPr>
          <a:xfrm>
            <a:off x="13660707" y="9556122"/>
            <a:ext cx="1943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Base3: 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D8560-E137-4C11-A272-C2826983E7D3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531218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4-sc-charts. What’s The Main Insight Here?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83FD4E7-4D0A-4394-9497-DD3F03DB3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4741810"/>
              </p:ext>
            </p:extLst>
          </p:nvPr>
        </p:nvGraphicFramePr>
        <p:xfrm>
          <a:off x="304799" y="1790700"/>
          <a:ext cx="5668537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55ACC92-F170-441C-9570-A3E77F495C10}"/>
              </a:ext>
            </a:extLst>
          </p:cNvPr>
          <p:cNvSpPr txBox="1"/>
          <p:nvPr/>
        </p:nvSpPr>
        <p:spPr>
          <a:xfrm>
            <a:off x="2600093" y="9539632"/>
            <a:ext cx="2057400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Base1: 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B3DA2-8496-47B6-9B18-763009AE2C74}"/>
              </a:ext>
            </a:extLst>
          </p:cNvPr>
          <p:cNvSpPr txBox="1"/>
          <p:nvPr/>
        </p:nvSpPr>
        <p:spPr>
          <a:xfrm>
            <a:off x="6949069" y="9539632"/>
            <a:ext cx="2057399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Base2: 00</a:t>
            </a:r>
          </a:p>
        </p:txBody>
      </p: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366B90B5-19AF-4D29-8455-6A96FAE2EA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1792640"/>
              </p:ext>
            </p:extLst>
          </p:nvPr>
        </p:nvGraphicFramePr>
        <p:xfrm>
          <a:off x="14284712" y="1790699"/>
          <a:ext cx="4020015" cy="7620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ontent Placeholder 10">
            <a:extLst>
              <a:ext uri="{FF2B5EF4-FFF2-40B4-BE49-F238E27FC236}">
                <a16:creationId xmlns:a16="http://schemas.microsoft.com/office/drawing/2014/main" id="{D827DC41-8AD0-4381-BF0F-CB9B5E4C66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8963868"/>
              </p:ext>
            </p:extLst>
          </p:nvPr>
        </p:nvGraphicFramePr>
        <p:xfrm>
          <a:off x="9993351" y="1790700"/>
          <a:ext cx="4291362" cy="7620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7F29E4A-EA05-45BC-8147-B85C149CC7D1}"/>
              </a:ext>
            </a:extLst>
          </p:cNvPr>
          <p:cNvSpPr txBox="1"/>
          <p:nvPr/>
        </p:nvSpPr>
        <p:spPr>
          <a:xfrm>
            <a:off x="15267874" y="9539632"/>
            <a:ext cx="1826945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Base4: 00</a:t>
            </a:r>
          </a:p>
        </p:txBody>
      </p:sp>
      <p:graphicFrame>
        <p:nvGraphicFramePr>
          <p:cNvPr id="10" name="Content Placeholder 10">
            <a:extLst>
              <a:ext uri="{FF2B5EF4-FFF2-40B4-BE49-F238E27FC236}">
                <a16:creationId xmlns:a16="http://schemas.microsoft.com/office/drawing/2014/main" id="{AD648DD5-C7BE-45B0-8A59-8369C25FBC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97701"/>
              </p:ext>
            </p:extLst>
          </p:nvPr>
        </p:nvGraphicFramePr>
        <p:xfrm>
          <a:off x="5701990" y="1790699"/>
          <a:ext cx="4291361" cy="7620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56B14C1-DCAB-4523-ADDD-DE99F883E291}"/>
              </a:ext>
            </a:extLst>
          </p:cNvPr>
          <p:cNvSpPr txBox="1"/>
          <p:nvPr/>
        </p:nvSpPr>
        <p:spPr>
          <a:xfrm>
            <a:off x="11108472" y="9480204"/>
            <a:ext cx="2057398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Base3: 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2BBF04-2284-43E0-BC81-6BB6AA0CC1E9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056148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5-sc-charts. What’s The Main Insight Here?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83FD4E7-4D0A-4394-9497-DD3F03DB3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119740"/>
              </p:ext>
            </p:extLst>
          </p:nvPr>
        </p:nvGraphicFramePr>
        <p:xfrm>
          <a:off x="304799" y="1837680"/>
          <a:ext cx="4800601" cy="7573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55ACC92-F170-441C-9570-A3E77F495C10}"/>
              </a:ext>
            </a:extLst>
          </p:cNvPr>
          <p:cNvSpPr txBox="1"/>
          <p:nvPr/>
        </p:nvSpPr>
        <p:spPr>
          <a:xfrm>
            <a:off x="2404479" y="9539632"/>
            <a:ext cx="2057400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Base1: 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B3DA2-8496-47B6-9B18-763009AE2C74}"/>
              </a:ext>
            </a:extLst>
          </p:cNvPr>
          <p:cNvSpPr txBox="1"/>
          <p:nvPr/>
        </p:nvSpPr>
        <p:spPr>
          <a:xfrm>
            <a:off x="5300079" y="9539632"/>
            <a:ext cx="2057399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Base2: 00</a:t>
            </a:r>
          </a:p>
        </p:txBody>
      </p: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366B90B5-19AF-4D29-8455-6A96FAE2EA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2635980"/>
              </p:ext>
            </p:extLst>
          </p:nvPr>
        </p:nvGraphicFramePr>
        <p:xfrm>
          <a:off x="10455656" y="1837680"/>
          <a:ext cx="3733800" cy="7573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ontent Placeholder 10">
            <a:extLst>
              <a:ext uri="{FF2B5EF4-FFF2-40B4-BE49-F238E27FC236}">
                <a16:creationId xmlns:a16="http://schemas.microsoft.com/office/drawing/2014/main" id="{D827DC41-8AD0-4381-BF0F-CB9B5E4C66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3585937"/>
              </p:ext>
            </p:extLst>
          </p:nvPr>
        </p:nvGraphicFramePr>
        <p:xfrm>
          <a:off x="7552158" y="1837680"/>
          <a:ext cx="3749598" cy="7573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7F29E4A-EA05-45BC-8147-B85C149CC7D1}"/>
              </a:ext>
            </a:extLst>
          </p:cNvPr>
          <p:cNvSpPr txBox="1"/>
          <p:nvPr/>
        </p:nvSpPr>
        <p:spPr>
          <a:xfrm>
            <a:off x="11587037" y="9539632"/>
            <a:ext cx="1826945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Base4: 00</a:t>
            </a:r>
          </a:p>
        </p:txBody>
      </p:sp>
      <p:graphicFrame>
        <p:nvGraphicFramePr>
          <p:cNvPr id="10" name="Content Placeholder 10">
            <a:extLst>
              <a:ext uri="{FF2B5EF4-FFF2-40B4-BE49-F238E27FC236}">
                <a16:creationId xmlns:a16="http://schemas.microsoft.com/office/drawing/2014/main" id="{AD648DD5-C7BE-45B0-8A59-8369C25FBC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170968"/>
              </p:ext>
            </p:extLst>
          </p:nvPr>
        </p:nvGraphicFramePr>
        <p:xfrm>
          <a:off x="4461879" y="1837680"/>
          <a:ext cx="3733800" cy="7573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56B14C1-DCAB-4523-ADDD-DE99F883E291}"/>
              </a:ext>
            </a:extLst>
          </p:cNvPr>
          <p:cNvSpPr txBox="1"/>
          <p:nvPr/>
        </p:nvSpPr>
        <p:spPr>
          <a:xfrm>
            <a:off x="8398258" y="9539632"/>
            <a:ext cx="2057398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Base3: 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2BBF04-2284-43E0-BC81-6BB6AA0CC1E9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graphicFrame>
        <p:nvGraphicFramePr>
          <p:cNvPr id="16" name="Content Placeholder 10">
            <a:extLst>
              <a:ext uri="{FF2B5EF4-FFF2-40B4-BE49-F238E27FC236}">
                <a16:creationId xmlns:a16="http://schemas.microsoft.com/office/drawing/2014/main" id="{526C4239-73E9-49E8-BEA6-B620791175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1815708"/>
              </p:ext>
            </p:extLst>
          </p:nvPr>
        </p:nvGraphicFramePr>
        <p:xfrm>
          <a:off x="13448829" y="1837680"/>
          <a:ext cx="4020015" cy="7573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2B5CA19-E05E-4286-B6B4-BE474F5746C6}"/>
              </a:ext>
            </a:extLst>
          </p:cNvPr>
          <p:cNvSpPr txBox="1"/>
          <p:nvPr/>
        </p:nvSpPr>
        <p:spPr>
          <a:xfrm>
            <a:off x="14545363" y="9539632"/>
            <a:ext cx="1826945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Base5: 00</a:t>
            </a:r>
          </a:p>
        </p:txBody>
      </p:sp>
    </p:spTree>
    <p:extLst>
      <p:ext uri="{BB962C8B-B14F-4D97-AF65-F5344CB8AC3E}">
        <p14:creationId xmlns:p14="http://schemas.microsoft.com/office/powerpoint/2010/main" val="24598845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2-charts. What’s The Main Insight Here?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E8848455-799D-458F-8D34-3653E2568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814185"/>
              </p:ext>
            </p:extLst>
          </p:nvPr>
        </p:nvGraphicFramePr>
        <p:xfrm>
          <a:off x="304799" y="1790700"/>
          <a:ext cx="9067801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55ACC92-F170-441C-9570-A3E77F495C10}"/>
              </a:ext>
            </a:extLst>
          </p:cNvPr>
          <p:cNvSpPr txBox="1"/>
          <p:nvPr/>
        </p:nvSpPr>
        <p:spPr>
          <a:xfrm>
            <a:off x="3505200" y="9480203"/>
            <a:ext cx="2175607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Base1: 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B3DA2-8496-47B6-9B18-763009AE2C74}"/>
              </a:ext>
            </a:extLst>
          </p:cNvPr>
          <p:cNvSpPr txBox="1"/>
          <p:nvPr/>
        </p:nvSpPr>
        <p:spPr>
          <a:xfrm>
            <a:off x="11963400" y="9480203"/>
            <a:ext cx="1981200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Base2: 00</a:t>
            </a:r>
          </a:p>
        </p:txBody>
      </p:sp>
      <p:graphicFrame>
        <p:nvGraphicFramePr>
          <p:cNvPr id="8" name="Content Placeholder 18">
            <a:extLst>
              <a:ext uri="{FF2B5EF4-FFF2-40B4-BE49-F238E27FC236}">
                <a16:creationId xmlns:a16="http://schemas.microsoft.com/office/drawing/2014/main" id="{F0206A2D-B7F8-46F9-8EC7-962B978F6B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9051400"/>
              </p:ext>
            </p:extLst>
          </p:nvPr>
        </p:nvGraphicFramePr>
        <p:xfrm>
          <a:off x="9982200" y="1790701"/>
          <a:ext cx="6766178" cy="75252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5B879E2-32D1-44AB-A988-9CF4C9D326F4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247512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3-charts. What’s The Main Insight Here?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E8848455-799D-458F-8D34-3653E2568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501715"/>
              </p:ext>
            </p:extLst>
          </p:nvPr>
        </p:nvGraphicFramePr>
        <p:xfrm>
          <a:off x="304800" y="1790700"/>
          <a:ext cx="6050089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ontent Placeholder 18">
            <a:extLst>
              <a:ext uri="{FF2B5EF4-FFF2-40B4-BE49-F238E27FC236}">
                <a16:creationId xmlns:a16="http://schemas.microsoft.com/office/drawing/2014/main" id="{C75D2BE6-EE34-4B99-88C4-4182E4A62C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2599591"/>
              </p:ext>
            </p:extLst>
          </p:nvPr>
        </p:nvGraphicFramePr>
        <p:xfrm>
          <a:off x="6354889" y="1790700"/>
          <a:ext cx="5578221" cy="7525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ontent Placeholder 18">
            <a:extLst>
              <a:ext uri="{FF2B5EF4-FFF2-40B4-BE49-F238E27FC236}">
                <a16:creationId xmlns:a16="http://schemas.microsoft.com/office/drawing/2014/main" id="{13C4F7F4-D7AF-48E2-8933-9FA971D2A9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3314667"/>
              </p:ext>
            </p:extLst>
          </p:nvPr>
        </p:nvGraphicFramePr>
        <p:xfrm>
          <a:off x="12077639" y="1790700"/>
          <a:ext cx="5219762" cy="7525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95747ED-EFBE-41E4-AEBE-24A554FC4112}"/>
              </a:ext>
            </a:extLst>
          </p:cNvPr>
          <p:cNvSpPr txBox="1"/>
          <p:nvPr/>
        </p:nvSpPr>
        <p:spPr>
          <a:xfrm>
            <a:off x="2567307" y="9540393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Base1: 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BF4ED-22DC-4837-9332-67424FCEBBE4}"/>
              </a:ext>
            </a:extLst>
          </p:cNvPr>
          <p:cNvSpPr txBox="1"/>
          <p:nvPr/>
        </p:nvSpPr>
        <p:spPr>
          <a:xfrm>
            <a:off x="8145528" y="9540394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Base2: 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EF8D86-2572-461A-9BBA-C445C57B9A82}"/>
              </a:ext>
            </a:extLst>
          </p:cNvPr>
          <p:cNvSpPr txBox="1"/>
          <p:nvPr/>
        </p:nvSpPr>
        <p:spPr>
          <a:xfrm>
            <a:off x="13723749" y="9540393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Base3: 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0E6A8-C0A4-4442-87D5-EF344549FD9F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775913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8288000" cy="1028700"/>
          </a:xfrm>
        </p:spPr>
        <p:txBody>
          <a:bodyPr/>
          <a:lstStyle/>
          <a:p>
            <a:r>
              <a:rPr lang="en-US" sz="2800" dirty="0"/>
              <a:t>4-charts. What’s The Main Insight Here?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E8848455-799D-458F-8D34-3653E2568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214416"/>
              </p:ext>
            </p:extLst>
          </p:nvPr>
        </p:nvGraphicFramePr>
        <p:xfrm>
          <a:off x="304800" y="1790700"/>
          <a:ext cx="5465665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ontent Placeholder 18">
            <a:extLst>
              <a:ext uri="{FF2B5EF4-FFF2-40B4-BE49-F238E27FC236}">
                <a16:creationId xmlns:a16="http://schemas.microsoft.com/office/drawing/2014/main" id="{C75D2BE6-EE34-4B99-88C4-4182E4A62C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2248398"/>
              </p:ext>
            </p:extLst>
          </p:nvPr>
        </p:nvGraphicFramePr>
        <p:xfrm>
          <a:off x="5397306" y="1807446"/>
          <a:ext cx="4191000" cy="7619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ontent Placeholder 18">
            <a:extLst>
              <a:ext uri="{FF2B5EF4-FFF2-40B4-BE49-F238E27FC236}">
                <a16:creationId xmlns:a16="http://schemas.microsoft.com/office/drawing/2014/main" id="{13C4F7F4-D7AF-48E2-8933-9FA971D2A9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264782"/>
              </p:ext>
            </p:extLst>
          </p:nvPr>
        </p:nvGraphicFramePr>
        <p:xfrm>
          <a:off x="9573729" y="1790700"/>
          <a:ext cx="4191000" cy="7653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Content Placeholder 18">
            <a:extLst>
              <a:ext uri="{FF2B5EF4-FFF2-40B4-BE49-F238E27FC236}">
                <a16:creationId xmlns:a16="http://schemas.microsoft.com/office/drawing/2014/main" id="{2AA4F800-EDAC-4764-918E-8BA59113A7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3288020"/>
              </p:ext>
            </p:extLst>
          </p:nvPr>
        </p:nvGraphicFramePr>
        <p:xfrm>
          <a:off x="13764729" y="1824192"/>
          <a:ext cx="4191000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CB3C6DB-0581-4F78-9D6B-5FE2D0F4534A}"/>
              </a:ext>
            </a:extLst>
          </p:cNvPr>
          <p:cNvSpPr txBox="1"/>
          <p:nvPr/>
        </p:nvSpPr>
        <p:spPr>
          <a:xfrm>
            <a:off x="1220883" y="9586171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Base1: 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4C3A3-FE1D-4597-BE95-94E97CC643E2}"/>
              </a:ext>
            </a:extLst>
          </p:cNvPr>
          <p:cNvSpPr txBox="1"/>
          <p:nvPr/>
        </p:nvSpPr>
        <p:spPr>
          <a:xfrm>
            <a:off x="10320047" y="9586174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Base3: 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8398A2-6F19-4A0D-BD42-6CDD32BEC681}"/>
              </a:ext>
            </a:extLst>
          </p:cNvPr>
          <p:cNvSpPr txBox="1"/>
          <p:nvPr/>
        </p:nvSpPr>
        <p:spPr>
          <a:xfrm>
            <a:off x="14869629" y="9586173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Base4: 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70BB6-C26C-4E0D-B733-4D1A7817CE23}"/>
              </a:ext>
            </a:extLst>
          </p:cNvPr>
          <p:cNvSpPr txBox="1"/>
          <p:nvPr/>
        </p:nvSpPr>
        <p:spPr>
          <a:xfrm>
            <a:off x="5770465" y="9586172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Base2: 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62A50-D732-4B77-B8E7-8EEDE7AF5161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268241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5-charts. What’s The Main Insight Here?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E8848455-799D-458F-8D34-3653E2568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153279"/>
              </p:ext>
            </p:extLst>
          </p:nvPr>
        </p:nvGraphicFramePr>
        <p:xfrm>
          <a:off x="304800" y="1790700"/>
          <a:ext cx="4593137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18">
            <a:extLst>
              <a:ext uri="{FF2B5EF4-FFF2-40B4-BE49-F238E27FC236}">
                <a16:creationId xmlns:a16="http://schemas.microsoft.com/office/drawing/2014/main" id="{AA0A00E5-59D6-481C-A9A2-5F90EB89EF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499743"/>
              </p:ext>
            </p:extLst>
          </p:nvPr>
        </p:nvGraphicFramePr>
        <p:xfrm>
          <a:off x="4897937" y="1790700"/>
          <a:ext cx="3262896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ontent Placeholder 18">
            <a:extLst>
              <a:ext uri="{FF2B5EF4-FFF2-40B4-BE49-F238E27FC236}">
                <a16:creationId xmlns:a16="http://schemas.microsoft.com/office/drawing/2014/main" id="{4971C38D-801E-4D4D-AC96-A1D768B093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1899677"/>
              </p:ext>
            </p:extLst>
          </p:nvPr>
        </p:nvGraphicFramePr>
        <p:xfrm>
          <a:off x="15090851" y="1813974"/>
          <a:ext cx="3215734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ontent Placeholder 18">
            <a:extLst>
              <a:ext uri="{FF2B5EF4-FFF2-40B4-BE49-F238E27FC236}">
                <a16:creationId xmlns:a16="http://schemas.microsoft.com/office/drawing/2014/main" id="{C49279E1-9DDE-4AE1-AAE5-46EF7CD8DE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260012"/>
              </p:ext>
            </p:extLst>
          </p:nvPr>
        </p:nvGraphicFramePr>
        <p:xfrm>
          <a:off x="8160833" y="1813974"/>
          <a:ext cx="3215734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ontent Placeholder 18">
            <a:extLst>
              <a:ext uri="{FF2B5EF4-FFF2-40B4-BE49-F238E27FC236}">
                <a16:creationId xmlns:a16="http://schemas.microsoft.com/office/drawing/2014/main" id="{7E5FF947-D99C-4969-A731-51E40B4F62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9812642"/>
              </p:ext>
            </p:extLst>
          </p:nvPr>
        </p:nvGraphicFramePr>
        <p:xfrm>
          <a:off x="11625842" y="1813974"/>
          <a:ext cx="3215734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51FC41E-F0DE-4FEC-9C6B-C74B17B02D7A}"/>
              </a:ext>
            </a:extLst>
          </p:cNvPr>
          <p:cNvSpPr txBox="1"/>
          <p:nvPr/>
        </p:nvSpPr>
        <p:spPr>
          <a:xfrm>
            <a:off x="1060759" y="9815334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Base1: 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7655B0-16F6-4BB9-9870-14B2430E2B90}"/>
              </a:ext>
            </a:extLst>
          </p:cNvPr>
          <p:cNvSpPr txBox="1"/>
          <p:nvPr/>
        </p:nvSpPr>
        <p:spPr>
          <a:xfrm>
            <a:off x="8153400" y="9815332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Base3: 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A3D7BA-9BE8-4889-AE4F-496FC49988A5}"/>
              </a:ext>
            </a:extLst>
          </p:cNvPr>
          <p:cNvSpPr txBox="1"/>
          <p:nvPr/>
        </p:nvSpPr>
        <p:spPr>
          <a:xfrm>
            <a:off x="11584722" y="9797589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Base4: 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45156D-F7DF-4E85-85C8-CEB20195D1E5}"/>
              </a:ext>
            </a:extLst>
          </p:cNvPr>
          <p:cNvSpPr txBox="1"/>
          <p:nvPr/>
        </p:nvSpPr>
        <p:spPr>
          <a:xfrm>
            <a:off x="15090851" y="9797589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Base5: 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0559C-7131-415B-822F-C071020353AE}"/>
              </a:ext>
            </a:extLst>
          </p:cNvPr>
          <p:cNvSpPr txBox="1"/>
          <p:nvPr/>
        </p:nvSpPr>
        <p:spPr>
          <a:xfrm>
            <a:off x="4572464" y="9815333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Base2: 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C1D618-F007-4AB1-BB40-4447200D5D78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541681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3BA490-6242-47BE-8F28-4F348E3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6-charts. What’s The Main Insight Here?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E8848455-799D-458F-8D34-3653E2568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5888132"/>
              </p:ext>
            </p:extLst>
          </p:nvPr>
        </p:nvGraphicFramePr>
        <p:xfrm>
          <a:off x="304800" y="1790700"/>
          <a:ext cx="3390899" cy="7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ontent Placeholder 18">
            <a:extLst>
              <a:ext uri="{FF2B5EF4-FFF2-40B4-BE49-F238E27FC236}">
                <a16:creationId xmlns:a16="http://schemas.microsoft.com/office/drawing/2014/main" id="{69C3FED3-2890-4550-B78A-1A992A901C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2632884"/>
              </p:ext>
            </p:extLst>
          </p:nvPr>
        </p:nvGraphicFramePr>
        <p:xfrm>
          <a:off x="3540512" y="1790701"/>
          <a:ext cx="2896529" cy="7764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ontent Placeholder 18">
            <a:extLst>
              <a:ext uri="{FF2B5EF4-FFF2-40B4-BE49-F238E27FC236}">
                <a16:creationId xmlns:a16="http://schemas.microsoft.com/office/drawing/2014/main" id="{DE6A0FF8-A1F5-41F5-97E5-8DD662D23B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058717"/>
              </p:ext>
            </p:extLst>
          </p:nvPr>
        </p:nvGraphicFramePr>
        <p:xfrm>
          <a:off x="6476070" y="1790700"/>
          <a:ext cx="2896529" cy="7764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ontent Placeholder 18">
            <a:extLst>
              <a:ext uri="{FF2B5EF4-FFF2-40B4-BE49-F238E27FC236}">
                <a16:creationId xmlns:a16="http://schemas.microsoft.com/office/drawing/2014/main" id="{3827B296-4B59-4C4F-8DC6-0AAF80D5FA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6552999"/>
              </p:ext>
            </p:extLst>
          </p:nvPr>
        </p:nvGraphicFramePr>
        <p:xfrm>
          <a:off x="9333570" y="1790701"/>
          <a:ext cx="2896529" cy="7764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Content Placeholder 18">
            <a:extLst>
              <a:ext uri="{FF2B5EF4-FFF2-40B4-BE49-F238E27FC236}">
                <a16:creationId xmlns:a16="http://schemas.microsoft.com/office/drawing/2014/main" id="{C0CFB755-3B86-4811-9292-56435AB0D7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6982070"/>
              </p:ext>
            </p:extLst>
          </p:nvPr>
        </p:nvGraphicFramePr>
        <p:xfrm>
          <a:off x="12230099" y="1790700"/>
          <a:ext cx="2896529" cy="7775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7" name="Content Placeholder 18">
            <a:extLst>
              <a:ext uri="{FF2B5EF4-FFF2-40B4-BE49-F238E27FC236}">
                <a16:creationId xmlns:a16="http://schemas.microsoft.com/office/drawing/2014/main" id="{F80DD4CE-F454-41A0-A36B-4AD97F9C58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8965212"/>
              </p:ext>
            </p:extLst>
          </p:nvPr>
        </p:nvGraphicFramePr>
        <p:xfrm>
          <a:off x="15087599" y="1790699"/>
          <a:ext cx="2896529" cy="7764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933EE8-6B82-40E9-BBD2-4BD73EAD1A6C}"/>
              </a:ext>
            </a:extLst>
          </p:cNvPr>
          <p:cNvSpPr txBox="1"/>
          <p:nvPr/>
        </p:nvSpPr>
        <p:spPr>
          <a:xfrm>
            <a:off x="457664" y="9823864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Base1: 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E3FDD-3BFE-4164-8FF0-3DD85A2BC09A}"/>
              </a:ext>
            </a:extLst>
          </p:cNvPr>
          <p:cNvSpPr txBox="1"/>
          <p:nvPr/>
        </p:nvSpPr>
        <p:spPr>
          <a:xfrm>
            <a:off x="3695699" y="9825335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Base2: 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801375-69A3-45EB-8A27-AAD2FA8DC036}"/>
              </a:ext>
            </a:extLst>
          </p:cNvPr>
          <p:cNvSpPr txBox="1"/>
          <p:nvPr/>
        </p:nvSpPr>
        <p:spPr>
          <a:xfrm>
            <a:off x="6933734" y="9825335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Base3: 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BD4AF7-4606-49C6-948A-C08C2DE38A2E}"/>
              </a:ext>
            </a:extLst>
          </p:cNvPr>
          <p:cNvSpPr txBox="1"/>
          <p:nvPr/>
        </p:nvSpPr>
        <p:spPr>
          <a:xfrm>
            <a:off x="9791234" y="9825335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Base4: 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AA85A8-E893-4276-8FC4-4D8CCA31D5CE}"/>
              </a:ext>
            </a:extLst>
          </p:cNvPr>
          <p:cNvSpPr txBox="1"/>
          <p:nvPr/>
        </p:nvSpPr>
        <p:spPr>
          <a:xfrm>
            <a:off x="12687763" y="9823863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Base5: 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318036-BE80-4C02-98D5-4881B9420CEB}"/>
              </a:ext>
            </a:extLst>
          </p:cNvPr>
          <p:cNvSpPr txBox="1"/>
          <p:nvPr/>
        </p:nvSpPr>
        <p:spPr>
          <a:xfrm>
            <a:off x="15541545" y="9825335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Base6: 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E8E6E4-F63A-43BA-A4A4-87206ED934BA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3612890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20736B-2DB0-4AF2-AA23-2798131A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Brand Cards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2097A-E850-4931-BEE8-DBD978223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8310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4D55-CCCC-4759-AF0A-D9893BC1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BC-OLD – What’s The Main Insight Here?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CF31F1C-0F2B-4B8D-A622-3563E8202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083181"/>
              </p:ext>
            </p:extLst>
          </p:nvPr>
        </p:nvGraphicFramePr>
        <p:xfrm>
          <a:off x="304800" y="1790699"/>
          <a:ext cx="8839199" cy="7993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F4C1EC58-09DB-4EC4-AF13-5838E0F7E0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5239870"/>
              </p:ext>
            </p:extLst>
          </p:nvPr>
        </p:nvGraphicFramePr>
        <p:xfrm>
          <a:off x="9143999" y="1790701"/>
          <a:ext cx="9006131" cy="7920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51BC08D-90BC-4693-BBC5-C4B3453D57D1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73D75"/>
                </a:solidFill>
              </a:rPr>
              <a:t>Base</a:t>
            </a:r>
            <a:r>
              <a:rPr lang="en-US" sz="2400" dirty="0">
                <a:solidFill>
                  <a:srgbClr val="173D75"/>
                </a:solidFill>
              </a:rPr>
              <a:t>: 00</a:t>
            </a:r>
            <a:endParaRPr lang="en-US" dirty="0">
              <a:solidFill>
                <a:srgbClr val="173D7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CEBD4-104E-4514-BB6D-DC949C17CC97}"/>
              </a:ext>
            </a:extLst>
          </p:cNvPr>
          <p:cNvSpPr txBox="1"/>
          <p:nvPr/>
        </p:nvSpPr>
        <p:spPr>
          <a:xfrm>
            <a:off x="4267200" y="3823588"/>
            <a:ext cx="35814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200" dirty="0">
                <a:latin typeface="Pangram" panose="00000500000000000000" pitchFamily="50" charset="0"/>
              </a:rPr>
              <a:t>Loyalty Ratio: 00%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CD9004-A16C-4FA3-85CE-F60BC1FC8584}"/>
              </a:ext>
            </a:extLst>
          </p:cNvPr>
          <p:cNvSpPr txBox="1"/>
          <p:nvPr/>
        </p:nvSpPr>
        <p:spPr>
          <a:xfrm>
            <a:off x="4267200" y="5805245"/>
            <a:ext cx="35814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200" dirty="0">
                <a:latin typeface="Pangram" panose="00000500000000000000" pitchFamily="50" charset="0"/>
              </a:rPr>
              <a:t>Conversion Ratio: 00%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A44F86-2ED4-4039-BD20-6F2F950F4DE7}"/>
              </a:ext>
            </a:extLst>
          </p:cNvPr>
          <p:cNvSpPr txBox="1"/>
          <p:nvPr/>
        </p:nvSpPr>
        <p:spPr>
          <a:xfrm>
            <a:off x="4038600" y="7594540"/>
            <a:ext cx="3810000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100" dirty="0">
                <a:latin typeface="Pangram" panose="00000500000000000000" pitchFamily="50" charset="0"/>
              </a:rPr>
              <a:t>Attractiveness Ratio: 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4DD1C-2311-4DAE-8277-084CD6FE274C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6065454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4D55-CCCC-4759-AF0A-D9893BC1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Brand Cards – What’s The Main Insight Here?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CF31F1C-0F2B-4B8D-A622-3563E8202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8273956"/>
              </p:ext>
            </p:extLst>
          </p:nvPr>
        </p:nvGraphicFramePr>
        <p:xfrm>
          <a:off x="304800" y="1790699"/>
          <a:ext cx="8839199" cy="7993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F4C1EC58-09DB-4EC4-AF13-5838E0F7E07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143999" y="1790701"/>
          <a:ext cx="9006131" cy="7920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51BC08D-90BC-4693-BBC5-C4B3453D57D1}"/>
              </a:ext>
            </a:extLst>
          </p:cNvPr>
          <p:cNvSpPr txBox="1"/>
          <p:nvPr/>
        </p:nvSpPr>
        <p:spPr>
          <a:xfrm>
            <a:off x="29737" y="978394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73D75"/>
                </a:solidFill>
              </a:rPr>
              <a:t>Base</a:t>
            </a:r>
            <a:r>
              <a:rPr lang="en-US" sz="2400" dirty="0">
                <a:solidFill>
                  <a:srgbClr val="173D75"/>
                </a:solidFill>
              </a:rPr>
              <a:t>: 00</a:t>
            </a:r>
            <a:endParaRPr lang="en-US" dirty="0">
              <a:solidFill>
                <a:srgbClr val="173D7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CEBD4-104E-4514-BB6D-DC949C17CC97}"/>
              </a:ext>
            </a:extLst>
          </p:cNvPr>
          <p:cNvSpPr txBox="1"/>
          <p:nvPr/>
        </p:nvSpPr>
        <p:spPr>
          <a:xfrm>
            <a:off x="4267200" y="3582529"/>
            <a:ext cx="35814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200" dirty="0">
                <a:latin typeface="Pangram" panose="00000500000000000000" pitchFamily="50" charset="0"/>
              </a:rPr>
              <a:t>Loyalty Ratio: 00%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CD9004-A16C-4FA3-85CE-F60BC1FC8584}"/>
              </a:ext>
            </a:extLst>
          </p:cNvPr>
          <p:cNvSpPr txBox="1"/>
          <p:nvPr/>
        </p:nvSpPr>
        <p:spPr>
          <a:xfrm>
            <a:off x="4282068" y="5188956"/>
            <a:ext cx="35814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200" dirty="0">
                <a:latin typeface="Pangram" panose="00000500000000000000" pitchFamily="50" charset="0"/>
              </a:rPr>
              <a:t>Conversion Ratio: 00%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A44F86-2ED4-4039-BD20-6F2F950F4DE7}"/>
              </a:ext>
            </a:extLst>
          </p:cNvPr>
          <p:cNvSpPr txBox="1"/>
          <p:nvPr/>
        </p:nvSpPr>
        <p:spPr>
          <a:xfrm>
            <a:off x="4053468" y="6587634"/>
            <a:ext cx="3810000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100" dirty="0">
                <a:latin typeface="Pangram" panose="00000500000000000000" pitchFamily="50" charset="0"/>
              </a:rPr>
              <a:t>Attractiveness Ratio: 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4DD1C-2311-4DAE-8277-084CD6FE274C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84751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B379-325E-42F5-AD3F-588C31EB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70682-9D29-4200-99C0-C587600EF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625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EB12-3195-9E80-A024-D89AC119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8288000" cy="1028700"/>
          </a:xfrm>
        </p:spPr>
        <p:txBody>
          <a:bodyPr>
            <a:normAutofit/>
          </a:bodyPr>
          <a:lstStyle/>
          <a:p>
            <a:r>
              <a:rPr lang="en-US" sz="3200" dirty="0"/>
              <a:t>Recommendations - 1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AF6BC-8C01-48E0-A8EA-B1CC7F4B670F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B4FF25-CA95-4859-B42B-555921415122}"/>
              </a:ext>
            </a:extLst>
          </p:cNvPr>
          <p:cNvSpPr txBox="1">
            <a:spLocks/>
          </p:cNvSpPr>
          <p:nvPr/>
        </p:nvSpPr>
        <p:spPr>
          <a:xfrm>
            <a:off x="457200" y="2075056"/>
            <a:ext cx="1737360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171459" indent="-171459" algn="l" defTabSz="685835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76" indent="-171459" algn="l" defTabSz="68583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94" indent="-171459" algn="l" defTabSz="68583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210" indent="-171459" algn="l" defTabSz="68583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127" indent="-171459" algn="l" defTabSz="68583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045" indent="-171459" algn="l" defTabSz="68583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961" indent="-171459" algn="l" defTabSz="68583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879" indent="-171459" algn="l" defTabSz="68583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796" indent="-171459" algn="l" defTabSz="68583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Write Recommendations Here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22694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EB12-3195-9E80-A024-D89AC119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8288000" cy="1028700"/>
          </a:xfrm>
        </p:spPr>
        <p:txBody>
          <a:bodyPr>
            <a:normAutofit/>
          </a:bodyPr>
          <a:lstStyle/>
          <a:p>
            <a:r>
              <a:rPr lang="en-US" sz="3200" dirty="0"/>
              <a:t>Recommendations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8072-E93C-FF6F-692D-2D7F4D100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Write Recommendations Here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AF6BC-8C01-48E0-A8EA-B1CC7F4B670F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802588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EB12-3195-9E80-A024-D89AC119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8288000" cy="1028700"/>
          </a:xfrm>
        </p:spPr>
        <p:txBody>
          <a:bodyPr>
            <a:normAutofit/>
          </a:bodyPr>
          <a:lstStyle/>
          <a:p>
            <a:r>
              <a:rPr lang="en-US" sz="3200" dirty="0"/>
              <a:t>Recommendations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8072-E93C-FF6F-692D-2D7F4D100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Write Recommendations Here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AF6BC-8C01-48E0-A8EA-B1CC7F4B670F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909974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EB12-3195-9E80-A024-D89AC119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8288000" cy="1028700"/>
          </a:xfrm>
        </p:spPr>
        <p:txBody>
          <a:bodyPr>
            <a:normAutofit/>
          </a:bodyPr>
          <a:lstStyle/>
          <a:p>
            <a:r>
              <a:rPr lang="en-US" sz="3200" dirty="0"/>
              <a:t>Recommendations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8072-E93C-FF6F-692D-2D7F4D100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Write Recommendations Here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AF6BC-8C01-48E0-A8EA-B1CC7F4B670F}"/>
              </a:ext>
            </a:extLst>
          </p:cNvPr>
          <p:cNvSpPr txBox="1"/>
          <p:nvPr/>
        </p:nvSpPr>
        <p:spPr>
          <a:xfrm>
            <a:off x="0" y="1028700"/>
            <a:ext cx="182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766608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56C487-402F-43D8-B6F2-B391AB766B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4B1F60-7C98-40AD-95E0-6C9298687F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788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8">
      <a:dk1>
        <a:srgbClr val="08306B"/>
      </a:dk1>
      <a:lt1>
        <a:srgbClr val="FFFFFF"/>
      </a:lt1>
      <a:dk2>
        <a:srgbClr val="CD393B"/>
      </a:dk2>
      <a:lt2>
        <a:srgbClr val="FBC210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Pangram"/>
        <a:ea typeface=""/>
        <a:cs typeface=""/>
      </a:majorFont>
      <a:minorFont>
        <a:latin typeface="Pangra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Marketeers' Colors">
      <a:dk1>
        <a:srgbClr val="08306B"/>
      </a:dk1>
      <a:lt1>
        <a:srgbClr val="FFFFFF"/>
      </a:lt1>
      <a:dk2>
        <a:srgbClr val="CD393B"/>
      </a:dk2>
      <a:lt2>
        <a:srgbClr val="FFFFFF"/>
      </a:lt2>
      <a:accent1>
        <a:srgbClr val="E79D9E"/>
      </a:accent1>
      <a:accent2>
        <a:srgbClr val="B9DFF4"/>
      </a:accent2>
      <a:accent3>
        <a:srgbClr val="DE7C7E"/>
      </a:accent3>
      <a:accent4>
        <a:srgbClr val="8ACAEC"/>
      </a:accent4>
      <a:accent5>
        <a:srgbClr val="929292"/>
      </a:accent5>
      <a:accent6>
        <a:srgbClr val="BEBEBE"/>
      </a:accent6>
      <a:hlink>
        <a:srgbClr val="DE7C7E"/>
      </a:hlink>
      <a:folHlink>
        <a:srgbClr val="8ACAE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Marketeers' Colors">
      <a:dk1>
        <a:srgbClr val="08306B"/>
      </a:dk1>
      <a:lt1>
        <a:srgbClr val="FFFFFF"/>
      </a:lt1>
      <a:dk2>
        <a:srgbClr val="CD393B"/>
      </a:dk2>
      <a:lt2>
        <a:srgbClr val="FFFFFF"/>
      </a:lt2>
      <a:accent1>
        <a:srgbClr val="E79D9E"/>
      </a:accent1>
      <a:accent2>
        <a:srgbClr val="B9DFF4"/>
      </a:accent2>
      <a:accent3>
        <a:srgbClr val="DE7C7E"/>
      </a:accent3>
      <a:accent4>
        <a:srgbClr val="8ACAEC"/>
      </a:accent4>
      <a:accent5>
        <a:srgbClr val="929292"/>
      </a:accent5>
      <a:accent6>
        <a:srgbClr val="BEBEBE"/>
      </a:accent6>
      <a:hlink>
        <a:srgbClr val="DE7C7E"/>
      </a:hlink>
      <a:folHlink>
        <a:srgbClr val="8ACAE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Custom 8">
      <a:dk1>
        <a:srgbClr val="08306B"/>
      </a:dk1>
      <a:lt1>
        <a:srgbClr val="FFFFFF"/>
      </a:lt1>
      <a:dk2>
        <a:srgbClr val="CD393B"/>
      </a:dk2>
      <a:lt2>
        <a:srgbClr val="FBC210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Pangram"/>
        <a:ea typeface=""/>
        <a:cs typeface=""/>
      </a:majorFont>
      <a:minorFont>
        <a:latin typeface="Pangra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4">
    <a:dk1>
      <a:srgbClr val="FFFFFF"/>
    </a:dk1>
    <a:lt1>
      <a:srgbClr val="00265E"/>
    </a:lt1>
    <a:dk2>
      <a:srgbClr val="1FC173"/>
    </a:dk2>
    <a:lt2>
      <a:srgbClr val="FBC210"/>
    </a:lt2>
    <a:accent1>
      <a:srgbClr val="00265E"/>
    </a:accent1>
    <a:accent2>
      <a:srgbClr val="0073B4"/>
    </a:accent2>
    <a:accent3>
      <a:srgbClr val="3CB9FC"/>
    </a:accent3>
    <a:accent4>
      <a:srgbClr val="66ABD2"/>
    </a:accent4>
    <a:accent5>
      <a:srgbClr val="9EDCFE"/>
    </a:accent5>
    <a:accent6>
      <a:srgbClr val="A90002"/>
    </a:accent6>
    <a:hlink>
      <a:srgbClr val="3CB9FC"/>
    </a:hlink>
    <a:folHlink>
      <a:srgbClr val="3CB9FC"/>
    </a:folHlink>
  </a:clrScheme>
  <a:fontScheme name="Custom 1">
    <a:majorFont>
      <a:latin typeface="Segoe UI"/>
      <a:ea typeface=""/>
      <a:cs typeface=""/>
    </a:majorFont>
    <a:minorFont>
      <a:latin typeface="Open Sa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4">
    <a:dk1>
      <a:srgbClr val="FFFFFF"/>
    </a:dk1>
    <a:lt1>
      <a:srgbClr val="00265E"/>
    </a:lt1>
    <a:dk2>
      <a:srgbClr val="1FC173"/>
    </a:dk2>
    <a:lt2>
      <a:srgbClr val="FBC210"/>
    </a:lt2>
    <a:accent1>
      <a:srgbClr val="00265E"/>
    </a:accent1>
    <a:accent2>
      <a:srgbClr val="0073B4"/>
    </a:accent2>
    <a:accent3>
      <a:srgbClr val="3CB9FC"/>
    </a:accent3>
    <a:accent4>
      <a:srgbClr val="66ABD2"/>
    </a:accent4>
    <a:accent5>
      <a:srgbClr val="9EDCFE"/>
    </a:accent5>
    <a:accent6>
      <a:srgbClr val="A90002"/>
    </a:accent6>
    <a:hlink>
      <a:srgbClr val="3CB9FC"/>
    </a:hlink>
    <a:folHlink>
      <a:srgbClr val="3CB9FC"/>
    </a:folHlink>
  </a:clrScheme>
  <a:fontScheme name="Custom 1">
    <a:majorFont>
      <a:latin typeface="Segoe UI"/>
      <a:ea typeface=""/>
      <a:cs typeface=""/>
    </a:majorFont>
    <a:minorFont>
      <a:latin typeface="Open Sa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4">
    <a:dk1>
      <a:srgbClr val="FFFFFF"/>
    </a:dk1>
    <a:lt1>
      <a:srgbClr val="00265E"/>
    </a:lt1>
    <a:dk2>
      <a:srgbClr val="1FC173"/>
    </a:dk2>
    <a:lt2>
      <a:srgbClr val="FBC210"/>
    </a:lt2>
    <a:accent1>
      <a:srgbClr val="00265E"/>
    </a:accent1>
    <a:accent2>
      <a:srgbClr val="0073B4"/>
    </a:accent2>
    <a:accent3>
      <a:srgbClr val="3CB9FC"/>
    </a:accent3>
    <a:accent4>
      <a:srgbClr val="66ABD2"/>
    </a:accent4>
    <a:accent5>
      <a:srgbClr val="9EDCFE"/>
    </a:accent5>
    <a:accent6>
      <a:srgbClr val="A90002"/>
    </a:accent6>
    <a:hlink>
      <a:srgbClr val="3CB9FC"/>
    </a:hlink>
    <a:folHlink>
      <a:srgbClr val="3CB9FC"/>
    </a:folHlink>
  </a:clrScheme>
  <a:fontScheme name="Custom 1">
    <a:majorFont>
      <a:latin typeface="Segoe UI"/>
      <a:ea typeface=""/>
      <a:cs typeface=""/>
    </a:majorFont>
    <a:minorFont>
      <a:latin typeface="Open Sa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Marketeers' Colors">
    <a:dk1>
      <a:srgbClr val="08306B"/>
    </a:dk1>
    <a:lt1>
      <a:srgbClr val="FFFFFF"/>
    </a:lt1>
    <a:dk2>
      <a:srgbClr val="CD393B"/>
    </a:dk2>
    <a:lt2>
      <a:srgbClr val="FFFFFF"/>
    </a:lt2>
    <a:accent1>
      <a:srgbClr val="E79D9E"/>
    </a:accent1>
    <a:accent2>
      <a:srgbClr val="B9DFF4"/>
    </a:accent2>
    <a:accent3>
      <a:srgbClr val="DE7C7E"/>
    </a:accent3>
    <a:accent4>
      <a:srgbClr val="8ACAEC"/>
    </a:accent4>
    <a:accent5>
      <a:srgbClr val="929292"/>
    </a:accent5>
    <a:accent6>
      <a:srgbClr val="BEBEBE"/>
    </a:accent6>
    <a:hlink>
      <a:srgbClr val="DE7C7E"/>
    </a:hlink>
    <a:folHlink>
      <a:srgbClr val="8ACAEC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Custom 4">
    <a:dk1>
      <a:srgbClr val="FFFFFF"/>
    </a:dk1>
    <a:lt1>
      <a:srgbClr val="00265E"/>
    </a:lt1>
    <a:dk2>
      <a:srgbClr val="1FC173"/>
    </a:dk2>
    <a:lt2>
      <a:srgbClr val="FBC210"/>
    </a:lt2>
    <a:accent1>
      <a:srgbClr val="00265E"/>
    </a:accent1>
    <a:accent2>
      <a:srgbClr val="0073B4"/>
    </a:accent2>
    <a:accent3>
      <a:srgbClr val="3CB9FC"/>
    </a:accent3>
    <a:accent4>
      <a:srgbClr val="66ABD2"/>
    </a:accent4>
    <a:accent5>
      <a:srgbClr val="9EDCFE"/>
    </a:accent5>
    <a:accent6>
      <a:srgbClr val="A90002"/>
    </a:accent6>
    <a:hlink>
      <a:srgbClr val="3CB9FC"/>
    </a:hlink>
    <a:folHlink>
      <a:srgbClr val="3CB9FC"/>
    </a:folHlink>
  </a:clrScheme>
  <a:fontScheme name="Custom 1">
    <a:majorFont>
      <a:latin typeface="Segoe UI"/>
      <a:ea typeface=""/>
      <a:cs typeface=""/>
    </a:majorFont>
    <a:minorFont>
      <a:latin typeface="Open Sa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Custom 4">
    <a:dk1>
      <a:srgbClr val="FFFFFF"/>
    </a:dk1>
    <a:lt1>
      <a:srgbClr val="00265E"/>
    </a:lt1>
    <a:dk2>
      <a:srgbClr val="1FC173"/>
    </a:dk2>
    <a:lt2>
      <a:srgbClr val="FBC210"/>
    </a:lt2>
    <a:accent1>
      <a:srgbClr val="00265E"/>
    </a:accent1>
    <a:accent2>
      <a:srgbClr val="0073B4"/>
    </a:accent2>
    <a:accent3>
      <a:srgbClr val="3CB9FC"/>
    </a:accent3>
    <a:accent4>
      <a:srgbClr val="66ABD2"/>
    </a:accent4>
    <a:accent5>
      <a:srgbClr val="9EDCFE"/>
    </a:accent5>
    <a:accent6>
      <a:srgbClr val="A90002"/>
    </a:accent6>
    <a:hlink>
      <a:srgbClr val="3CB9FC"/>
    </a:hlink>
    <a:folHlink>
      <a:srgbClr val="3CB9FC"/>
    </a:folHlink>
  </a:clrScheme>
  <a:fontScheme name="Custom 1">
    <a:majorFont>
      <a:latin typeface="Segoe UI"/>
      <a:ea typeface=""/>
      <a:cs typeface=""/>
    </a:majorFont>
    <a:minorFont>
      <a:latin typeface="Open Sa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Marketeers' Colors">
    <a:dk1>
      <a:srgbClr val="08306B"/>
    </a:dk1>
    <a:lt1>
      <a:srgbClr val="FFFFFF"/>
    </a:lt1>
    <a:dk2>
      <a:srgbClr val="CD393B"/>
    </a:dk2>
    <a:lt2>
      <a:srgbClr val="FFFFFF"/>
    </a:lt2>
    <a:accent1>
      <a:srgbClr val="E79D9E"/>
    </a:accent1>
    <a:accent2>
      <a:srgbClr val="B9DFF4"/>
    </a:accent2>
    <a:accent3>
      <a:srgbClr val="DE7C7E"/>
    </a:accent3>
    <a:accent4>
      <a:srgbClr val="8ACAEC"/>
    </a:accent4>
    <a:accent5>
      <a:srgbClr val="929292"/>
    </a:accent5>
    <a:accent6>
      <a:srgbClr val="BEBEBE"/>
    </a:accent6>
    <a:hlink>
      <a:srgbClr val="DE7C7E"/>
    </a:hlink>
    <a:folHlink>
      <a:srgbClr val="8ACAEC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Custom 4">
    <a:dk1>
      <a:srgbClr val="FFFFFF"/>
    </a:dk1>
    <a:lt1>
      <a:srgbClr val="00265E"/>
    </a:lt1>
    <a:dk2>
      <a:srgbClr val="1FC173"/>
    </a:dk2>
    <a:lt2>
      <a:srgbClr val="FBC210"/>
    </a:lt2>
    <a:accent1>
      <a:srgbClr val="00265E"/>
    </a:accent1>
    <a:accent2>
      <a:srgbClr val="0073B4"/>
    </a:accent2>
    <a:accent3>
      <a:srgbClr val="3CB9FC"/>
    </a:accent3>
    <a:accent4>
      <a:srgbClr val="66ABD2"/>
    </a:accent4>
    <a:accent5>
      <a:srgbClr val="9EDCFE"/>
    </a:accent5>
    <a:accent6>
      <a:srgbClr val="A90002"/>
    </a:accent6>
    <a:hlink>
      <a:srgbClr val="3CB9FC"/>
    </a:hlink>
    <a:folHlink>
      <a:srgbClr val="3CB9FC"/>
    </a:folHlink>
  </a:clrScheme>
  <a:fontScheme name="Custom 1">
    <a:majorFont>
      <a:latin typeface="Segoe UI"/>
      <a:ea typeface=""/>
      <a:cs typeface=""/>
    </a:majorFont>
    <a:minorFont>
      <a:latin typeface="Open Sa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Custom 4">
    <a:dk1>
      <a:srgbClr val="FFFFFF"/>
    </a:dk1>
    <a:lt1>
      <a:srgbClr val="00265E"/>
    </a:lt1>
    <a:dk2>
      <a:srgbClr val="1FC173"/>
    </a:dk2>
    <a:lt2>
      <a:srgbClr val="FBC210"/>
    </a:lt2>
    <a:accent1>
      <a:srgbClr val="00265E"/>
    </a:accent1>
    <a:accent2>
      <a:srgbClr val="0073B4"/>
    </a:accent2>
    <a:accent3>
      <a:srgbClr val="3CB9FC"/>
    </a:accent3>
    <a:accent4>
      <a:srgbClr val="66ABD2"/>
    </a:accent4>
    <a:accent5>
      <a:srgbClr val="9EDCFE"/>
    </a:accent5>
    <a:accent6>
      <a:srgbClr val="A90002"/>
    </a:accent6>
    <a:hlink>
      <a:srgbClr val="3CB9FC"/>
    </a:hlink>
    <a:folHlink>
      <a:srgbClr val="3CB9FC"/>
    </a:folHlink>
  </a:clrScheme>
  <a:fontScheme name="Custom 1">
    <a:majorFont>
      <a:latin typeface="Segoe UI"/>
      <a:ea typeface=""/>
      <a:cs typeface=""/>
    </a:majorFont>
    <a:minorFont>
      <a:latin typeface="Open Sa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44931</TotalTime>
  <Words>923</Words>
  <Application>Microsoft Office PowerPoint</Application>
  <PresentationFormat>Custom</PresentationFormat>
  <Paragraphs>453</Paragraphs>
  <Slides>65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85" baseType="lpstr">
      <vt:lpstr>Calibri Light</vt:lpstr>
      <vt:lpstr>Pangram Headings</vt:lpstr>
      <vt:lpstr>Wingdings</vt:lpstr>
      <vt:lpstr>Pangram Bold</vt:lpstr>
      <vt:lpstr>Pangram</vt:lpstr>
      <vt:lpstr>SimHei</vt:lpstr>
      <vt:lpstr>Pangram ExtraLight</vt:lpstr>
      <vt:lpstr>Calibri</vt:lpstr>
      <vt:lpstr>Pangram (Body)</vt:lpstr>
      <vt:lpstr>Tahoma</vt:lpstr>
      <vt:lpstr>Arial</vt:lpstr>
      <vt:lpstr>Pangram Body</vt:lpstr>
      <vt:lpstr>Canva Sans</vt:lpstr>
      <vt:lpstr>Open Sans Bold</vt:lpstr>
      <vt:lpstr>Office Theme</vt:lpstr>
      <vt:lpstr>Custom Design</vt:lpstr>
      <vt:lpstr>1_Custom Design</vt:lpstr>
      <vt:lpstr>2_Custom Design</vt:lpstr>
      <vt:lpstr>3_Custom Design</vt:lpstr>
      <vt:lpstr>think-cell Slide</vt:lpstr>
      <vt:lpstr>PowerPoint Presentation</vt:lpstr>
      <vt:lpstr>Brand Awareness</vt:lpstr>
      <vt:lpstr>Brand Awareness</vt:lpstr>
      <vt:lpstr>Source of Awareness</vt:lpstr>
      <vt:lpstr>Purchase Funnel</vt:lpstr>
      <vt:lpstr>Purchase Funnel</vt:lpstr>
      <vt:lpstr>Purchase Funnel Table</vt:lpstr>
      <vt:lpstr>Usage Habits</vt:lpstr>
      <vt:lpstr>Category entry point</vt:lpstr>
      <vt:lpstr>Usage time and occasions</vt:lpstr>
      <vt:lpstr>Usage frequency and places</vt:lpstr>
      <vt:lpstr>Purchase Habits</vt:lpstr>
      <vt:lpstr>Purchase frequency and places</vt:lpstr>
      <vt:lpstr>Stocking behavior</vt:lpstr>
      <vt:lpstr>Drivers and Barriers</vt:lpstr>
      <vt:lpstr>Habits</vt:lpstr>
      <vt:lpstr>scsc</vt:lpstr>
      <vt:lpstr>mcmc</vt:lpstr>
      <vt:lpstr>scmc</vt:lpstr>
      <vt:lpstr>mcsc</vt:lpstr>
      <vt:lpstr>sc</vt:lpstr>
      <vt:lpstr>mc</vt:lpstr>
      <vt:lpstr>Rank</vt:lpstr>
      <vt:lpstr>Brand Analyzer</vt:lpstr>
      <vt:lpstr> Main Insight</vt:lpstr>
      <vt:lpstr>Main Insight</vt:lpstr>
      <vt:lpstr>Main Insight</vt:lpstr>
      <vt:lpstr>Main Insight</vt:lpstr>
      <vt:lpstr>Product Test</vt:lpstr>
      <vt:lpstr>Main Insight</vt:lpstr>
      <vt:lpstr> Main Insight</vt:lpstr>
      <vt:lpstr>Main Insight</vt:lpstr>
      <vt:lpstr>Main Insight</vt:lpstr>
      <vt:lpstr>Taste Test</vt:lpstr>
      <vt:lpstr>Product Preference</vt:lpstr>
      <vt:lpstr>Importance</vt:lpstr>
      <vt:lpstr>Purchase Intent</vt:lpstr>
      <vt:lpstr>NPS</vt:lpstr>
      <vt:lpstr>Overall Features</vt:lpstr>
      <vt:lpstr>Sub Features</vt:lpstr>
      <vt:lpstr>Areas To Maintain</vt:lpstr>
      <vt:lpstr>Likes</vt:lpstr>
      <vt:lpstr>Dislikes</vt:lpstr>
      <vt:lpstr>Improvements</vt:lpstr>
      <vt:lpstr>Switching Behavior Per Brand</vt:lpstr>
      <vt:lpstr>Dynamic Template</vt:lpstr>
      <vt:lpstr>Cross Tabs</vt:lpstr>
      <vt:lpstr>2-sc-charts. What’s The Main Insight Here?</vt:lpstr>
      <vt:lpstr>3-sc-charts. What’s The Main Insight Here?</vt:lpstr>
      <vt:lpstr>4-sc-charts. What’s The Main Insight Here?</vt:lpstr>
      <vt:lpstr>5-sc-charts. What’s The Main Insight Here?</vt:lpstr>
      <vt:lpstr>2-charts. What’s The Main Insight Here?</vt:lpstr>
      <vt:lpstr>3-charts. What’s The Main Insight Here?</vt:lpstr>
      <vt:lpstr>4-charts. What’s The Main Insight Here?</vt:lpstr>
      <vt:lpstr>5-charts. What’s The Main Insight Here?</vt:lpstr>
      <vt:lpstr>6-charts. What’s The Main Insight Here?</vt:lpstr>
      <vt:lpstr>Brand Cards</vt:lpstr>
      <vt:lpstr>BC-OLD – What’s The Main Insight Here?</vt:lpstr>
      <vt:lpstr>Brand Cards – What’s The Main Insight Here?</vt:lpstr>
      <vt:lpstr>Recommendation</vt:lpstr>
      <vt:lpstr>Recommendations - 1</vt:lpstr>
      <vt:lpstr>Recommendations - 2</vt:lpstr>
      <vt:lpstr>Recommendations - 3</vt:lpstr>
      <vt:lpstr>Recommendations - 4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Taste Test Automated Results</dc:title>
  <dc:creator>User</dc:creator>
  <cp:lastModifiedBy>omnia salama</cp:lastModifiedBy>
  <cp:revision>657</cp:revision>
  <dcterms:created xsi:type="dcterms:W3CDTF">2006-08-16T00:00:00Z</dcterms:created>
  <dcterms:modified xsi:type="dcterms:W3CDTF">2026-03-17T01:34:29Z</dcterms:modified>
  <dc:identifier>DAGw_NaNDSk</dc:identifier>
</cp:coreProperties>
</file>